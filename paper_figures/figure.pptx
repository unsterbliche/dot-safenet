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2.svg" ContentType="image/svg+xml"/>
  <Override PartName="/ppt/media/image103.svg" ContentType="image/svg+xml"/>
  <Override PartName="/ppt/media/image106.svg" ContentType="image/svg+xml"/>
  <Override PartName="/ppt/media/image107.svg" ContentType="image/svg+xml"/>
  <Override PartName="/ppt/media/image110.svg" ContentType="image/svg+xml"/>
  <Override PartName="/ppt/media/image111.svg" ContentType="image/svg+xml"/>
  <Override PartName="/ppt/media/image112.svg" ContentType="image/svg+xml"/>
  <Override PartName="/ppt/media/image113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57.svg" ContentType="image/svg+xml"/>
  <Override PartName="/ppt/media/image6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2.svg" ContentType="image/svg+xml"/>
  <Override PartName="/ppt/media/image84.svg" ContentType="image/svg+xml"/>
  <Override PartName="/ppt/media/image85.svg" ContentType="image/svg+xml"/>
  <Override PartName="/ppt/media/image88.svg" ContentType="image/svg+xml"/>
  <Override PartName="/ppt/media/image89.svg" ContentType="image/svg+xml"/>
  <Override PartName="/ppt/media/image92.svg" ContentType="image/svg+xml"/>
  <Override PartName="/ppt/media/image93.svg" ContentType="image/svg+xml"/>
  <Override PartName="/ppt/media/image94.svg" ContentType="image/svg+xml"/>
  <Override PartName="/ppt/media/image95.svg" ContentType="image/svg+xml"/>
  <Override PartName="/ppt/media/image98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314" r:id="rId3"/>
    <p:sldId id="312" r:id="rId5"/>
    <p:sldId id="327" r:id="rId6"/>
    <p:sldId id="330" r:id="rId7"/>
    <p:sldId id="329" r:id="rId8"/>
    <p:sldId id="316" r:id="rId9"/>
    <p:sldId id="307" r:id="rId10"/>
    <p:sldId id="278" r:id="rId11"/>
    <p:sldId id="282" r:id="rId12"/>
    <p:sldId id="318" r:id="rId13"/>
    <p:sldId id="296" r:id="rId14"/>
    <p:sldId id="328" r:id="rId15"/>
    <p:sldId id="319" r:id="rId16"/>
    <p:sldId id="326" r:id="rId17"/>
  </p:sldIdLst>
  <p:sldSz cx="6858000" cy="12192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35" userDrawn="1">
          <p15:clr>
            <a:srgbClr val="A4A3A4"/>
          </p15:clr>
        </p15:guide>
        <p15:guide id="2" pos="9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jin" initials="l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6512"/>
    <a:srgbClr val="FFFFFF"/>
    <a:srgbClr val="FBB4AE"/>
    <a:srgbClr val="FFF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CC8FC79-6185-4386-960D-B2C91B0F2FAA}" styleName="补充样式1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dk1"/>
              </a:solidFill>
            </a:ln>
          </a:top>
          <a:bottom>
            <a:ln w="1905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dk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dk1">
              <a:alpha val="25000"/>
              <a:lumMod val="40000"/>
              <a:lumOff val="60000"/>
            </a:schemeClr>
          </a:solidFill>
        </a:fill>
      </a:tcStyle>
    </a:band1V>
    <a:lastCol>
      <a:tcTxStyle b="on">
        <a:fontRef idx="none">
          <a:schemeClr val="dk1"/>
        </a:fontRef>
      </a:tcTxStyle>
      <a:tcStyle>
        <a:tcBdr/>
        <a:fill>
          <a:solidFill>
            <a:schemeClr val="dk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dk1"/>
        </a:fontRef>
      </a:tcTxStyle>
      <a:tcStyle>
        <a:tcBdr/>
        <a:fill>
          <a:solidFill>
            <a:schemeClr val="dk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dk1"/>
              </a:solidFill>
            </a:ln>
          </a:top>
          <a:bottom>
            <a:ln w="9525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356" y="-980"/>
      </p:cViewPr>
      <p:guideLst>
        <p:guide orient="horz" pos="3735"/>
        <p:guide pos="9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37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61120" y="1143000"/>
            <a:ext cx="173576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DOT-SafeNet</a:t>
            </a:r>
            <a:r>
              <a:rPr lang="zh-CN" altLang="en-US"/>
              <a:t>能够区分18类</a:t>
            </a:r>
            <a:r>
              <a:rPr lang="en-US" altLang="zh-CN"/>
              <a:t>SOC，</a:t>
            </a:r>
            <a:r>
              <a:rPr lang="zh-CN" altLang="en-US"/>
              <a:t>并在隐藏表征中恢复出具有药理和生理联系的</a:t>
            </a:r>
            <a:r>
              <a:rPr lang="en-US" altLang="zh-CN"/>
              <a:t>ADR</a:t>
            </a:r>
            <a:r>
              <a:rPr lang="zh-CN" altLang="en-US"/>
              <a:t>组合。</a:t>
            </a:r>
            <a:endParaRPr lang="zh-CN" altLang="en-US"/>
          </a:p>
          <a:p>
            <a:r>
              <a:rPr lang="zh-CN" altLang="en-US"/>
              <a:t>四个部分按“预测性能—</a:t>
            </a:r>
            <a:r>
              <a:rPr lang="en-US" altLang="zh-CN"/>
              <a:t>SOC</a:t>
            </a:r>
            <a:r>
              <a:rPr lang="zh-CN" altLang="en-US"/>
              <a:t>区分度—药物层面模式—隐藏表征解释”展开：</a:t>
            </a:r>
            <a:endParaRPr lang="zh-CN" altLang="en-US"/>
          </a:p>
          <a:p>
            <a:r>
              <a:rPr lang="en-US" altLang="zh-CN"/>
              <a:t>Figure 4A：</a:t>
            </a:r>
            <a:r>
              <a:rPr lang="zh-CN" altLang="en-US"/>
              <a:t>与 </a:t>
            </a:r>
            <a:r>
              <a:rPr lang="en-US" altLang="zh-CN"/>
              <a:t>MLDNN、Multi-AttentiveFP </a:t>
            </a:r>
            <a:r>
              <a:rPr lang="zh-CN" altLang="en-US"/>
              <a:t>比较，证明完整模型的总体</a:t>
            </a:r>
            <a:r>
              <a:rPr lang="en-US" altLang="zh-CN"/>
              <a:t>AUROC</a:t>
            </a:r>
            <a:r>
              <a:rPr lang="zh-CN" altLang="en-US"/>
              <a:t>更高。</a:t>
            </a:r>
            <a:endParaRPr lang="zh-CN" altLang="en-US"/>
          </a:p>
          <a:p>
            <a:r>
              <a:rPr lang="en-US" altLang="zh-CN"/>
              <a:t>Figure 4B：</a:t>
            </a:r>
            <a:r>
              <a:rPr lang="zh-CN" altLang="en-US"/>
              <a:t>分别绘制18类</a:t>
            </a:r>
            <a:r>
              <a:rPr lang="en-US" altLang="zh-CN"/>
              <a:t>SOC</a:t>
            </a:r>
            <a:r>
              <a:rPr lang="zh-CN" altLang="en-US"/>
              <a:t>的</a:t>
            </a:r>
            <a:r>
              <a:rPr lang="en-US" altLang="zh-CN"/>
              <a:t>ROC。DOT-SafeNet</a:t>
            </a:r>
            <a:r>
              <a:rPr lang="zh-CN" altLang="en-US"/>
              <a:t>平均</a:t>
            </a:r>
            <a:r>
              <a:rPr lang="en-US" altLang="zh-CN"/>
              <a:t>AUROC</a:t>
            </a:r>
            <a:r>
              <a:rPr lang="zh-CN" altLang="en-US"/>
              <a:t>约0.721，而单独使用</a:t>
            </a:r>
            <a:r>
              <a:rPr lang="en-US" altLang="zh-CN"/>
              <a:t>AC50</a:t>
            </a:r>
            <a:r>
              <a:rPr lang="zh-CN" altLang="en-US"/>
              <a:t>和游离暴露裕度仅约0.513和0.481，支持</a:t>
            </a:r>
            <a:r>
              <a:rPr lang="en-US" altLang="zh-CN"/>
              <a:t>ADR</a:t>
            </a:r>
            <a:r>
              <a:rPr lang="zh-CN" altLang="en-US"/>
              <a:t>预测需要靶点活性、暴露和多靶点组合信息。</a:t>
            </a:r>
            <a:endParaRPr lang="zh-CN" altLang="en-US"/>
          </a:p>
          <a:p>
            <a:r>
              <a:rPr lang="en-US" altLang="zh-CN"/>
              <a:t>Figure 4C：</a:t>
            </a:r>
            <a:r>
              <a:rPr lang="zh-CN" altLang="en-US"/>
              <a:t>并列展示921个测试药物的预测分数和真实标签。它回答模型是否只学习“这个药物</a:t>
            </a:r>
            <a:r>
              <a:rPr lang="en-US" altLang="zh-CN"/>
              <a:t>ADR</a:t>
            </a:r>
            <a:r>
              <a:rPr lang="zh-CN" altLang="en-US"/>
              <a:t>很多”，还是能够产生不同的</a:t>
            </a:r>
            <a:r>
              <a:rPr lang="en-US" altLang="zh-CN"/>
              <a:t>SOC</a:t>
            </a:r>
            <a:r>
              <a:rPr lang="zh-CN" altLang="en-US"/>
              <a:t>预测模式。</a:t>
            </a:r>
            <a:endParaRPr lang="zh-CN" altLang="en-US"/>
          </a:p>
          <a:p>
            <a:r>
              <a:rPr lang="en-US" altLang="zh-CN"/>
              <a:t>Figure 4D：</a:t>
            </a:r>
            <a:r>
              <a:rPr lang="zh-CN" altLang="en-US"/>
              <a:t>将真实阳性的药物–</a:t>
            </a:r>
            <a:r>
              <a:rPr lang="en-US" altLang="zh-CN"/>
              <a:t>SOC</a:t>
            </a:r>
            <a:r>
              <a:rPr lang="zh-CN" altLang="en-US"/>
              <a:t>组合的8维隐藏向量投影到同一</a:t>
            </a:r>
            <a:r>
              <a:rPr lang="en-US" altLang="zh-CN"/>
              <a:t>UMAP</a:t>
            </a:r>
            <a:r>
              <a:rPr lang="zh-CN" altLang="en-US"/>
              <a:t>坐标。每张小图突出一个</a:t>
            </a:r>
            <a:r>
              <a:rPr lang="en-US" altLang="zh-CN"/>
              <a:t>SOC：</a:t>
            </a:r>
            <a:r>
              <a:rPr lang="zh-CN" altLang="en-US"/>
              <a:t>浅蓝为该</a:t>
            </a:r>
            <a:r>
              <a:rPr lang="en-US" altLang="zh-CN"/>
              <a:t>SOC</a:t>
            </a:r>
            <a:r>
              <a:rPr lang="zh-CN" altLang="en-US"/>
              <a:t>真实阳性，深蓝为真实阳性且预测阳性，灰色为其他</a:t>
            </a:r>
            <a:r>
              <a:rPr lang="en-US" altLang="zh-CN"/>
              <a:t>SOC</a:t>
            </a:r>
            <a:r>
              <a:rPr lang="zh-CN" altLang="en-US"/>
              <a:t>阳性组合。</a:t>
            </a:r>
            <a:endParaRPr lang="zh-CN" altLang="en-US"/>
          </a:p>
          <a:p>
            <a:r>
              <a:rPr lang="en-US" altLang="zh-CN"/>
              <a:t>Figure 4D </a:t>
            </a:r>
            <a:r>
              <a:rPr lang="zh-CN" altLang="en-US"/>
              <a:t>更适合讲“相关</a:t>
            </a:r>
            <a:r>
              <a:rPr lang="en-US" altLang="zh-CN"/>
              <a:t>SOC</a:t>
            </a:r>
            <a:r>
              <a:rPr lang="zh-CN" altLang="en-US"/>
              <a:t>共享隐藏表征区域”，不建议写“互补”。目前四组关系分别是：</a:t>
            </a:r>
            <a:endParaRPr lang="zh-CN" altLang="en-US"/>
          </a:p>
          <a:p>
            <a:r>
              <a:rPr lang="en-US" altLang="zh-CN"/>
              <a:t>GAS–VAS：</a:t>
            </a:r>
            <a:r>
              <a:rPr lang="zh-CN" altLang="en-US"/>
              <a:t>胃肠与血管</a:t>
            </a:r>
            <a:r>
              <a:rPr lang="en-US" altLang="zh-CN"/>
              <a:t>ADR</a:t>
            </a:r>
            <a:r>
              <a:rPr lang="zh-CN" altLang="en-US"/>
              <a:t>共享自主神经、内脏及血管平滑肌调节。标签相关</a:t>
            </a:r>
            <a:r>
              <a:rPr lang="en-US" altLang="zh-CN"/>
              <a:t>φ=0.693，</a:t>
            </a:r>
            <a:r>
              <a:rPr lang="zh-CN" altLang="en-US"/>
              <a:t>预测相关</a:t>
            </a:r>
            <a:r>
              <a:rPr lang="en-US" altLang="zh-CN"/>
              <a:t>r=0.956，</a:t>
            </a:r>
            <a:r>
              <a:rPr lang="zh-CN" altLang="en-US"/>
              <a:t>共享27个直接关联靶点。</a:t>
            </a:r>
            <a:endParaRPr lang="zh-CN" altLang="en-US"/>
          </a:p>
          <a:p>
            <a:r>
              <a:rPr lang="en-US" altLang="zh-CN"/>
              <a:t>NER–PSY：</a:t>
            </a:r>
            <a:r>
              <a:rPr lang="zh-CN" altLang="en-US"/>
              <a:t>神经与精神</a:t>
            </a:r>
            <a:r>
              <a:rPr lang="en-US" altLang="zh-CN"/>
              <a:t>ADR</a:t>
            </a:r>
            <a:r>
              <a:rPr lang="zh-CN" altLang="en-US"/>
              <a:t>共享单胺能、</a:t>
            </a:r>
            <a:r>
              <a:rPr lang="en-US" altLang="zh-CN"/>
              <a:t>GABA</a:t>
            </a:r>
            <a:r>
              <a:rPr lang="zh-CN" altLang="en-US"/>
              <a:t>能、阿片及大麻素药理。</a:t>
            </a:r>
            <a:r>
              <a:rPr lang="en-US" altLang="zh-CN"/>
              <a:t>φ=0.688，r=0.940，</a:t>
            </a:r>
            <a:r>
              <a:rPr lang="zh-CN" altLang="en-US"/>
              <a:t>共享21个直接靶点。</a:t>
            </a:r>
            <a:endParaRPr lang="zh-CN" altLang="en-US"/>
          </a:p>
          <a:p>
            <a:r>
              <a:rPr lang="en-US" altLang="zh-CN"/>
              <a:t>IMM–INF：</a:t>
            </a:r>
            <a:r>
              <a:rPr lang="zh-CN" altLang="en-US"/>
              <a:t>免疫抑制增加感染易感性。</a:t>
            </a:r>
            <a:r>
              <a:rPr lang="en-US" altLang="zh-CN"/>
              <a:t>φ=0.579，r=0.959，</a:t>
            </a:r>
            <a:r>
              <a:rPr lang="zh-CN" altLang="en-US"/>
              <a:t>具有明确的生理联系。</a:t>
            </a:r>
            <a:endParaRPr lang="zh-CN" altLang="en-US"/>
          </a:p>
          <a:p>
            <a:r>
              <a:rPr lang="en-US" altLang="zh-CN"/>
              <a:t>CAR–RES：</a:t>
            </a:r>
            <a:r>
              <a:rPr lang="zh-CN" altLang="en-US"/>
              <a:t>心脏与呼吸</a:t>
            </a:r>
            <a:r>
              <a:rPr lang="en-US" altLang="zh-CN"/>
              <a:t>ADR</a:t>
            </a:r>
            <a:r>
              <a:rPr lang="zh-CN" altLang="en-US"/>
              <a:t>共享</a:t>
            </a:r>
            <a:r>
              <a:rPr lang="en-US" altLang="zh-CN"/>
              <a:t>β</a:t>
            </a:r>
            <a:r>
              <a:rPr lang="zh-CN" altLang="en-US"/>
              <a:t>肾上腺素能、胆碱能、内皮素、组胺和5-</a:t>
            </a:r>
            <a:r>
              <a:rPr lang="en-US" altLang="zh-CN"/>
              <a:t>HT</a:t>
            </a:r>
            <a:r>
              <a:rPr lang="zh-CN" altLang="en-US"/>
              <a:t>调节。</a:t>
            </a:r>
            <a:r>
              <a:rPr lang="en-US" altLang="zh-CN"/>
              <a:t>φ=0.729，r=0.980，</a:t>
            </a:r>
            <a:r>
              <a:rPr lang="zh-CN" altLang="en-US"/>
              <a:t>共享12个直接靶点。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995508"/>
            <a:ext cx="5143500" cy="424504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6404254"/>
            <a:ext cx="5143500" cy="294386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3039834"/>
            <a:ext cx="5915025" cy="50720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8159849"/>
            <a:ext cx="5915025" cy="26672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8" y="3245875"/>
            <a:ext cx="2914650" cy="773647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71863" y="3245875"/>
            <a:ext cx="2914650" cy="773647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49175"/>
            <a:ext cx="5915025" cy="23567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1" y="2989029"/>
            <a:ext cx="2901255" cy="146487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1" y="4453905"/>
            <a:ext cx="2901255" cy="65510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989029"/>
            <a:ext cx="2915543" cy="146487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4453905"/>
            <a:ext cx="2915543" cy="65510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812880"/>
            <a:ext cx="2211883" cy="284508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5543" y="1755595"/>
            <a:ext cx="3471863" cy="866507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3657960"/>
            <a:ext cx="2211883" cy="677682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812880"/>
            <a:ext cx="2211883" cy="284508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5543" y="1755595"/>
            <a:ext cx="3471863" cy="86650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3657960"/>
            <a:ext cx="2211883" cy="677682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756" y="649175"/>
            <a:ext cx="1478756" cy="1033317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8" y="649175"/>
            <a:ext cx="4350544" cy="1033317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649175"/>
            <a:ext cx="5915025" cy="2356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3245875"/>
            <a:ext cx="5915025" cy="7736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11301291"/>
            <a:ext cx="1543050" cy="649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11301291"/>
            <a:ext cx="2314575" cy="649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11301291"/>
            <a:ext cx="1543050" cy="649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svg"/><Relationship Id="rId8" Type="http://schemas.openxmlformats.org/officeDocument/2006/relationships/image" Target="../media/image5.png"/><Relationship Id="rId7" Type="http://schemas.openxmlformats.org/officeDocument/2006/relationships/tags" Target="../tags/tag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2.xml"/><Relationship Id="rId3" Type="http://schemas.openxmlformats.org/officeDocument/2006/relationships/image" Target="../media/image2.svg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2.xml"/><Relationship Id="rId24" Type="http://schemas.openxmlformats.org/officeDocument/2006/relationships/image" Target="../media/image20.png"/><Relationship Id="rId23" Type="http://schemas.microsoft.com/office/2007/relationships/hdphoto" Target="../media/image19.png"/><Relationship Id="rId22" Type="http://schemas.openxmlformats.org/officeDocument/2006/relationships/image" Target="../media/image18.png"/><Relationship Id="rId21" Type="http://schemas.openxmlformats.org/officeDocument/2006/relationships/image" Target="../media/image17.png"/><Relationship Id="rId20" Type="http://schemas.openxmlformats.org/officeDocument/2006/relationships/image" Target="../media/image16.svg"/><Relationship Id="rId2" Type="http://schemas.openxmlformats.org/officeDocument/2006/relationships/image" Target="../media/image1.png"/><Relationship Id="rId19" Type="http://schemas.openxmlformats.org/officeDocument/2006/relationships/image" Target="../media/image15.png"/><Relationship Id="rId18" Type="http://schemas.openxmlformats.org/officeDocument/2006/relationships/image" Target="../media/image14.svg"/><Relationship Id="rId17" Type="http://schemas.openxmlformats.org/officeDocument/2006/relationships/image" Target="../media/image13.png"/><Relationship Id="rId16" Type="http://schemas.openxmlformats.org/officeDocument/2006/relationships/image" Target="../media/image12.png"/><Relationship Id="rId15" Type="http://schemas.openxmlformats.org/officeDocument/2006/relationships/image" Target="../media/image11.png"/><Relationship Id="rId14" Type="http://schemas.openxmlformats.org/officeDocument/2006/relationships/image" Target="../media/image10.png"/><Relationship Id="rId13" Type="http://schemas.openxmlformats.org/officeDocument/2006/relationships/image" Target="../media/image9.png"/><Relationship Id="rId12" Type="http://schemas.openxmlformats.org/officeDocument/2006/relationships/image" Target="../media/image8.svg"/><Relationship Id="rId11" Type="http://schemas.openxmlformats.org/officeDocument/2006/relationships/image" Target="../media/image7.png"/><Relationship Id="rId10" Type="http://schemas.openxmlformats.org/officeDocument/2006/relationships/tags" Target="../tags/tag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5.png"/><Relationship Id="rId10" Type="http://schemas.openxmlformats.org/officeDocument/2006/relationships/tags" Target="../tags/tag10.xml"/><Relationship Id="rId1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19.xml"/><Relationship Id="rId2" Type="http://schemas.openxmlformats.org/officeDocument/2006/relationships/image" Target="../media/image27.png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1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0.xml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1.png"/><Relationship Id="rId7" Type="http://schemas.openxmlformats.org/officeDocument/2006/relationships/image" Target="../media/image60.png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png"/><Relationship Id="rId8" Type="http://schemas.openxmlformats.org/officeDocument/2006/relationships/image" Target="../media/image65.png"/><Relationship Id="rId7" Type="http://schemas.openxmlformats.org/officeDocument/2006/relationships/image" Target="../media/image64.png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image" Target="../media/image63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7.png"/><Relationship Id="rId1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76.svg"/><Relationship Id="rId7" Type="http://schemas.openxmlformats.org/officeDocument/2006/relationships/image" Target="../media/image75.png"/><Relationship Id="rId6" Type="http://schemas.openxmlformats.org/officeDocument/2006/relationships/image" Target="../media/image74.svg"/><Relationship Id="rId54" Type="http://schemas.openxmlformats.org/officeDocument/2006/relationships/notesSlide" Target="../notesSlides/notesSlide3.xml"/><Relationship Id="rId53" Type="http://schemas.openxmlformats.org/officeDocument/2006/relationships/slideLayout" Target="../slideLayouts/slideLayout7.xml"/><Relationship Id="rId52" Type="http://schemas.openxmlformats.org/officeDocument/2006/relationships/image" Target="../media/image119.png"/><Relationship Id="rId51" Type="http://schemas.openxmlformats.org/officeDocument/2006/relationships/image" Target="../media/image118.png"/><Relationship Id="rId50" Type="http://schemas.openxmlformats.org/officeDocument/2006/relationships/image" Target="../media/image117.png"/><Relationship Id="rId5" Type="http://schemas.openxmlformats.org/officeDocument/2006/relationships/image" Target="../media/image73.png"/><Relationship Id="rId49" Type="http://schemas.openxmlformats.org/officeDocument/2006/relationships/image" Target="../media/image116.png"/><Relationship Id="rId48" Type="http://schemas.openxmlformats.org/officeDocument/2006/relationships/image" Target="../media/image115.png"/><Relationship Id="rId47" Type="http://schemas.openxmlformats.org/officeDocument/2006/relationships/image" Target="../media/image114.png"/><Relationship Id="rId46" Type="http://schemas.openxmlformats.org/officeDocument/2006/relationships/image" Target="../media/image113.svg"/><Relationship Id="rId45" Type="http://schemas.openxmlformats.org/officeDocument/2006/relationships/image" Target="../media/image112.svg"/><Relationship Id="rId44" Type="http://schemas.openxmlformats.org/officeDocument/2006/relationships/image" Target="../media/image111.svg"/><Relationship Id="rId43" Type="http://schemas.openxmlformats.org/officeDocument/2006/relationships/image" Target="../media/image110.svg"/><Relationship Id="rId42" Type="http://schemas.openxmlformats.org/officeDocument/2006/relationships/image" Target="../media/image109.png"/><Relationship Id="rId41" Type="http://schemas.openxmlformats.org/officeDocument/2006/relationships/image" Target="../media/image108.png"/><Relationship Id="rId40" Type="http://schemas.openxmlformats.org/officeDocument/2006/relationships/image" Target="../media/image107.svg"/><Relationship Id="rId4" Type="http://schemas.openxmlformats.org/officeDocument/2006/relationships/image" Target="../media/image72.svg"/><Relationship Id="rId39" Type="http://schemas.openxmlformats.org/officeDocument/2006/relationships/image" Target="../media/image106.svg"/><Relationship Id="rId38" Type="http://schemas.openxmlformats.org/officeDocument/2006/relationships/image" Target="../media/image105.png"/><Relationship Id="rId37" Type="http://schemas.openxmlformats.org/officeDocument/2006/relationships/image" Target="../media/image104.png"/><Relationship Id="rId36" Type="http://schemas.openxmlformats.org/officeDocument/2006/relationships/image" Target="../media/image103.svg"/><Relationship Id="rId35" Type="http://schemas.openxmlformats.org/officeDocument/2006/relationships/image" Target="../media/image102.svg"/><Relationship Id="rId34" Type="http://schemas.openxmlformats.org/officeDocument/2006/relationships/image" Target="../media/image101.png"/><Relationship Id="rId33" Type="http://schemas.openxmlformats.org/officeDocument/2006/relationships/image" Target="../media/image100.png"/><Relationship Id="rId32" Type="http://schemas.openxmlformats.org/officeDocument/2006/relationships/image" Target="../media/image99.svg"/><Relationship Id="rId31" Type="http://schemas.openxmlformats.org/officeDocument/2006/relationships/image" Target="../media/image98.svg"/><Relationship Id="rId30" Type="http://schemas.openxmlformats.org/officeDocument/2006/relationships/image" Target="../media/image97.png"/><Relationship Id="rId3" Type="http://schemas.openxmlformats.org/officeDocument/2006/relationships/image" Target="../media/image71.png"/><Relationship Id="rId29" Type="http://schemas.openxmlformats.org/officeDocument/2006/relationships/image" Target="../media/image96.png"/><Relationship Id="rId28" Type="http://schemas.openxmlformats.org/officeDocument/2006/relationships/image" Target="../media/image95.svg"/><Relationship Id="rId27" Type="http://schemas.openxmlformats.org/officeDocument/2006/relationships/image" Target="../media/image94.svg"/><Relationship Id="rId26" Type="http://schemas.openxmlformats.org/officeDocument/2006/relationships/image" Target="../media/image93.svg"/><Relationship Id="rId25" Type="http://schemas.openxmlformats.org/officeDocument/2006/relationships/image" Target="../media/image92.svg"/><Relationship Id="rId24" Type="http://schemas.openxmlformats.org/officeDocument/2006/relationships/image" Target="../media/image91.png"/><Relationship Id="rId23" Type="http://schemas.openxmlformats.org/officeDocument/2006/relationships/image" Target="../media/image90.png"/><Relationship Id="rId22" Type="http://schemas.openxmlformats.org/officeDocument/2006/relationships/image" Target="../media/image89.svg"/><Relationship Id="rId21" Type="http://schemas.openxmlformats.org/officeDocument/2006/relationships/image" Target="../media/image88.svg"/><Relationship Id="rId20" Type="http://schemas.openxmlformats.org/officeDocument/2006/relationships/image" Target="../media/image87.png"/><Relationship Id="rId2" Type="http://schemas.openxmlformats.org/officeDocument/2006/relationships/image" Target="../media/image70.svg"/><Relationship Id="rId19" Type="http://schemas.openxmlformats.org/officeDocument/2006/relationships/image" Target="../media/image86.png"/><Relationship Id="rId18" Type="http://schemas.openxmlformats.org/officeDocument/2006/relationships/image" Target="../media/image85.svg"/><Relationship Id="rId17" Type="http://schemas.openxmlformats.org/officeDocument/2006/relationships/image" Target="../media/image84.svg"/><Relationship Id="rId16" Type="http://schemas.openxmlformats.org/officeDocument/2006/relationships/image" Target="../media/image83.png"/><Relationship Id="rId15" Type="http://schemas.openxmlformats.org/officeDocument/2006/relationships/image" Target="../media/image82.svg"/><Relationship Id="rId14" Type="http://schemas.openxmlformats.org/officeDocument/2006/relationships/image" Target="../media/image81.png"/><Relationship Id="rId13" Type="http://schemas.openxmlformats.org/officeDocument/2006/relationships/image" Target="../media/image80.png"/><Relationship Id="rId12" Type="http://schemas.openxmlformats.org/officeDocument/2006/relationships/image" Target="../media/image79.png"/><Relationship Id="rId11" Type="http://schemas.openxmlformats.org/officeDocument/2006/relationships/image" Target="../media/image78.svg"/><Relationship Id="rId10" Type="http://schemas.openxmlformats.org/officeDocument/2006/relationships/image" Target="../media/image77.png"/><Relationship Id="rId1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5.png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Relationship Id="rId3" Type="http://schemas.openxmlformats.org/officeDocument/2006/relationships/image" Target="../media/image121.png"/><Relationship Id="rId2" Type="http://schemas.openxmlformats.org/officeDocument/2006/relationships/tags" Target="../tags/tag36.xml"/><Relationship Id="rId1" Type="http://schemas.openxmlformats.org/officeDocument/2006/relationships/image" Target="../media/image12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image" Target="../media/image1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组合 242"/>
          <p:cNvGrpSpPr/>
          <p:nvPr/>
        </p:nvGrpSpPr>
        <p:grpSpPr>
          <a:xfrm>
            <a:off x="2805748" y="5051425"/>
            <a:ext cx="1188085" cy="520700"/>
            <a:chOff x="4409" y="7883"/>
            <a:chExt cx="1871" cy="820"/>
          </a:xfrm>
        </p:grpSpPr>
        <p:grpSp>
          <p:nvGrpSpPr>
            <p:cNvPr id="236" name="组合 235"/>
            <p:cNvGrpSpPr/>
            <p:nvPr/>
          </p:nvGrpSpPr>
          <p:grpSpPr>
            <a:xfrm>
              <a:off x="4409" y="7883"/>
              <a:ext cx="783" cy="802"/>
              <a:chOff x="-1511" y="9986"/>
              <a:chExt cx="888" cy="907"/>
            </a:xfrm>
          </p:grpSpPr>
          <p:pic>
            <p:nvPicPr>
              <p:cNvPr id="232" name="图片 231" descr="箭头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4320000">
                <a:off x="-1499" y="10037"/>
                <a:ext cx="856" cy="856"/>
              </a:xfrm>
              <a:prstGeom prst="rect">
                <a:avLst/>
              </a:prstGeom>
            </p:spPr>
          </p:pic>
          <p:pic>
            <p:nvPicPr>
              <p:cNvPr id="234" name="图片 233" descr="箭头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>
                <a:fillRect/>
              </a:stretch>
            </p:blipFill>
            <p:spPr>
              <a:xfrm rot="4500000">
                <a:off x="-1511" y="9986"/>
                <a:ext cx="888" cy="888"/>
              </a:xfrm>
              <a:custGeom>
                <a:avLst/>
                <a:gdLst/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2" h="812">
                    <a:moveTo>
                      <a:pt x="0" y="0"/>
                    </a:moveTo>
                    <a:lnTo>
                      <a:pt x="812" y="0"/>
                    </a:lnTo>
                    <a:lnTo>
                      <a:pt x="812" y="240"/>
                    </a:lnTo>
                    <a:lnTo>
                      <a:pt x="803" y="238"/>
                    </a:lnTo>
                    <a:cubicBezTo>
                      <a:pt x="597" y="176"/>
                      <a:pt x="321" y="366"/>
                      <a:pt x="165" y="684"/>
                    </a:cubicBezTo>
                    <a:cubicBezTo>
                      <a:pt x="145" y="726"/>
                      <a:pt x="127" y="769"/>
                      <a:pt x="113" y="811"/>
                    </a:cubicBezTo>
                    <a:lnTo>
                      <a:pt x="113" y="812"/>
                    </a:lnTo>
                    <a:lnTo>
                      <a:pt x="0" y="8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</p:pic>
        </p:grpSp>
        <p:grpSp>
          <p:nvGrpSpPr>
            <p:cNvPr id="237" name="组合 236"/>
            <p:cNvGrpSpPr/>
            <p:nvPr/>
          </p:nvGrpSpPr>
          <p:grpSpPr>
            <a:xfrm flipH="1">
              <a:off x="5498" y="7901"/>
              <a:ext cx="782" cy="802"/>
              <a:chOff x="-1511" y="9986"/>
              <a:chExt cx="888" cy="907"/>
            </a:xfrm>
          </p:grpSpPr>
          <p:pic>
            <p:nvPicPr>
              <p:cNvPr id="239" name="图片 238" descr="箭头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rot="4320000">
                <a:off x="-1499" y="10037"/>
                <a:ext cx="856" cy="856"/>
              </a:xfrm>
              <a:prstGeom prst="rect">
                <a:avLst/>
              </a:prstGeom>
            </p:spPr>
          </p:pic>
          <p:pic>
            <p:nvPicPr>
              <p:cNvPr id="241" name="图片 240" descr="箭头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>
                <a:fillRect/>
              </a:stretch>
            </p:blipFill>
            <p:spPr>
              <a:xfrm rot="4500000">
                <a:off x="-1511" y="9986"/>
                <a:ext cx="888" cy="888"/>
              </a:xfrm>
              <a:custGeom>
                <a:avLst/>
                <a:gdLst/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2" h="812">
                    <a:moveTo>
                      <a:pt x="0" y="0"/>
                    </a:moveTo>
                    <a:lnTo>
                      <a:pt x="812" y="0"/>
                    </a:lnTo>
                    <a:lnTo>
                      <a:pt x="812" y="240"/>
                    </a:lnTo>
                    <a:lnTo>
                      <a:pt x="803" y="238"/>
                    </a:lnTo>
                    <a:cubicBezTo>
                      <a:pt x="597" y="176"/>
                      <a:pt x="321" y="366"/>
                      <a:pt x="165" y="684"/>
                    </a:cubicBezTo>
                    <a:cubicBezTo>
                      <a:pt x="145" y="726"/>
                      <a:pt x="127" y="769"/>
                      <a:pt x="113" y="811"/>
                    </a:cubicBezTo>
                    <a:lnTo>
                      <a:pt x="113" y="812"/>
                    </a:lnTo>
                    <a:lnTo>
                      <a:pt x="0" y="8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44" name="组合 243"/>
          <p:cNvGrpSpPr/>
          <p:nvPr/>
        </p:nvGrpSpPr>
        <p:grpSpPr>
          <a:xfrm>
            <a:off x="409893" y="1584325"/>
            <a:ext cx="5979795" cy="3855085"/>
            <a:chOff x="645" y="2495"/>
            <a:chExt cx="9417" cy="6071"/>
          </a:xfrm>
        </p:grpSpPr>
        <p:grpSp>
          <p:nvGrpSpPr>
            <p:cNvPr id="226" name="组合 225"/>
            <p:cNvGrpSpPr/>
            <p:nvPr/>
          </p:nvGrpSpPr>
          <p:grpSpPr>
            <a:xfrm>
              <a:off x="1490" y="7102"/>
              <a:ext cx="2894" cy="448"/>
              <a:chOff x="1310" y="7044"/>
              <a:chExt cx="2894" cy="390"/>
            </a:xfrm>
            <a:solidFill>
              <a:srgbClr val="E4E8E8"/>
            </a:solidFill>
          </p:grpSpPr>
          <p:sp>
            <p:nvSpPr>
              <p:cNvPr id="222" name="流程图: 库存数据 221"/>
              <p:cNvSpPr/>
              <p:nvPr/>
            </p:nvSpPr>
            <p:spPr>
              <a:xfrm>
                <a:off x="2454" y="7044"/>
                <a:ext cx="1751" cy="391"/>
              </a:xfrm>
              <a:prstGeom prst="flowChartOnlineStorag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000">
                  <a:latin typeface="Segoe UI Semibold" panose="020B0702040204020203" charset="0"/>
                  <a:cs typeface="Segoe UI Semibold" panose="020B0702040204020203" charset="0"/>
                </a:endParaRPr>
              </a:p>
            </p:txBody>
          </p:sp>
          <p:sp>
            <p:nvSpPr>
              <p:cNvPr id="224" name="流程图: 库存数据 223"/>
              <p:cNvSpPr/>
              <p:nvPr/>
            </p:nvSpPr>
            <p:spPr>
              <a:xfrm rot="10800000">
                <a:off x="1310" y="7044"/>
                <a:ext cx="1751" cy="391"/>
              </a:xfrm>
              <a:prstGeom prst="flowChartOnlineStorag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000">
                  <a:latin typeface="Segoe UI Semibold" panose="020B0702040204020203" charset="0"/>
                  <a:cs typeface="Segoe UI Semibold" panose="020B0702040204020203" charset="0"/>
                </a:endParaRPr>
              </a:p>
            </p:txBody>
          </p:sp>
        </p:grpSp>
        <p:sp>
          <p:nvSpPr>
            <p:cNvPr id="67" name="文本框 26"/>
            <p:cNvSpPr txBox="1"/>
            <p:nvPr/>
          </p:nvSpPr>
          <p:spPr>
            <a:xfrm>
              <a:off x="651" y="7133"/>
              <a:ext cx="4572" cy="434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b="1" dirty="0">
                  <a:solidFill>
                    <a:schemeClr val="tx1"/>
                  </a:solidFill>
                  <a:latin typeface="Segoe UI Semibold" panose="020B0702040204020203" charset="0"/>
                  <a:ea typeface="微软雅黑 Light" panose="020B0502040204020203" charset="-122"/>
                  <a:cs typeface="Segoe UI Semibold" panose="020B0702040204020203" charset="0"/>
                </a:rPr>
                <a:t>7 protein families, 194 safery targets</a:t>
              </a:r>
              <a:endParaRPr lang="en-US" altLang="zh-CN" sz="1200" b="1" dirty="0">
                <a:solidFill>
                  <a:schemeClr val="tx1"/>
                </a:solidFill>
                <a:latin typeface="Segoe UI Semibold" panose="020B0702040204020203" charset="0"/>
                <a:ea typeface="微软雅黑 Light" panose="020B0502040204020203" charset="-122"/>
                <a:cs typeface="Segoe UI Semibold" panose="020B0702040204020203" charset="0"/>
              </a:endParaRPr>
            </a:p>
          </p:txBody>
        </p:sp>
        <p:grpSp>
          <p:nvGrpSpPr>
            <p:cNvPr id="228" name="组合 227"/>
            <p:cNvGrpSpPr/>
            <p:nvPr/>
          </p:nvGrpSpPr>
          <p:grpSpPr>
            <a:xfrm>
              <a:off x="6323" y="7102"/>
              <a:ext cx="2894" cy="448"/>
              <a:chOff x="1310" y="7044"/>
              <a:chExt cx="2894" cy="390"/>
            </a:xfrm>
            <a:solidFill>
              <a:srgbClr val="FAECDF"/>
            </a:solidFill>
          </p:grpSpPr>
          <p:sp>
            <p:nvSpPr>
              <p:cNvPr id="229" name="流程图: 库存数据 228"/>
              <p:cNvSpPr/>
              <p:nvPr/>
            </p:nvSpPr>
            <p:spPr>
              <a:xfrm>
                <a:off x="2454" y="7044"/>
                <a:ext cx="1751" cy="391"/>
              </a:xfrm>
              <a:prstGeom prst="flowChartOnlineStorag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000">
                  <a:latin typeface="Segoe UI Semibold" panose="020B0702040204020203" charset="0"/>
                  <a:cs typeface="Segoe UI Semibold" panose="020B0702040204020203" charset="0"/>
                </a:endParaRPr>
              </a:p>
            </p:txBody>
          </p:sp>
          <p:sp>
            <p:nvSpPr>
              <p:cNvPr id="230" name="流程图: 库存数据 229"/>
              <p:cNvSpPr/>
              <p:nvPr/>
            </p:nvSpPr>
            <p:spPr>
              <a:xfrm rot="10800000">
                <a:off x="1310" y="7044"/>
                <a:ext cx="1751" cy="391"/>
              </a:xfrm>
              <a:prstGeom prst="flowChartOnlineStorag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000">
                  <a:latin typeface="Segoe UI Semibold" panose="020B0702040204020203" charset="0"/>
                  <a:cs typeface="Segoe UI Semibold" panose="020B0702040204020203" charset="0"/>
                </a:endParaRPr>
              </a:p>
            </p:txBody>
          </p:sp>
        </p:grpSp>
        <p:sp>
          <p:nvSpPr>
            <p:cNvPr id="1192" name="文本框 1191"/>
            <p:cNvSpPr txBox="1"/>
            <p:nvPr/>
          </p:nvSpPr>
          <p:spPr>
            <a:xfrm>
              <a:off x="6109" y="7100"/>
              <a:ext cx="3322" cy="45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en-US" altLang="zh-CN" sz="1200" b="1">
                  <a:latin typeface="Segoe UI Semibold" panose="020B0702040204020203" charset="0"/>
                  <a:ea typeface="微软雅黑 Light" panose="020B0502040204020203" charset="-122"/>
                  <a:cs typeface="Segoe UI Semibold" panose="020B0702040204020203" charset="0"/>
                </a:rPr>
                <a:t>C</a:t>
              </a:r>
              <a:r>
                <a:rPr lang="en-US" altLang="zh-CN" sz="1200" b="1" baseline="-25000">
                  <a:latin typeface="Segoe UI Semibold" panose="020B0702040204020203" charset="0"/>
                  <a:ea typeface="微软雅黑 Light" panose="020B0502040204020203" charset="-122"/>
                  <a:cs typeface="Segoe UI Semibold" panose="020B0702040204020203" charset="0"/>
                </a:rPr>
                <a:t>max,free</a:t>
              </a:r>
              <a:r>
                <a:rPr lang="en-US" altLang="zh-CN" sz="1200" b="1" i="1">
                  <a:latin typeface="Segoe UI Semibold" panose="020B0702040204020203" charset="0"/>
                  <a:ea typeface="微软雅黑 Light" panose="020B0502040204020203" charset="-122"/>
                  <a:cs typeface="Segoe UI Semibold" panose="020B0702040204020203" charset="0"/>
                </a:rPr>
                <a:t> </a:t>
              </a:r>
              <a:r>
                <a:rPr lang="en-US" altLang="zh-CN" sz="1200" b="1">
                  <a:latin typeface="Segoe UI Semibold" panose="020B0702040204020203" charset="0"/>
                  <a:ea typeface="微软雅黑 Light" panose="020B0502040204020203" charset="-122"/>
                  <a:cs typeface="Segoe UI Semibold" panose="020B0702040204020203" charset="0"/>
                </a:rPr>
                <a:t>= (1-PPB%)×</a:t>
              </a:r>
              <a:r>
                <a:rPr lang="en-US" altLang="zh-CN" sz="1200" b="1">
                  <a:latin typeface="Segoe UI Semibold" panose="020B0702040204020203" charset="0"/>
                  <a:ea typeface="微软雅黑 Light" panose="020B0502040204020203" charset="-122"/>
                  <a:cs typeface="Segoe UI Semibold" panose="020B0702040204020203" charset="0"/>
                  <a:sym typeface="+mn-ea"/>
                </a:rPr>
                <a:t>C</a:t>
              </a:r>
              <a:r>
                <a:rPr lang="en-US" altLang="zh-CN" sz="1200" b="1" baseline="-25000">
                  <a:latin typeface="Segoe UI Semibold" panose="020B0702040204020203" charset="0"/>
                  <a:ea typeface="微软雅黑 Light" panose="020B0502040204020203" charset="-122"/>
                  <a:cs typeface="Segoe UI Semibold" panose="020B0702040204020203" charset="0"/>
                  <a:sym typeface="+mn-ea"/>
                </a:rPr>
                <a:t>max</a:t>
              </a:r>
              <a:endParaRPr lang="en-US" altLang="zh-CN" sz="1200" b="1" baseline="-25000">
                <a:latin typeface="Segoe UI Semibold" panose="020B0702040204020203" charset="0"/>
                <a:ea typeface="微软雅黑 Light" panose="020B0502040204020203" charset="-122"/>
                <a:cs typeface="Segoe UI Semibold" panose="020B0702040204020203" charset="0"/>
                <a:sym typeface="+mn-ea"/>
              </a:endParaRP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473" y="7525"/>
              <a:ext cx="2929" cy="1041"/>
            </a:xfrm>
            <a:prstGeom prst="roundRect">
              <a:avLst>
                <a:gd name="adj" fmla="val 15321"/>
              </a:avLst>
            </a:prstGeom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27" name="组合 226"/>
            <p:cNvGrpSpPr/>
            <p:nvPr/>
          </p:nvGrpSpPr>
          <p:grpSpPr>
            <a:xfrm>
              <a:off x="645" y="2495"/>
              <a:ext cx="4584" cy="4669"/>
              <a:chOff x="650" y="2495"/>
              <a:chExt cx="4584" cy="4669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50" y="2495"/>
                <a:ext cx="4584" cy="4669"/>
              </a:xfrm>
              <a:prstGeom prst="roundRect">
                <a:avLst>
                  <a:gd name="adj" fmla="val 3732"/>
                </a:avLst>
              </a:prstGeom>
              <a:solidFill>
                <a:srgbClr val="E4E8E8"/>
              </a:solidFill>
            </p:spPr>
            <p:txBody>
              <a:bodyPr wrap="square" anchor="t" anchorCtr="0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ctr"/>
                <a:r>
                  <a:rPr lang="en-US" altLang="zh-CN" sz="1600" b="1">
                    <a:solidFill>
                      <a:schemeClr val="tx1"/>
                    </a:solidFill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rPr>
                  <a:t>Off-target activity profiling</a:t>
                </a:r>
                <a:endParaRPr lang="en-US" altLang="zh-CN" sz="1600" b="1">
                  <a:solidFill>
                    <a:schemeClr val="tx1"/>
                  </a:solidFill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</a:endParaRPr>
              </a:p>
            </p:txBody>
          </p:sp>
          <p:sp>
            <p:nvSpPr>
              <p:cNvPr id="794" name="圆角矩形 793"/>
              <p:cNvSpPr/>
              <p:nvPr/>
            </p:nvSpPr>
            <p:spPr>
              <a:xfrm>
                <a:off x="738" y="3139"/>
                <a:ext cx="4399" cy="3907"/>
              </a:xfrm>
              <a:prstGeom prst="roundRect">
                <a:avLst>
                  <a:gd name="adj" fmla="val 3694"/>
                </a:avLst>
              </a:prstGeom>
              <a:solidFill>
                <a:srgbClr val="F5F3F3"/>
              </a:solidFill>
              <a:ln w="12700">
                <a:solidFill>
                  <a:schemeClr val="accent5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latin typeface="Segoe UI Semibold" panose="020B0702040204020203" charset="0"/>
                  <a:cs typeface="Segoe UI Semibold" panose="020B0702040204020203" charset="0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 rot="0">
                <a:off x="3177" y="3346"/>
                <a:ext cx="1830" cy="3208"/>
                <a:chOff x="11077" y="6941"/>
                <a:chExt cx="3924" cy="1106"/>
              </a:xfrm>
            </p:grpSpPr>
            <p:sp>
              <p:nvSpPr>
                <p:cNvPr id="548" name="矩形: 圆角 547"/>
                <p:cNvSpPr/>
                <p:nvPr/>
              </p:nvSpPr>
              <p:spPr>
                <a:xfrm>
                  <a:off x="11077" y="7020"/>
                  <a:ext cx="3924" cy="1027"/>
                </a:xfrm>
                <a:prstGeom prst="roundRect">
                  <a:avLst>
                    <a:gd name="adj" fmla="val 11311"/>
                  </a:avLst>
                </a:prstGeom>
                <a:solidFill>
                  <a:srgbClr val="53919A"/>
                </a:solidFill>
                <a:ln>
                  <a:solidFill>
                    <a:srgbClr val="53919A"/>
                  </a:solidFill>
                </a:ln>
                <a:effectLst>
                  <a:reflection blurRad="177800" stA="52000" endA="300" endPos="20000" dir="5400000" sy="-100000" algn="bl" rotWithShape="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19" name="矩形: 圆角 547"/>
                <p:cNvSpPr/>
                <p:nvPr/>
              </p:nvSpPr>
              <p:spPr>
                <a:xfrm>
                  <a:off x="11083" y="6941"/>
                  <a:ext cx="3915" cy="1083"/>
                </a:xfrm>
                <a:prstGeom prst="roundRect">
                  <a:avLst>
                    <a:gd name="adj" fmla="val 7185"/>
                  </a:avLst>
                </a:prstGeom>
                <a:solidFill>
                  <a:srgbClr val="72AEB3"/>
                </a:solidFill>
                <a:ln>
                  <a:solidFill>
                    <a:srgbClr val="53919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20" name="矩形: 圆角 547"/>
                <p:cNvSpPr/>
                <p:nvPr/>
              </p:nvSpPr>
              <p:spPr>
                <a:xfrm>
                  <a:off x="11139" y="6963"/>
                  <a:ext cx="3804" cy="1036"/>
                </a:xfrm>
                <a:prstGeom prst="roundRect">
                  <a:avLst>
                    <a:gd name="adj" fmla="val 6318"/>
                  </a:avLst>
                </a:prstGeom>
                <a:gradFill>
                  <a:gsLst>
                    <a:gs pos="0">
                      <a:srgbClr val="BAD2D0"/>
                    </a:gs>
                    <a:gs pos="66000">
                      <a:srgbClr val="A4C4C6"/>
                    </a:gs>
                    <a:gs pos="85000">
                      <a:srgbClr val="9FC5C9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</p:grpSp>
          <p:sp>
            <p:nvSpPr>
              <p:cNvPr id="44" name="文本框 26"/>
              <p:cNvSpPr txBox="1"/>
              <p:nvPr/>
            </p:nvSpPr>
            <p:spPr>
              <a:xfrm>
                <a:off x="3641" y="3455"/>
                <a:ext cx="902" cy="434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altLang="zh-CN" sz="1200" b="1" dirty="0">
                    <a:solidFill>
                      <a:schemeClr val="tx1"/>
                    </a:solidFill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rPr>
                  <a:t>ESM2</a:t>
                </a:r>
                <a:endParaRPr lang="en-US" altLang="zh-CN" sz="1200" b="1" dirty="0">
                  <a:solidFill>
                    <a:schemeClr val="tx1"/>
                  </a:solidFill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</a:endParaRPr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 rot="0">
                <a:off x="3686" y="4116"/>
                <a:ext cx="812" cy="260"/>
                <a:chOff x="11797" y="4846"/>
                <a:chExt cx="812" cy="260"/>
              </a:xfrm>
            </p:grpSpPr>
            <p:sp>
              <p:nvSpPr>
                <p:cNvPr id="34" name="Google Shape;226;p21"/>
                <p:cNvSpPr>
                  <a:spLocks noChangeAspect="1"/>
                </p:cNvSpPr>
                <p:nvPr/>
              </p:nvSpPr>
              <p:spPr>
                <a:xfrm rot="5400000" flipH="1">
                  <a:off x="12344" y="4841"/>
                  <a:ext cx="261" cy="271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90000"/>
                  </a:schemeClr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35" name="Google Shape;226;p21"/>
                <p:cNvSpPr>
                  <a:spLocks noChangeAspect="1"/>
                </p:cNvSpPr>
                <p:nvPr/>
              </p:nvSpPr>
              <p:spPr>
                <a:xfrm rot="5400000" flipH="1">
                  <a:off x="12073" y="4841"/>
                  <a:ext cx="261" cy="271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50000"/>
                  </a:schemeClr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36" name="Google Shape;226;p21"/>
                <p:cNvSpPr>
                  <a:spLocks noChangeAspect="1"/>
                </p:cNvSpPr>
                <p:nvPr/>
              </p:nvSpPr>
              <p:spPr>
                <a:xfrm rot="5400000" flipH="1">
                  <a:off x="11802" y="4841"/>
                  <a:ext cx="261" cy="271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 rot="0">
                <a:off x="3686" y="3822"/>
                <a:ext cx="812" cy="260"/>
                <a:chOff x="11800" y="4486"/>
                <a:chExt cx="812" cy="260"/>
              </a:xfrm>
            </p:grpSpPr>
            <p:sp>
              <p:nvSpPr>
                <p:cNvPr id="37" name="Google Shape;226;p21"/>
                <p:cNvSpPr>
                  <a:spLocks noChangeAspect="1"/>
                </p:cNvSpPr>
                <p:nvPr/>
              </p:nvSpPr>
              <p:spPr>
                <a:xfrm rot="5400000" flipH="1">
                  <a:off x="12347" y="4481"/>
                  <a:ext cx="261" cy="271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80000"/>
                  </a:schemeClr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38" name="Google Shape;226;p21"/>
                <p:cNvSpPr>
                  <a:spLocks noChangeAspect="1"/>
                </p:cNvSpPr>
                <p:nvPr/>
              </p:nvSpPr>
              <p:spPr>
                <a:xfrm rot="5400000" flipH="1">
                  <a:off x="12076" y="4481"/>
                  <a:ext cx="261" cy="27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39" name="Google Shape;226;p21"/>
                <p:cNvSpPr>
                  <a:spLocks noChangeAspect="1"/>
                </p:cNvSpPr>
                <p:nvPr/>
              </p:nvSpPr>
              <p:spPr>
                <a:xfrm rot="5400000" flipH="1">
                  <a:off x="11805" y="4481"/>
                  <a:ext cx="261" cy="271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 rot="0">
                <a:off x="3686" y="4410"/>
                <a:ext cx="812" cy="260"/>
                <a:chOff x="11797" y="5170"/>
                <a:chExt cx="812" cy="260"/>
              </a:xfrm>
            </p:grpSpPr>
            <p:sp>
              <p:nvSpPr>
                <p:cNvPr id="45" name="Google Shape;226;p21"/>
                <p:cNvSpPr>
                  <a:spLocks noChangeAspect="1"/>
                </p:cNvSpPr>
                <p:nvPr/>
              </p:nvSpPr>
              <p:spPr>
                <a:xfrm rot="5400000" flipH="1">
                  <a:off x="12344" y="5165"/>
                  <a:ext cx="261" cy="271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</a:pPr>
                  <a:endParaRPr sz="2000">
                    <a:latin typeface="Segoe UI Semibold" panose="020B0702040204020203" charset="0"/>
                    <a:cs typeface="Segoe UI Semibold" panose="020B0702040204020203" charset="0"/>
                    <a:sym typeface="+mn-ea"/>
                  </a:endParaRPr>
                </a:p>
              </p:txBody>
            </p:sp>
            <p:sp>
              <p:nvSpPr>
                <p:cNvPr id="46" name="Google Shape;226;p21"/>
                <p:cNvSpPr>
                  <a:spLocks noChangeAspect="1"/>
                </p:cNvSpPr>
                <p:nvPr/>
              </p:nvSpPr>
              <p:spPr>
                <a:xfrm rot="5400000" flipH="1">
                  <a:off x="12073" y="5165"/>
                  <a:ext cx="261" cy="271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50000"/>
                  </a:schemeClr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47" name="Google Shape;226;p21"/>
                <p:cNvSpPr>
                  <a:spLocks noChangeAspect="1"/>
                </p:cNvSpPr>
                <p:nvPr/>
              </p:nvSpPr>
              <p:spPr>
                <a:xfrm rot="5400000" flipH="1">
                  <a:off x="11802" y="5165"/>
                  <a:ext cx="261" cy="27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</a:pPr>
                  <a:endParaRPr sz="2000">
                    <a:latin typeface="Segoe UI Semibold" panose="020B0702040204020203" charset="0"/>
                    <a:cs typeface="Segoe UI Semibold" panose="020B0702040204020203" charset="0"/>
                    <a:sym typeface="+mn-ea"/>
                  </a:endParaRPr>
                </a:p>
              </p:txBody>
            </p:sp>
          </p:grpSp>
          <p:sp>
            <p:nvSpPr>
              <p:cNvPr id="51" name="文本框 26"/>
              <p:cNvSpPr txBox="1"/>
              <p:nvPr/>
            </p:nvSpPr>
            <p:spPr>
              <a:xfrm>
                <a:off x="3690" y="3758"/>
                <a:ext cx="782" cy="931"/>
              </a:xfrm>
              <a:prstGeom prst="rect">
                <a:avLst/>
              </a:prstGeom>
            </p:spPr>
            <p:txBody>
              <a:bodyPr wrap="square" anchor="ctr" anchorCtr="0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000" b="1" i="1" dirty="0">
                    <a:solidFill>
                      <a:schemeClr val="tx1"/>
                    </a:solidFill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rPr>
                  <a:t>Q</a:t>
                </a:r>
                <a:endParaRPr lang="en-US" altLang="zh-CN" sz="1000" b="1" i="1" dirty="0">
                  <a:solidFill>
                    <a:schemeClr val="tx1"/>
                  </a:solidFill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altLang="zh-CN" sz="1000" b="1" i="1" dirty="0">
                    <a:solidFill>
                      <a:schemeClr val="tx1"/>
                    </a:solidFill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rPr>
                  <a:t>K</a:t>
                </a:r>
                <a:endParaRPr lang="en-US" altLang="zh-CN" sz="1000" b="1" i="1" dirty="0">
                  <a:solidFill>
                    <a:schemeClr val="tx1"/>
                  </a:solidFill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altLang="zh-CN" sz="1000" b="1" i="1" dirty="0">
                    <a:solidFill>
                      <a:schemeClr val="tx1"/>
                    </a:solidFill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rPr>
                  <a:t>V</a:t>
                </a:r>
                <a:endParaRPr lang="en-US" altLang="zh-CN" sz="1000" b="1" i="1" dirty="0">
                  <a:solidFill>
                    <a:schemeClr val="tx1"/>
                  </a:solidFill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</a:endParaRPr>
              </a:p>
            </p:txBody>
          </p:sp>
          <p:grpSp>
            <p:nvGrpSpPr>
              <p:cNvPr id="949" name="组合 948"/>
              <p:cNvGrpSpPr>
                <a:grpSpLocks noChangeAspect="1"/>
              </p:cNvGrpSpPr>
              <p:nvPr/>
            </p:nvGrpSpPr>
            <p:grpSpPr>
              <a:xfrm rot="0" flipH="1">
                <a:off x="3541" y="5265"/>
                <a:ext cx="1102" cy="742"/>
                <a:chOff x="3418" y="3079"/>
                <a:chExt cx="1278" cy="858"/>
              </a:xfrm>
            </p:grpSpPr>
            <p:sp>
              <p:nvSpPr>
                <p:cNvPr id="584" name="椭圆 583"/>
                <p:cNvSpPr>
                  <a:spLocks noChangeAspect="1"/>
                </p:cNvSpPr>
                <p:nvPr/>
              </p:nvSpPr>
              <p:spPr>
                <a:xfrm>
                  <a:off x="4469" y="3321"/>
                  <a:ext cx="80" cy="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585" name="椭圆 584"/>
                <p:cNvSpPr>
                  <a:spLocks noChangeAspect="1"/>
                </p:cNvSpPr>
                <p:nvPr/>
              </p:nvSpPr>
              <p:spPr>
                <a:xfrm>
                  <a:off x="4315" y="3441"/>
                  <a:ext cx="80" cy="8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586" name="椭圆 585"/>
                <p:cNvSpPr>
                  <a:spLocks noChangeAspect="1"/>
                </p:cNvSpPr>
                <p:nvPr/>
              </p:nvSpPr>
              <p:spPr>
                <a:xfrm>
                  <a:off x="4616" y="3451"/>
                  <a:ext cx="80" cy="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587" name="椭圆 586"/>
                <p:cNvSpPr>
                  <a:spLocks noChangeAspect="1"/>
                </p:cNvSpPr>
                <p:nvPr/>
              </p:nvSpPr>
              <p:spPr>
                <a:xfrm>
                  <a:off x="4313" y="3608"/>
                  <a:ext cx="80" cy="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588" name="椭圆 587"/>
                <p:cNvSpPr>
                  <a:spLocks noChangeAspect="1"/>
                </p:cNvSpPr>
                <p:nvPr/>
              </p:nvSpPr>
              <p:spPr>
                <a:xfrm>
                  <a:off x="4469" y="3703"/>
                  <a:ext cx="80" cy="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589" name="椭圆 588"/>
                <p:cNvSpPr>
                  <a:spLocks noChangeAspect="1"/>
                </p:cNvSpPr>
                <p:nvPr/>
              </p:nvSpPr>
              <p:spPr>
                <a:xfrm>
                  <a:off x="4616" y="3613"/>
                  <a:ext cx="80" cy="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cxnSp>
              <p:nvCxnSpPr>
                <p:cNvPr id="590" name="直接连接符 589"/>
                <p:cNvCxnSpPr>
                  <a:stCxn id="585" idx="7"/>
                  <a:endCxn id="584" idx="3"/>
                </p:cNvCxnSpPr>
                <p:nvPr/>
              </p:nvCxnSpPr>
              <p:spPr>
                <a:xfrm flipV="1">
                  <a:off x="4383" y="3390"/>
                  <a:ext cx="98" cy="6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1" name="直接连接符 590"/>
                <p:cNvCxnSpPr>
                  <a:stCxn id="587" idx="0"/>
                </p:cNvCxnSpPr>
                <p:nvPr/>
              </p:nvCxnSpPr>
              <p:spPr>
                <a:xfrm flipV="1">
                  <a:off x="4353" y="3521"/>
                  <a:ext cx="0" cy="8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2" name="直接连接符 591"/>
                <p:cNvCxnSpPr>
                  <a:endCxn id="588" idx="2"/>
                </p:cNvCxnSpPr>
                <p:nvPr/>
              </p:nvCxnSpPr>
              <p:spPr>
                <a:xfrm>
                  <a:off x="4371" y="3686"/>
                  <a:ext cx="98" cy="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直接连接符 592"/>
                <p:cNvCxnSpPr>
                  <a:endCxn id="589" idx="3"/>
                </p:cNvCxnSpPr>
                <p:nvPr/>
              </p:nvCxnSpPr>
              <p:spPr>
                <a:xfrm flipV="1">
                  <a:off x="4549" y="3682"/>
                  <a:ext cx="78" cy="4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" name="直接连接符 593"/>
                <p:cNvCxnSpPr>
                  <a:endCxn id="586" idx="1"/>
                </p:cNvCxnSpPr>
                <p:nvPr/>
              </p:nvCxnSpPr>
              <p:spPr>
                <a:xfrm>
                  <a:off x="4545" y="3388"/>
                  <a:ext cx="82" cy="7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5" name="直接连接符 594"/>
                <p:cNvCxnSpPr>
                  <a:stCxn id="589" idx="0"/>
                  <a:endCxn id="586" idx="4"/>
                </p:cNvCxnSpPr>
                <p:nvPr/>
              </p:nvCxnSpPr>
              <p:spPr>
                <a:xfrm flipV="1">
                  <a:off x="4656" y="3531"/>
                  <a:ext cx="0" cy="8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6" name="椭圆 595"/>
                <p:cNvSpPr>
                  <a:spLocks noChangeAspect="1"/>
                </p:cNvSpPr>
                <p:nvPr/>
              </p:nvSpPr>
              <p:spPr>
                <a:xfrm>
                  <a:off x="4160" y="3338"/>
                  <a:ext cx="80" cy="8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597" name="椭圆 596"/>
                <p:cNvSpPr>
                  <a:spLocks noChangeAspect="1"/>
                </p:cNvSpPr>
                <p:nvPr/>
              </p:nvSpPr>
              <p:spPr>
                <a:xfrm>
                  <a:off x="4012" y="3462"/>
                  <a:ext cx="80" cy="80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598" name="椭圆 597"/>
                <p:cNvSpPr>
                  <a:spLocks noChangeAspect="1"/>
                </p:cNvSpPr>
                <p:nvPr/>
              </p:nvSpPr>
              <p:spPr>
                <a:xfrm>
                  <a:off x="4070" y="3648"/>
                  <a:ext cx="80" cy="8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599" name="椭圆 598"/>
                <p:cNvSpPr>
                  <a:spLocks noChangeAspect="1"/>
                </p:cNvSpPr>
                <p:nvPr/>
              </p:nvSpPr>
              <p:spPr>
                <a:xfrm>
                  <a:off x="3815" y="3378"/>
                  <a:ext cx="80" cy="8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600" name="椭圆 599"/>
                <p:cNvSpPr>
                  <a:spLocks noChangeAspect="1"/>
                </p:cNvSpPr>
                <p:nvPr/>
              </p:nvSpPr>
              <p:spPr>
                <a:xfrm>
                  <a:off x="3668" y="3513"/>
                  <a:ext cx="80" cy="8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601" name="椭圆 600"/>
                <p:cNvSpPr>
                  <a:spLocks noChangeAspect="1"/>
                </p:cNvSpPr>
                <p:nvPr/>
              </p:nvSpPr>
              <p:spPr>
                <a:xfrm>
                  <a:off x="3768" y="3152"/>
                  <a:ext cx="80" cy="8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cxnSp>
              <p:nvCxnSpPr>
                <p:cNvPr id="602" name="直接连接符 601"/>
                <p:cNvCxnSpPr/>
                <p:nvPr/>
              </p:nvCxnSpPr>
              <p:spPr>
                <a:xfrm flipV="1">
                  <a:off x="4076" y="3409"/>
                  <a:ext cx="98" cy="6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3" name="直接连接符 602"/>
                <p:cNvCxnSpPr>
                  <a:stCxn id="598" idx="0"/>
                  <a:endCxn id="597" idx="4"/>
                </p:cNvCxnSpPr>
                <p:nvPr/>
              </p:nvCxnSpPr>
              <p:spPr>
                <a:xfrm flipH="1" flipV="1">
                  <a:off x="4052" y="3542"/>
                  <a:ext cx="58" cy="10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4" name="直接连接符 603"/>
                <p:cNvCxnSpPr>
                  <a:stCxn id="599" idx="6"/>
                  <a:endCxn id="597" idx="1"/>
                </p:cNvCxnSpPr>
                <p:nvPr/>
              </p:nvCxnSpPr>
              <p:spPr>
                <a:xfrm>
                  <a:off x="3896" y="3418"/>
                  <a:ext cx="128" cy="5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5" name="椭圆 604"/>
                <p:cNvSpPr>
                  <a:spLocks noChangeAspect="1"/>
                </p:cNvSpPr>
                <p:nvPr/>
              </p:nvSpPr>
              <p:spPr>
                <a:xfrm>
                  <a:off x="3960" y="3828"/>
                  <a:ext cx="80" cy="8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cxnSp>
              <p:nvCxnSpPr>
                <p:cNvPr id="606" name="直接连接符 605"/>
                <p:cNvCxnSpPr>
                  <a:stCxn id="605" idx="0"/>
                  <a:endCxn id="598" idx="3"/>
                </p:cNvCxnSpPr>
                <p:nvPr/>
              </p:nvCxnSpPr>
              <p:spPr>
                <a:xfrm flipV="1">
                  <a:off x="4000" y="3716"/>
                  <a:ext cx="82" cy="1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7" name="直接箭头连接符 606"/>
                <p:cNvCxnSpPr>
                  <a:stCxn id="597" idx="1"/>
                  <a:endCxn id="599" idx="6"/>
                </p:cNvCxnSpPr>
                <p:nvPr/>
              </p:nvCxnSpPr>
              <p:spPr>
                <a:xfrm flipH="1" flipV="1">
                  <a:off x="3896" y="3418"/>
                  <a:ext cx="128" cy="56"/>
                </a:xfrm>
                <a:prstGeom prst="straightConnector1">
                  <a:avLst/>
                </a:prstGeom>
                <a:ln w="19050">
                  <a:solidFill>
                    <a:schemeClr val="accent2">
                      <a:lumMod val="60000"/>
                      <a:lumOff val="40000"/>
                      <a:alpha val="6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9" name="直接箭头连接符 608"/>
                <p:cNvCxnSpPr>
                  <a:endCxn id="596" idx="3"/>
                </p:cNvCxnSpPr>
                <p:nvPr/>
              </p:nvCxnSpPr>
              <p:spPr>
                <a:xfrm flipV="1">
                  <a:off x="4074" y="3406"/>
                  <a:ext cx="98" cy="60"/>
                </a:xfrm>
                <a:prstGeom prst="straightConnector1">
                  <a:avLst/>
                </a:prstGeom>
                <a:ln w="19050">
                  <a:solidFill>
                    <a:schemeClr val="accent2">
                      <a:lumMod val="60000"/>
                      <a:lumOff val="40000"/>
                      <a:alpha val="6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0" name="直接箭头连接符 609"/>
                <p:cNvCxnSpPr/>
                <p:nvPr/>
              </p:nvCxnSpPr>
              <p:spPr>
                <a:xfrm>
                  <a:off x="4244" y="3391"/>
                  <a:ext cx="95" cy="69"/>
                </a:xfrm>
                <a:prstGeom prst="straightConnector1">
                  <a:avLst/>
                </a:prstGeom>
                <a:ln w="19050">
                  <a:solidFill>
                    <a:schemeClr val="accent2">
                      <a:lumMod val="60000"/>
                      <a:lumOff val="40000"/>
                      <a:alpha val="6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1" name="直接箭头连接符 610"/>
                <p:cNvCxnSpPr>
                  <a:stCxn id="597" idx="4"/>
                  <a:endCxn id="598" idx="0"/>
                </p:cNvCxnSpPr>
                <p:nvPr/>
              </p:nvCxnSpPr>
              <p:spPr>
                <a:xfrm>
                  <a:off x="4052" y="3542"/>
                  <a:ext cx="58" cy="106"/>
                </a:xfrm>
                <a:prstGeom prst="straightConnector1">
                  <a:avLst/>
                </a:prstGeom>
                <a:ln w="19050">
                  <a:solidFill>
                    <a:schemeClr val="accent2">
                      <a:lumMod val="60000"/>
                      <a:lumOff val="40000"/>
                      <a:alpha val="6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2" name="直接箭头连接符 611"/>
                <p:cNvCxnSpPr>
                  <a:stCxn id="599" idx="3"/>
                </p:cNvCxnSpPr>
                <p:nvPr/>
              </p:nvCxnSpPr>
              <p:spPr>
                <a:xfrm flipH="1">
                  <a:off x="3735" y="3447"/>
                  <a:ext cx="92" cy="74"/>
                </a:xfrm>
                <a:prstGeom prst="straightConnector1">
                  <a:avLst/>
                </a:prstGeom>
                <a:ln w="19050">
                  <a:solidFill>
                    <a:schemeClr val="accent2">
                      <a:lumMod val="60000"/>
                      <a:lumOff val="40000"/>
                      <a:alpha val="6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3" name="直接连接符 612"/>
                <p:cNvCxnSpPr>
                  <a:endCxn id="585" idx="1"/>
                </p:cNvCxnSpPr>
                <p:nvPr/>
              </p:nvCxnSpPr>
              <p:spPr>
                <a:xfrm>
                  <a:off x="4239" y="3391"/>
                  <a:ext cx="88" cy="6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4" name="直接连接符 613"/>
                <p:cNvCxnSpPr>
                  <a:stCxn id="601" idx="4"/>
                </p:cNvCxnSpPr>
                <p:nvPr/>
              </p:nvCxnSpPr>
              <p:spPr>
                <a:xfrm>
                  <a:off x="3808" y="3232"/>
                  <a:ext cx="35" cy="14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5" name="直接连接符 614"/>
                <p:cNvCxnSpPr>
                  <a:endCxn id="599" idx="3"/>
                </p:cNvCxnSpPr>
                <p:nvPr/>
              </p:nvCxnSpPr>
              <p:spPr>
                <a:xfrm flipV="1">
                  <a:off x="3740" y="3447"/>
                  <a:ext cx="87" cy="7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6" name="直接箭头连接符 615"/>
                <p:cNvCxnSpPr>
                  <a:endCxn id="605" idx="0"/>
                </p:cNvCxnSpPr>
                <p:nvPr/>
              </p:nvCxnSpPr>
              <p:spPr>
                <a:xfrm flipH="1">
                  <a:off x="4000" y="3719"/>
                  <a:ext cx="70" cy="109"/>
                </a:xfrm>
                <a:prstGeom prst="straightConnector1">
                  <a:avLst/>
                </a:prstGeom>
                <a:ln w="19050">
                  <a:solidFill>
                    <a:schemeClr val="accent2">
                      <a:lumMod val="60000"/>
                      <a:lumOff val="40000"/>
                      <a:alpha val="6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7" name="椭圆 616"/>
                <p:cNvSpPr/>
                <p:nvPr/>
              </p:nvSpPr>
              <p:spPr>
                <a:xfrm>
                  <a:off x="3799" y="3233"/>
                  <a:ext cx="518" cy="520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618" name="椭圆 617"/>
                <p:cNvSpPr/>
                <p:nvPr/>
              </p:nvSpPr>
              <p:spPr>
                <a:xfrm>
                  <a:off x="3561" y="3079"/>
                  <a:ext cx="907" cy="858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cxnSp>
              <p:nvCxnSpPr>
                <p:cNvPr id="894" name="直接连接符 893"/>
                <p:cNvCxnSpPr>
                  <a:stCxn id="598" idx="6"/>
                  <a:endCxn id="587" idx="2"/>
                </p:cNvCxnSpPr>
                <p:nvPr/>
              </p:nvCxnSpPr>
              <p:spPr>
                <a:xfrm flipV="1">
                  <a:off x="4150" y="3648"/>
                  <a:ext cx="163" cy="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8" name="直接箭头连接符 607"/>
                <p:cNvCxnSpPr>
                  <a:stCxn id="599" idx="0"/>
                  <a:endCxn id="601" idx="4"/>
                </p:cNvCxnSpPr>
                <p:nvPr/>
              </p:nvCxnSpPr>
              <p:spPr>
                <a:xfrm flipH="1" flipV="1">
                  <a:off x="3808" y="3232"/>
                  <a:ext cx="47" cy="146"/>
                </a:xfrm>
                <a:prstGeom prst="straightConnector1">
                  <a:avLst/>
                </a:prstGeom>
                <a:ln w="19050">
                  <a:solidFill>
                    <a:schemeClr val="accent2">
                      <a:lumMod val="60000"/>
                      <a:lumOff val="40000"/>
                      <a:alpha val="6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1" name="直接连接符 900"/>
                <p:cNvCxnSpPr/>
                <p:nvPr/>
              </p:nvCxnSpPr>
              <p:spPr>
                <a:xfrm>
                  <a:off x="3498" y="3542"/>
                  <a:ext cx="17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02" name="椭圆 901"/>
                <p:cNvSpPr>
                  <a:spLocks noChangeAspect="1"/>
                </p:cNvSpPr>
                <p:nvPr/>
              </p:nvSpPr>
              <p:spPr>
                <a:xfrm>
                  <a:off x="3418" y="3492"/>
                  <a:ext cx="80" cy="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</p:grpSp>
          <p:sp>
            <p:nvSpPr>
              <p:cNvPr id="52" name="文本框 26"/>
              <p:cNvSpPr txBox="1"/>
              <p:nvPr/>
            </p:nvSpPr>
            <p:spPr>
              <a:xfrm>
                <a:off x="3641" y="6056"/>
                <a:ext cx="902" cy="434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altLang="zh-CN" sz="1200" b="1" dirty="0">
                    <a:solidFill>
                      <a:schemeClr val="tx1"/>
                    </a:solidFill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rPr>
                  <a:t>GNN</a:t>
                </a:r>
                <a:endParaRPr lang="en-US" altLang="zh-CN" sz="1200" b="1" dirty="0">
                  <a:solidFill>
                    <a:schemeClr val="tx1"/>
                  </a:solidFill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</a:endParaRPr>
              </a:p>
            </p:txBody>
          </p:sp>
          <p:sp>
            <p:nvSpPr>
              <p:cNvPr id="64" name="右箭头 63"/>
              <p:cNvSpPr/>
              <p:nvPr/>
            </p:nvSpPr>
            <p:spPr>
              <a:xfrm>
                <a:off x="2571" y="5008"/>
                <a:ext cx="382" cy="280"/>
              </a:xfrm>
              <a:prstGeom prst="rightArrow">
                <a:avLst/>
              </a:prstGeom>
              <a:gradFill>
                <a:gsLst>
                  <a:gs pos="0">
                    <a:srgbClr val="BAD2D0"/>
                  </a:gs>
                  <a:gs pos="24000">
                    <a:srgbClr val="A4C4C6"/>
                  </a:gs>
                  <a:gs pos="85000">
                    <a:srgbClr val="53919A"/>
                  </a:gs>
                </a:gsLst>
                <a:lin ang="0"/>
              </a:gradFill>
              <a:ln>
                <a:solidFill>
                  <a:srgbClr val="53919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2000">
                  <a:latin typeface="Segoe UI Semibold" panose="020B0702040204020203" charset="0"/>
                  <a:cs typeface="Segoe UI Semibold" panose="020B0702040204020203" charset="0"/>
                  <a:sym typeface="+mn-ea"/>
                </a:endParaRPr>
              </a:p>
            </p:txBody>
          </p:sp>
          <p:sp>
            <p:nvSpPr>
              <p:cNvPr id="650" name="文本框 649"/>
              <p:cNvSpPr txBox="1"/>
              <p:nvPr/>
            </p:nvSpPr>
            <p:spPr>
              <a:xfrm>
                <a:off x="3223" y="4599"/>
                <a:ext cx="1738" cy="563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200" b="1" dirty="0">
                    <a:solidFill>
                      <a:schemeClr val="bg1"/>
                    </a:solidFill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  <a:sym typeface="+mn-ea"/>
                  </a:rPr>
                  <a:t>Bilinear</a:t>
                </a:r>
                <a:endParaRPr lang="en-US" altLang="zh-CN" sz="1200" b="1" dirty="0">
                  <a:solidFill>
                    <a:schemeClr val="bg1"/>
                  </a:solidFill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  <a:sym typeface="+mn-ea"/>
                </a:endParaRPr>
              </a:p>
              <a:p>
                <a:pPr algn="ctr"/>
                <a:r>
                  <a:rPr lang="en-US" altLang="zh-CN" sz="1200" b="1" dirty="0">
                    <a:solidFill>
                      <a:schemeClr val="bg1"/>
                    </a:solidFill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  <a:sym typeface="+mn-ea"/>
                  </a:rPr>
                  <a:t>Attention </a:t>
                </a:r>
                <a:endParaRPr lang="en-US" altLang="zh-CN" sz="1200" b="1" dirty="0">
                  <a:solidFill>
                    <a:schemeClr val="bg1"/>
                  </a:solidFill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  <a:sym typeface="+mn-ea"/>
                </a:endParaRPr>
              </a:p>
            </p:txBody>
          </p:sp>
          <p:sp>
            <p:nvSpPr>
              <p:cNvPr id="66" name="双括号 65"/>
              <p:cNvSpPr/>
              <p:nvPr/>
            </p:nvSpPr>
            <p:spPr>
              <a:xfrm>
                <a:off x="3308" y="4604"/>
                <a:ext cx="1568" cy="796"/>
              </a:xfrm>
              <a:prstGeom prst="bracketPair">
                <a:avLst>
                  <a:gd name="adj" fmla="val 19584"/>
                </a:avLst>
              </a:prstGeom>
              <a:ln>
                <a:solidFill>
                  <a:schemeClr val="bg1"/>
                </a:solidFill>
              </a:ln>
              <a:effectLst>
                <a:outerShdw blurRad="101600" dist="50800" dir="5400000" algn="ctr" rotWithShape="0">
                  <a:schemeClr val="bg1">
                    <a:alpha val="60000"/>
                  </a:scheme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 sz="2000">
                  <a:latin typeface="Segoe UI Semibold" panose="020B0702040204020203" charset="0"/>
                  <a:cs typeface="Segoe UI Semibold" panose="020B0702040204020203" charset="0"/>
                </a:endParaRPr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 rot="0">
                <a:off x="673" y="3263"/>
                <a:ext cx="2094" cy="3671"/>
                <a:chOff x="673" y="3347"/>
                <a:chExt cx="1902" cy="3334"/>
              </a:xfrm>
            </p:grpSpPr>
            <p:pic>
              <p:nvPicPr>
                <p:cNvPr id="3" name="图片 2"/>
                <p:cNvPicPr>
                  <a:picLocks noChangeAspect="1"/>
                </p:cNvPicPr>
                <p:nvPr/>
              </p:nvPicPr>
              <p:blipFill>
                <a:blip r:embed="rId14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 rot="1680000">
                  <a:off x="1204" y="4995"/>
                  <a:ext cx="840" cy="1026"/>
                </a:xfrm>
                <a:prstGeom prst="rect">
                  <a:avLst/>
                </a:prstGeom>
              </p:spPr>
            </p:pic>
            <p:sp>
              <p:nvSpPr>
                <p:cNvPr id="33" name="文本框 32"/>
                <p:cNvSpPr txBox="1"/>
                <p:nvPr/>
              </p:nvSpPr>
              <p:spPr>
                <a:xfrm>
                  <a:off x="742" y="4659"/>
                  <a:ext cx="1765" cy="35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ctr">
                    <a:buClrTx/>
                    <a:buSzTx/>
                    <a:buFontTx/>
                  </a:pPr>
                  <a:r>
                    <a:rPr lang="en-US" altLang="zh-CN" sz="1000">
                      <a:solidFill>
                        <a:schemeClr val="accent4">
                          <a:lumMod val="50000"/>
                        </a:schemeClr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Segoe UI Semibold" panose="020B0702040204020203" charset="0"/>
                      <a:cs typeface="Segoe UI Semibold" panose="020B0702040204020203" charset="0"/>
                      <a:sym typeface="+mn-ea"/>
                    </a:rPr>
                    <a:t>MFRQEQRGPG... </a:t>
                  </a:r>
                  <a:endParaRPr lang="en-US" altLang="zh-CN" sz="1000">
                    <a:solidFill>
                      <a:schemeClr val="accent4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Segoe UI Semibold" panose="020B0702040204020203" charset="0"/>
                    <a:cs typeface="Segoe UI Semibold" panose="020B0702040204020203" charset="0"/>
                    <a:sym typeface="+mn-ea"/>
                  </a:endParaRPr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901" y="5779"/>
                  <a:ext cx="1447" cy="27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</a:extLst>
              </p:spPr>
              <p:txBody>
                <a:bodyPr wrap="square" rtlCol="0" anchor="t">
                  <a:noAutofit/>
                </a:bodyPr>
                <a:lstStyle/>
                <a:p>
                  <a:pPr algn="ctr"/>
                  <a:r>
                    <a:rPr lang="en-US" altLang="zh-CN" sz="1000">
                      <a:solidFill>
                        <a:schemeClr val="accent1">
                          <a:lumMod val="50000"/>
                        </a:schemeClr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Segoe UI Semibold" panose="020B0702040204020203" charset="0"/>
                      <a:cs typeface="Segoe UI Semibold" panose="020B0702040204020203" charset="0"/>
                    </a:rPr>
                    <a:t>CNC(=O)c1sc2ccccc2c1Cl</a:t>
                  </a:r>
                  <a:endParaRPr lang="en-US" altLang="zh-CN" sz="1000">
                    <a:solidFill>
                      <a:schemeClr val="accent1">
                        <a:lumMod val="50000"/>
                      </a:schemeClr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pic>
              <p:nvPicPr>
                <p:cNvPr id="17" name="图片 16"/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18" y="3735"/>
                  <a:ext cx="813" cy="907"/>
                </a:xfrm>
                <a:prstGeom prst="rect">
                  <a:avLst/>
                </a:prstGeom>
              </p:spPr>
            </p:pic>
            <p:sp>
              <p:nvSpPr>
                <p:cNvPr id="56" name="文本框 26"/>
                <p:cNvSpPr txBox="1"/>
                <p:nvPr/>
              </p:nvSpPr>
              <p:spPr>
                <a:xfrm>
                  <a:off x="673" y="3347"/>
                  <a:ext cx="1902" cy="394"/>
                </a:xfrm>
                <a:prstGeom prst="rect">
                  <a:avLst/>
                </a:prstGeom>
              </p:spPr>
              <p:txBody>
                <a:bodyPr wrap="square">
                  <a:sp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200" b="1" dirty="0">
                      <a:solidFill>
                        <a:schemeClr val="tx1"/>
                      </a:solidFill>
                      <a:latin typeface="Segoe UI Semibold" panose="020B0702040204020203" charset="0"/>
                      <a:ea typeface="微软雅黑" panose="020B0503020204020204" charset="-122"/>
                      <a:cs typeface="Segoe UI Semibold" panose="020B0702040204020203" charset="0"/>
                    </a:rPr>
                    <a:t>Safety targets</a:t>
                  </a:r>
                  <a:endParaRPr lang="en-US" altLang="zh-CN" sz="1200" b="1" dirty="0">
                    <a:solidFill>
                      <a:schemeClr val="tx1"/>
                    </a:solidFill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endParaRPr>
                </a:p>
              </p:txBody>
            </p:sp>
            <p:sp>
              <p:nvSpPr>
                <p:cNvPr id="57" name="文本框 26"/>
                <p:cNvSpPr txBox="1"/>
                <p:nvPr/>
              </p:nvSpPr>
              <p:spPr>
                <a:xfrm>
                  <a:off x="673" y="6287"/>
                  <a:ext cx="1902" cy="394"/>
                </a:xfrm>
                <a:prstGeom prst="rect">
                  <a:avLst/>
                </a:prstGeom>
              </p:spPr>
              <p:txBody>
                <a:bodyPr wrap="square">
                  <a:sp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200" b="1" dirty="0">
                      <a:solidFill>
                        <a:schemeClr val="tx1"/>
                      </a:solidFill>
                      <a:latin typeface="Segoe UI Semibold" panose="020B0702040204020203" charset="0"/>
                      <a:ea typeface="微软雅黑" panose="020B0503020204020204" charset="-122"/>
                      <a:cs typeface="Segoe UI Semibold" panose="020B0702040204020203" charset="0"/>
                    </a:rPr>
                    <a:t>Compounds</a:t>
                  </a:r>
                  <a:endParaRPr lang="en-US" altLang="zh-CN" sz="1200" b="1" dirty="0">
                    <a:solidFill>
                      <a:schemeClr val="tx1"/>
                    </a:solidFill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endParaRPr>
                </a:p>
              </p:txBody>
            </p:sp>
            <p:sp>
              <p:nvSpPr>
                <p:cNvPr id="68" name="加号 67"/>
                <p:cNvSpPr/>
                <p:nvPr/>
              </p:nvSpPr>
              <p:spPr>
                <a:xfrm>
                  <a:off x="1492" y="5008"/>
                  <a:ext cx="264" cy="256"/>
                </a:xfrm>
                <a:prstGeom prst="mathPlus">
                  <a:avLst/>
                </a:prstGeom>
                <a:gradFill>
                  <a:gsLst>
                    <a:gs pos="0">
                      <a:srgbClr val="BAD2D0"/>
                    </a:gs>
                    <a:gs pos="24000">
                      <a:srgbClr val="A4C4C6"/>
                    </a:gs>
                    <a:gs pos="85000">
                      <a:srgbClr val="53919A"/>
                    </a:gs>
                  </a:gsLst>
                  <a:lin ang="0"/>
                </a:gra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  <a:sym typeface="+mn-ea"/>
                  </a:endParaRPr>
                </a:p>
              </p:txBody>
            </p:sp>
          </p:grpSp>
        </p:grpSp>
        <p:pic>
          <p:nvPicPr>
            <p:cNvPr id="80" name="图片 79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6306" y="7498"/>
              <a:ext cx="2929" cy="1041"/>
            </a:xfrm>
            <a:prstGeom prst="roundRect">
              <a:avLst>
                <a:gd name="adj" fmla="val 15321"/>
              </a:avLst>
            </a:prstGeom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31" name="组合 230"/>
            <p:cNvGrpSpPr/>
            <p:nvPr/>
          </p:nvGrpSpPr>
          <p:grpSpPr>
            <a:xfrm>
              <a:off x="5478" y="2495"/>
              <a:ext cx="4584" cy="4669"/>
              <a:chOff x="5728" y="2495"/>
              <a:chExt cx="4584" cy="4669"/>
            </a:xfrm>
          </p:grpSpPr>
          <p:sp>
            <p:nvSpPr>
              <p:cNvPr id="111" name="文本框 110"/>
              <p:cNvSpPr txBox="1"/>
              <p:nvPr/>
            </p:nvSpPr>
            <p:spPr>
              <a:xfrm>
                <a:off x="5728" y="2495"/>
                <a:ext cx="4584" cy="4669"/>
              </a:xfrm>
              <a:prstGeom prst="roundRect">
                <a:avLst>
                  <a:gd name="adj" fmla="val 3732"/>
                </a:avLst>
              </a:prstGeom>
              <a:solidFill>
                <a:srgbClr val="FAECDF"/>
              </a:solidFill>
            </p:spPr>
            <p:txBody>
              <a:bodyPr wrap="square" anchor="t" anchorCtr="0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ctr"/>
                <a:r>
                  <a:rPr lang="en-US" altLang="zh-CN" sz="1600" b="1">
                    <a:solidFill>
                      <a:schemeClr val="tx1"/>
                    </a:solidFill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rPr>
                  <a:t>Free systemic exposure</a:t>
                </a:r>
                <a:endParaRPr lang="en-US" altLang="zh-CN" sz="1600" b="1">
                  <a:solidFill>
                    <a:schemeClr val="tx1"/>
                  </a:solidFill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</a:endParaRPr>
              </a:p>
            </p:txBody>
          </p:sp>
          <p:sp>
            <p:nvSpPr>
              <p:cNvPr id="112" name="圆角矩形 111"/>
              <p:cNvSpPr/>
              <p:nvPr/>
            </p:nvSpPr>
            <p:spPr>
              <a:xfrm>
                <a:off x="5816" y="3139"/>
                <a:ext cx="4399" cy="3907"/>
              </a:xfrm>
              <a:prstGeom prst="roundRect">
                <a:avLst>
                  <a:gd name="adj" fmla="val 3694"/>
                </a:avLst>
              </a:prstGeom>
              <a:solidFill>
                <a:srgbClr val="FBF4F1"/>
              </a:solidFill>
              <a:ln w="12700">
                <a:solidFill>
                  <a:schemeClr val="accent2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latin typeface="Segoe UI Semibold" panose="020B0702040204020203" charset="0"/>
                  <a:cs typeface="Segoe UI Semibold" panose="020B0702040204020203" charset="0"/>
                </a:endParaRPr>
              </a:p>
            </p:txBody>
          </p:sp>
          <p:grpSp>
            <p:nvGrpSpPr>
              <p:cNvPr id="190" name="组合 189"/>
              <p:cNvGrpSpPr/>
              <p:nvPr/>
            </p:nvGrpSpPr>
            <p:grpSpPr>
              <a:xfrm rot="840000">
                <a:off x="6134" y="3837"/>
                <a:ext cx="1098" cy="1341"/>
                <a:chOff x="7184" y="2082"/>
                <a:chExt cx="1228" cy="1500"/>
              </a:xfrm>
            </p:grpSpPr>
            <p:pic>
              <p:nvPicPr>
                <p:cNvPr id="182" name="图片 181"/>
                <p:cNvPicPr>
                  <a:picLocks noChangeAspect="1"/>
                </p:cNvPicPr>
                <p:nvPr/>
              </p:nvPicPr>
              <p:blipFill>
                <a:blip r:embed="rId14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7184" y="2082"/>
                  <a:ext cx="1229" cy="1500"/>
                </a:xfrm>
                <a:prstGeom prst="rect">
                  <a:avLst/>
                </a:prstGeom>
              </p:spPr>
            </p:pic>
            <p:sp>
              <p:nvSpPr>
                <p:cNvPr id="183" name="椭圆 182"/>
                <p:cNvSpPr/>
                <p:nvPr/>
              </p:nvSpPr>
              <p:spPr>
                <a:xfrm>
                  <a:off x="7184" y="2951"/>
                  <a:ext cx="560" cy="554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z="31750"/>
                </a:bodyPr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184" name="椭圆 183"/>
                <p:cNvSpPr/>
                <p:nvPr/>
              </p:nvSpPr>
              <p:spPr>
                <a:xfrm>
                  <a:off x="7396" y="2659"/>
                  <a:ext cx="500" cy="460"/>
                </a:xfrm>
                <a:prstGeom prst="ellipse">
                  <a:avLst/>
                </a:prstGeom>
                <a:solidFill>
                  <a:schemeClr val="accent3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>
                  <a:scene3d>
                    <a:camera prst="orthographicFront"/>
                    <a:lightRig rig="threePt" dir="t"/>
                  </a:scene3d>
                  <a:sp3d z="31750"/>
                </a:bodyPr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185" name="流程图: 可选过程 184"/>
                <p:cNvSpPr/>
                <p:nvPr/>
              </p:nvSpPr>
              <p:spPr>
                <a:xfrm rot="900000">
                  <a:off x="7864" y="2901"/>
                  <a:ext cx="358" cy="151"/>
                </a:xfrm>
                <a:prstGeom prst="flowChartAlternateProcess">
                  <a:avLst/>
                </a:prstGeom>
                <a:solidFill>
                  <a:schemeClr val="accent4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186" name="流程图: 可选过程 185"/>
                <p:cNvSpPr/>
                <p:nvPr/>
              </p:nvSpPr>
              <p:spPr>
                <a:xfrm rot="17820000">
                  <a:off x="7681" y="2534"/>
                  <a:ext cx="310" cy="151"/>
                </a:xfrm>
                <a:prstGeom prst="flowChartAlternateProcess">
                  <a:avLst/>
                </a:prstGeom>
                <a:solidFill>
                  <a:schemeClr val="tx2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187" name="流程图: 可选过程 186"/>
                <p:cNvSpPr/>
                <p:nvPr/>
              </p:nvSpPr>
              <p:spPr>
                <a:xfrm rot="3360000">
                  <a:off x="7633" y="2302"/>
                  <a:ext cx="358" cy="151"/>
                </a:xfrm>
                <a:prstGeom prst="flowChartAlternateProcess">
                  <a:avLst/>
                </a:prstGeom>
                <a:solidFill>
                  <a:schemeClr val="accent6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188" name="流程图: 可选过程 187"/>
                <p:cNvSpPr/>
                <p:nvPr/>
              </p:nvSpPr>
              <p:spPr>
                <a:xfrm>
                  <a:off x="7877" y="2437"/>
                  <a:ext cx="358" cy="151"/>
                </a:xfrm>
                <a:prstGeom prst="flowChartAlternateProcess">
                  <a:avLst/>
                </a:prstGeom>
                <a:solidFill>
                  <a:schemeClr val="accent1">
                    <a:lumMod val="75000"/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189" name="流程图: 可选过程 188"/>
                <p:cNvSpPr/>
                <p:nvPr/>
              </p:nvSpPr>
              <p:spPr>
                <a:xfrm rot="18120000">
                  <a:off x="8029" y="2327"/>
                  <a:ext cx="358" cy="151"/>
                </a:xfrm>
                <a:prstGeom prst="flowChartAlternateProcess">
                  <a:avLst/>
                </a:prstGeom>
                <a:solidFill>
                  <a:schemeClr val="accent1">
                    <a:lumMod val="75000"/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</p:grpSp>
          <p:sp>
            <p:nvSpPr>
              <p:cNvPr id="74" name="矩形: 圆角 547"/>
              <p:cNvSpPr/>
              <p:nvPr/>
            </p:nvSpPr>
            <p:spPr>
              <a:xfrm>
                <a:off x="8207" y="3575"/>
                <a:ext cx="1830" cy="2979"/>
              </a:xfrm>
              <a:prstGeom prst="roundRect">
                <a:avLst>
                  <a:gd name="adj" fmla="val 11311"/>
                </a:avLst>
              </a:prstGeom>
              <a:solidFill>
                <a:srgbClr val="E29046"/>
              </a:solidFill>
              <a:ln>
                <a:solidFill>
                  <a:srgbClr val="E29046"/>
                </a:solidFill>
              </a:ln>
              <a:effectLst>
                <a:reflection blurRad="177800" stA="52000" endA="300" endPos="20000" dir="5400000" sy="-100000" algn="bl" rotWithShape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latin typeface="Segoe UI Semibold" panose="020B0702040204020203" charset="0"/>
                  <a:cs typeface="Segoe UI Semibold" panose="020B0702040204020203" charset="0"/>
                </a:endParaRPr>
              </a:p>
            </p:txBody>
          </p:sp>
          <p:sp>
            <p:nvSpPr>
              <p:cNvPr id="75" name="矩形: 圆角 547"/>
              <p:cNvSpPr/>
              <p:nvPr/>
            </p:nvSpPr>
            <p:spPr>
              <a:xfrm>
                <a:off x="8209" y="3346"/>
                <a:ext cx="1826" cy="3142"/>
              </a:xfrm>
              <a:prstGeom prst="roundRect">
                <a:avLst>
                  <a:gd name="adj" fmla="val 7185"/>
                </a:avLst>
              </a:prstGeom>
              <a:solidFill>
                <a:srgbClr val="EAB171"/>
              </a:solidFill>
              <a:ln>
                <a:solidFill>
                  <a:srgbClr val="E290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latin typeface="Segoe UI Semibold" panose="020B0702040204020203" charset="0"/>
                  <a:cs typeface="Segoe UI Semibold" panose="020B0702040204020203" charset="0"/>
                </a:endParaRPr>
              </a:p>
            </p:txBody>
          </p:sp>
          <p:sp>
            <p:nvSpPr>
              <p:cNvPr id="76" name="矩形: 圆角 547"/>
              <p:cNvSpPr/>
              <p:nvPr/>
            </p:nvSpPr>
            <p:spPr>
              <a:xfrm>
                <a:off x="8235" y="3410"/>
                <a:ext cx="1774" cy="3005"/>
              </a:xfrm>
              <a:prstGeom prst="roundRect">
                <a:avLst>
                  <a:gd name="adj" fmla="val 6318"/>
                </a:avLst>
              </a:prstGeom>
              <a:gradFill>
                <a:gsLst>
                  <a:gs pos="0">
                    <a:srgbClr val="F8D6B1"/>
                  </a:gs>
                  <a:gs pos="64000">
                    <a:srgbClr val="F2C89A"/>
                  </a:gs>
                  <a:gs pos="85000">
                    <a:srgbClr val="EEBE8B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>
                  <a:latin typeface="Segoe UI Semibold" panose="020B0702040204020203" charset="0"/>
                  <a:cs typeface="Segoe UI Semibold" panose="020B0702040204020203" charset="0"/>
                </a:endParaRPr>
              </a:p>
            </p:txBody>
          </p:sp>
          <p:sp>
            <p:nvSpPr>
              <p:cNvPr id="761" name="文本框 760"/>
              <p:cNvSpPr txBox="1"/>
              <p:nvPr/>
            </p:nvSpPr>
            <p:spPr>
              <a:xfrm>
                <a:off x="8224" y="3552"/>
                <a:ext cx="1797" cy="58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ctr"/>
                <a:r>
                  <a:rPr lang="en-US" altLang="zh-CN" sz="900" b="1"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rPr>
                  <a:t>Motif-level Message Passing</a:t>
                </a:r>
                <a:endParaRPr lang="en-US" altLang="zh-CN" sz="900" b="1"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</a:endParaRPr>
              </a:p>
            </p:txBody>
          </p:sp>
          <p:grpSp>
            <p:nvGrpSpPr>
              <p:cNvPr id="469" name="组合 468"/>
              <p:cNvGrpSpPr/>
              <p:nvPr/>
            </p:nvGrpSpPr>
            <p:grpSpPr>
              <a:xfrm rot="5400000">
                <a:off x="8721" y="4043"/>
                <a:ext cx="802" cy="913"/>
                <a:chOff x="6717" y="6159"/>
                <a:chExt cx="1166" cy="1326"/>
              </a:xfrm>
            </p:grpSpPr>
            <p:sp>
              <p:nvSpPr>
                <p:cNvPr id="381" name="矩形 380"/>
                <p:cNvSpPr/>
                <p:nvPr/>
              </p:nvSpPr>
              <p:spPr>
                <a:xfrm>
                  <a:off x="6717" y="6159"/>
                  <a:ext cx="1166" cy="1327"/>
                </a:xfrm>
                <a:prstGeom prst="rect">
                  <a:avLst/>
                </a:prstGeom>
                <a:solidFill>
                  <a:schemeClr val="bg1">
                    <a:alpha val="40000"/>
                  </a:schemeClr>
                </a:solidFill>
                <a:ln w="12700" cmpd="sng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grpSp>
              <p:nvGrpSpPr>
                <p:cNvPr id="382" name="组合 381"/>
                <p:cNvGrpSpPr/>
                <p:nvPr/>
              </p:nvGrpSpPr>
              <p:grpSpPr>
                <a:xfrm>
                  <a:off x="6919" y="6359"/>
                  <a:ext cx="939" cy="981"/>
                  <a:chOff x="1179" y="3195"/>
                  <a:chExt cx="951" cy="981"/>
                </a:xfrm>
              </p:grpSpPr>
              <p:sp>
                <p:nvSpPr>
                  <p:cNvPr id="383" name="椭圆 382"/>
                  <p:cNvSpPr>
                    <a:spLocks noChangeAspect="1"/>
                  </p:cNvSpPr>
                  <p:nvPr/>
                </p:nvSpPr>
                <p:spPr>
                  <a:xfrm>
                    <a:off x="1179" y="4078"/>
                    <a:ext cx="104" cy="99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latin typeface="Segoe UI Semibold" panose="020B0702040204020203" charset="0"/>
                      <a:cs typeface="Segoe UI Semibold" panose="020B0702040204020203" charset="0"/>
                    </a:endParaRPr>
                  </a:p>
                </p:txBody>
              </p:sp>
              <p:sp>
                <p:nvSpPr>
                  <p:cNvPr id="384" name="椭圆 383"/>
                  <p:cNvSpPr/>
                  <p:nvPr/>
                </p:nvSpPr>
                <p:spPr>
                  <a:xfrm>
                    <a:off x="1357" y="3852"/>
                    <a:ext cx="104" cy="99"/>
                  </a:xfrm>
                  <a:prstGeom prst="ellipse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latin typeface="Segoe UI Semibold" panose="020B0702040204020203" charset="0"/>
                      <a:cs typeface="Segoe UI Semibold" panose="020B0702040204020203" charset="0"/>
                    </a:endParaRPr>
                  </a:p>
                </p:txBody>
              </p:sp>
              <p:sp>
                <p:nvSpPr>
                  <p:cNvPr id="385" name="椭圆 384"/>
                  <p:cNvSpPr/>
                  <p:nvPr/>
                </p:nvSpPr>
                <p:spPr>
                  <a:xfrm>
                    <a:off x="1592" y="3937"/>
                    <a:ext cx="104" cy="99"/>
                  </a:xfrm>
                  <a:prstGeom prst="ellipse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latin typeface="Segoe UI Semibold" panose="020B0702040204020203" charset="0"/>
                      <a:cs typeface="Segoe UI Semibold" panose="020B0702040204020203" charset="0"/>
                    </a:endParaRPr>
                  </a:p>
                </p:txBody>
              </p:sp>
              <p:sp>
                <p:nvSpPr>
                  <p:cNvPr id="386" name="椭圆 385"/>
                  <p:cNvSpPr>
                    <a:spLocks noChangeAspect="1"/>
                  </p:cNvSpPr>
                  <p:nvPr/>
                </p:nvSpPr>
                <p:spPr>
                  <a:xfrm>
                    <a:off x="1460" y="3617"/>
                    <a:ext cx="104" cy="99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latin typeface="Segoe UI Semibold" panose="020B0702040204020203" charset="0"/>
                      <a:cs typeface="Segoe UI Semibold" panose="020B0702040204020203" charset="0"/>
                    </a:endParaRPr>
                  </a:p>
                </p:txBody>
              </p:sp>
              <p:sp>
                <p:nvSpPr>
                  <p:cNvPr id="387" name="椭圆 386"/>
                  <p:cNvSpPr>
                    <a:spLocks noChangeAspect="1"/>
                  </p:cNvSpPr>
                  <p:nvPr/>
                </p:nvSpPr>
                <p:spPr>
                  <a:xfrm>
                    <a:off x="1625" y="3395"/>
                    <a:ext cx="104" cy="99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latin typeface="Segoe UI Semibold" panose="020B0702040204020203" charset="0"/>
                      <a:cs typeface="Segoe UI Semibold" panose="020B0702040204020203" charset="0"/>
                    </a:endParaRPr>
                  </a:p>
                </p:txBody>
              </p:sp>
              <p:sp>
                <p:nvSpPr>
                  <p:cNvPr id="388" name="椭圆 387"/>
                  <p:cNvSpPr/>
                  <p:nvPr/>
                </p:nvSpPr>
                <p:spPr>
                  <a:xfrm>
                    <a:off x="1513" y="3199"/>
                    <a:ext cx="104" cy="99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latin typeface="Segoe UI Semibold" panose="020B0702040204020203" charset="0"/>
                      <a:cs typeface="Segoe UI Semibold" panose="020B0702040204020203" charset="0"/>
                    </a:endParaRPr>
                  </a:p>
                </p:txBody>
              </p:sp>
              <p:sp>
                <p:nvSpPr>
                  <p:cNvPr id="389" name="椭圆 388"/>
                  <p:cNvSpPr>
                    <a:spLocks noChangeAspect="1"/>
                  </p:cNvSpPr>
                  <p:nvPr/>
                </p:nvSpPr>
                <p:spPr>
                  <a:xfrm>
                    <a:off x="1873" y="3381"/>
                    <a:ext cx="104" cy="99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latin typeface="Segoe UI Semibold" panose="020B0702040204020203" charset="0"/>
                      <a:cs typeface="Segoe UI Semibold" panose="020B0702040204020203" charset="0"/>
                    </a:endParaRPr>
                  </a:p>
                </p:txBody>
              </p:sp>
              <p:sp>
                <p:nvSpPr>
                  <p:cNvPr id="390" name="椭圆 389"/>
                  <p:cNvSpPr>
                    <a:spLocks noChangeAspect="1"/>
                  </p:cNvSpPr>
                  <p:nvPr/>
                </p:nvSpPr>
                <p:spPr>
                  <a:xfrm>
                    <a:off x="2026" y="3195"/>
                    <a:ext cx="104" cy="99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000">
                      <a:latin typeface="Segoe UI Semibold" panose="020B0702040204020203" charset="0"/>
                      <a:cs typeface="Segoe UI Semibold" panose="020B0702040204020203" charset="0"/>
                    </a:endParaRPr>
                  </a:p>
                </p:txBody>
              </p:sp>
              <p:cxnSp>
                <p:nvCxnSpPr>
                  <p:cNvPr id="391" name="直接连接符 390"/>
                  <p:cNvCxnSpPr>
                    <a:stCxn id="383" idx="7"/>
                    <a:endCxn id="384" idx="3"/>
                  </p:cNvCxnSpPr>
                  <p:nvPr/>
                </p:nvCxnSpPr>
                <p:spPr>
                  <a:xfrm flipV="1">
                    <a:off x="1268" y="3937"/>
                    <a:ext cx="104" cy="15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2" name="直接连接符 391"/>
                  <p:cNvCxnSpPr/>
                  <p:nvPr/>
                </p:nvCxnSpPr>
                <p:spPr>
                  <a:xfrm>
                    <a:off x="1456" y="3923"/>
                    <a:ext cx="146" cy="3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直接连接符 392"/>
                  <p:cNvCxnSpPr/>
                  <p:nvPr/>
                </p:nvCxnSpPr>
                <p:spPr>
                  <a:xfrm flipV="1">
                    <a:off x="1434" y="3708"/>
                    <a:ext cx="60" cy="15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直接连接符 393"/>
                  <p:cNvCxnSpPr>
                    <a:stCxn id="386" idx="7"/>
                    <a:endCxn id="387" idx="3"/>
                  </p:cNvCxnSpPr>
                  <p:nvPr/>
                </p:nvCxnSpPr>
                <p:spPr>
                  <a:xfrm flipV="1">
                    <a:off x="1549" y="3480"/>
                    <a:ext cx="91" cy="15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5" name="直接连接符 394"/>
                  <p:cNvCxnSpPr>
                    <a:endCxn id="387" idx="1"/>
                  </p:cNvCxnSpPr>
                  <p:nvPr/>
                </p:nvCxnSpPr>
                <p:spPr>
                  <a:xfrm>
                    <a:off x="1590" y="3294"/>
                    <a:ext cx="50" cy="11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直接连接符 395"/>
                  <p:cNvCxnSpPr>
                    <a:stCxn id="387" idx="6"/>
                    <a:endCxn id="389" idx="2"/>
                  </p:cNvCxnSpPr>
                  <p:nvPr/>
                </p:nvCxnSpPr>
                <p:spPr>
                  <a:xfrm flipV="1">
                    <a:off x="1729" y="3431"/>
                    <a:ext cx="144" cy="1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直接连接符 396"/>
                  <p:cNvCxnSpPr>
                    <a:stCxn id="389" idx="7"/>
                    <a:endCxn id="390" idx="3"/>
                  </p:cNvCxnSpPr>
                  <p:nvPr/>
                </p:nvCxnSpPr>
                <p:spPr>
                  <a:xfrm flipV="1">
                    <a:off x="1962" y="3280"/>
                    <a:ext cx="79" cy="115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98" name="椭圆 397"/>
                <p:cNvSpPr>
                  <a:spLocks noChangeAspect="1"/>
                </p:cNvSpPr>
                <p:nvPr/>
              </p:nvSpPr>
              <p:spPr>
                <a:xfrm>
                  <a:off x="6953" y="6537"/>
                  <a:ext cx="583" cy="585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  <a:prstDash val="sys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  <p:sp>
              <p:nvSpPr>
                <p:cNvPr id="399" name="椭圆 398"/>
                <p:cNvSpPr>
                  <a:spLocks noChangeAspect="1"/>
                </p:cNvSpPr>
                <p:nvPr/>
              </p:nvSpPr>
              <p:spPr>
                <a:xfrm>
                  <a:off x="6736" y="6339"/>
                  <a:ext cx="1065" cy="1064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  <a:prstDash val="sys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>
                    <a:latin typeface="Segoe UI Semibold" panose="020B0702040204020203" charset="0"/>
                    <a:cs typeface="Segoe UI Semibold" panose="020B0702040204020203" charset="0"/>
                  </a:endParaRPr>
                </a:p>
              </p:txBody>
            </p:sp>
          </p:grpSp>
          <p:sp>
            <p:nvSpPr>
              <p:cNvPr id="670" name="文本框 669"/>
              <p:cNvSpPr txBox="1"/>
              <p:nvPr/>
            </p:nvSpPr>
            <p:spPr>
              <a:xfrm>
                <a:off x="8314" y="5791"/>
                <a:ext cx="1617" cy="580"/>
              </a:xfrm>
              <a:prstGeom prst="rect">
                <a:avLst/>
              </a:prstGeom>
            </p:spPr>
            <p:txBody>
              <a:bodyPr wrap="square" rtlCol="0" anchor="t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900" b="1"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  <a:sym typeface="+mn-ea"/>
                  </a:rPr>
                  <a:t>Drug Dose Dictionary</a:t>
                </a:r>
                <a:endParaRPr lang="en-US" altLang="zh-CN" sz="900" b="1"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  <a:sym typeface="+mn-ea"/>
                </a:endParaRPr>
              </a:p>
            </p:txBody>
          </p:sp>
          <p:grpSp>
            <p:nvGrpSpPr>
              <p:cNvPr id="84" name="组合 83"/>
              <p:cNvGrpSpPr/>
              <p:nvPr/>
            </p:nvGrpSpPr>
            <p:grpSpPr>
              <a:xfrm rot="0">
                <a:off x="8499" y="5123"/>
                <a:ext cx="1246" cy="742"/>
                <a:chOff x="8433" y="5123"/>
                <a:chExt cx="1246" cy="742"/>
              </a:xfrm>
            </p:grpSpPr>
            <p:pic>
              <p:nvPicPr>
                <p:cNvPr id="673" name="图片 672" descr="人"/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33" y="5123"/>
                  <a:ext cx="742" cy="742"/>
                </a:xfrm>
                <a:prstGeom prst="rect">
                  <a:avLst/>
                </a:prstGeom>
              </p:spPr>
            </p:pic>
            <p:pic>
              <p:nvPicPr>
                <p:cNvPr id="669" name="图片 668" descr="字典"/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09" y="5261"/>
                  <a:ext cx="470" cy="502"/>
                </a:xfrm>
                <a:prstGeom prst="rect">
                  <a:avLst/>
                </a:prstGeom>
              </p:spPr>
            </p:pic>
            <p:pic>
              <p:nvPicPr>
                <p:cNvPr id="79" name="图片 78"/>
                <p:cNvPicPr>
                  <a:picLocks noChangeAspect="1"/>
                </p:cNvPicPr>
                <p:nvPr/>
              </p:nvPicPr>
              <p:blipFill>
                <a:blip r:embed="rId21"/>
                <a:srcRect l="15083" t="3071" b="1246"/>
                <a:stretch>
                  <a:fillRect/>
                </a:stretch>
              </p:blipFill>
              <p:spPr>
                <a:xfrm rot="8520000">
                  <a:off x="8748" y="5446"/>
                  <a:ext cx="150" cy="339"/>
                </a:xfrm>
                <a:prstGeom prst="roundRect">
                  <a:avLst>
                    <a:gd name="adj" fmla="val 50000"/>
                  </a:avLst>
                </a:prstGeom>
              </p:spPr>
            </p:pic>
          </p:grpSp>
          <p:cxnSp>
            <p:nvCxnSpPr>
              <p:cNvPr id="85" name="直接箭头连接符 84"/>
              <p:cNvCxnSpPr/>
              <p:nvPr/>
            </p:nvCxnSpPr>
            <p:spPr>
              <a:xfrm flipV="1">
                <a:off x="8850" y="4940"/>
                <a:ext cx="0" cy="232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 w="med" len="sm"/>
              </a:ln>
              <a:effectLst>
                <a:outerShdw blurRad="101600" dist="50800" dir="5400000" algn="ctr" rotWithShape="0">
                  <a:schemeClr val="bg1">
                    <a:alpha val="60000"/>
                  </a:scheme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箭头连接符 85"/>
              <p:cNvCxnSpPr/>
              <p:nvPr/>
            </p:nvCxnSpPr>
            <p:spPr>
              <a:xfrm flipV="1">
                <a:off x="9024" y="4940"/>
                <a:ext cx="0" cy="232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 w="med" len="sm"/>
              </a:ln>
              <a:effectLst>
                <a:outerShdw blurRad="101600" dist="50800" dir="5400000" algn="ctr" rotWithShape="0">
                  <a:schemeClr val="bg1">
                    <a:alpha val="60000"/>
                  </a:scheme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箭头连接符 86"/>
              <p:cNvCxnSpPr/>
              <p:nvPr/>
            </p:nvCxnSpPr>
            <p:spPr>
              <a:xfrm flipV="1">
                <a:off x="9198" y="4940"/>
                <a:ext cx="0" cy="232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 w="med" len="sm"/>
              </a:ln>
              <a:effectLst>
                <a:outerShdw blurRad="101600" dist="50800" dir="5400000" algn="ctr" rotWithShape="0">
                  <a:schemeClr val="bg1">
                    <a:alpha val="60000"/>
                  </a:scheme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箭头连接符 87"/>
              <p:cNvCxnSpPr/>
              <p:nvPr/>
            </p:nvCxnSpPr>
            <p:spPr>
              <a:xfrm flipV="1">
                <a:off x="9372" y="4940"/>
                <a:ext cx="0" cy="232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 w="med" len="sm"/>
              </a:ln>
              <a:effectLst>
                <a:outerShdw blurRad="101600" dist="50800" dir="5400000" algn="ctr" rotWithShape="0">
                  <a:schemeClr val="bg1">
                    <a:alpha val="60000"/>
                  </a:scheme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右箭头 89"/>
              <p:cNvSpPr/>
              <p:nvPr/>
            </p:nvSpPr>
            <p:spPr>
              <a:xfrm>
                <a:off x="7475" y="4488"/>
                <a:ext cx="382" cy="280"/>
              </a:xfrm>
              <a:prstGeom prst="rightArrow">
                <a:avLst/>
              </a:prstGeom>
              <a:gradFill>
                <a:gsLst>
                  <a:gs pos="0">
                    <a:srgbClr val="F5D3AD"/>
                  </a:gs>
                  <a:gs pos="24000">
                    <a:srgbClr val="F8D6B1"/>
                  </a:gs>
                  <a:gs pos="85000">
                    <a:srgbClr val="E29046"/>
                  </a:gs>
                </a:gsLst>
                <a:lin ang="0" scaled="0"/>
              </a:gradFill>
              <a:ln>
                <a:solidFill>
                  <a:srgbClr val="E290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2000">
                  <a:latin typeface="Segoe UI Semibold" panose="020B0702040204020203" charset="0"/>
                  <a:cs typeface="Segoe UI Semibold" panose="020B0702040204020203" charset="0"/>
                  <a:sym typeface="+mn-ea"/>
                </a:endParaRPr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>
                <a:off x="6181" y="5899"/>
                <a:ext cx="997" cy="317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algn="ctr"/>
                <a:r>
                  <a:rPr lang="en-US" altLang="zh-CN" sz="1200" b="1"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rPr>
                  <a:t>PPB%</a:t>
                </a:r>
                <a:endParaRPr lang="en-US" altLang="zh-CN" sz="1200" b="1"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</a:endParaRP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6191" y="5467"/>
                <a:ext cx="977" cy="396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lstStyle/>
              <a:p>
                <a:pPr algn="ctr"/>
                <a:r>
                  <a:rPr lang="en-US" altLang="zh-CN" sz="1200" b="1"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rPr>
                  <a:t>C</a:t>
                </a:r>
                <a:r>
                  <a:rPr lang="en-US" altLang="zh-CN" sz="1200" b="1" baseline="-25000"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rPr>
                  <a:t>max</a:t>
                </a:r>
                <a:endParaRPr lang="en-US" altLang="zh-CN" sz="1200" b="1" baseline="-25000"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</a:endParaRPr>
              </a:p>
            </p:txBody>
          </p:sp>
          <p:sp>
            <p:nvSpPr>
              <p:cNvPr id="107" name="右箭头 106"/>
              <p:cNvSpPr/>
              <p:nvPr/>
            </p:nvSpPr>
            <p:spPr>
              <a:xfrm rot="10800000">
                <a:off x="7445" y="5728"/>
                <a:ext cx="382" cy="280"/>
              </a:xfrm>
              <a:prstGeom prst="rightArrow">
                <a:avLst/>
              </a:prstGeom>
              <a:gradFill>
                <a:gsLst>
                  <a:gs pos="0">
                    <a:srgbClr val="F5D3AD"/>
                  </a:gs>
                  <a:gs pos="24000">
                    <a:srgbClr val="F8D6B1"/>
                  </a:gs>
                  <a:gs pos="85000">
                    <a:srgbClr val="E29046"/>
                  </a:gs>
                </a:gsLst>
                <a:lin ang="0" scaled="0"/>
              </a:gradFill>
              <a:ln>
                <a:solidFill>
                  <a:srgbClr val="E290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2000">
                  <a:latin typeface="Segoe UI Semibold" panose="020B0702040204020203" charset="0"/>
                  <a:cs typeface="Segoe UI Semibold" panose="020B0702040204020203" charset="0"/>
                  <a:sym typeface="+mn-ea"/>
                </a:endParaRPr>
              </a:p>
            </p:txBody>
          </p:sp>
          <p:sp>
            <p:nvSpPr>
              <p:cNvPr id="109" name="文本框 26"/>
              <p:cNvSpPr txBox="1"/>
              <p:nvPr/>
            </p:nvSpPr>
            <p:spPr>
              <a:xfrm>
                <a:off x="5736" y="3525"/>
                <a:ext cx="2094" cy="434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200" b="1" dirty="0">
                    <a:solidFill>
                      <a:schemeClr val="tx1"/>
                    </a:solidFill>
                    <a:latin typeface="Segoe UI Semibold" panose="020B0702040204020203" charset="0"/>
                    <a:ea typeface="微软雅黑" panose="020B0503020204020204" charset="-122"/>
                    <a:cs typeface="Segoe UI Semibold" panose="020B0702040204020203" charset="0"/>
                  </a:rPr>
                  <a:t>Compounds</a:t>
                </a:r>
                <a:endParaRPr lang="en-US" altLang="zh-CN" sz="1200" b="1" dirty="0">
                  <a:solidFill>
                    <a:schemeClr val="tx1"/>
                  </a:solidFill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</a:endParaRPr>
              </a:p>
            </p:txBody>
          </p:sp>
        </p:grpSp>
      </p:grpSp>
      <p:grpSp>
        <p:nvGrpSpPr>
          <p:cNvPr id="201" name="组合 200"/>
          <p:cNvGrpSpPr/>
          <p:nvPr/>
        </p:nvGrpSpPr>
        <p:grpSpPr>
          <a:xfrm rot="0">
            <a:off x="412115" y="5513070"/>
            <a:ext cx="5975985" cy="2880360"/>
            <a:chOff x="629" y="8618"/>
            <a:chExt cx="4498" cy="4669"/>
          </a:xfrm>
        </p:grpSpPr>
        <p:sp>
          <p:nvSpPr>
            <p:cNvPr id="198" name="文本框 197"/>
            <p:cNvSpPr txBox="1"/>
            <p:nvPr/>
          </p:nvSpPr>
          <p:spPr>
            <a:xfrm>
              <a:off x="629" y="8618"/>
              <a:ext cx="4498" cy="4669"/>
            </a:xfrm>
            <a:prstGeom prst="roundRect">
              <a:avLst>
                <a:gd name="adj" fmla="val 3732"/>
              </a:avLst>
            </a:prstGeom>
            <a:solidFill>
              <a:srgbClr val="FDDFDA"/>
            </a:solidFill>
          </p:spPr>
          <p:txBody>
            <a:bodyPr wrap="square" anchor="b" anchorCtr="0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ctr"/>
              <a:r>
                <a:rPr lang="en-US" altLang="zh-CN" sz="1600" b="1">
                  <a:solidFill>
                    <a:schemeClr val="tx1"/>
                  </a:solidFill>
                  <a:latin typeface="Segoe UI Semibold" panose="020B0702040204020203" charset="0"/>
                  <a:ea typeface="微软雅黑" panose="020B0503020204020204" charset="-122"/>
                  <a:cs typeface="Segoe UI Semibold" panose="020B0702040204020203" charset="0"/>
                </a:rPr>
                <a:t>Exposure-aware framework for ADR risk assessment</a:t>
              </a:r>
              <a:endParaRPr lang="en-US" altLang="zh-CN" sz="1600" b="1">
                <a:solidFill>
                  <a:schemeClr val="tx1"/>
                </a:solidFill>
                <a:latin typeface="Segoe UI Semibold" panose="020B0702040204020203" charset="0"/>
                <a:ea typeface="微软雅黑" panose="020B0503020204020204" charset="-122"/>
                <a:cs typeface="Segoe UI Semibold" panose="020B0702040204020203" charset="0"/>
              </a:endParaRPr>
            </a:p>
          </p:txBody>
        </p:sp>
        <p:sp>
          <p:nvSpPr>
            <p:cNvPr id="199" name="圆角矩形 198"/>
            <p:cNvSpPr/>
            <p:nvPr/>
          </p:nvSpPr>
          <p:spPr>
            <a:xfrm>
              <a:off x="717" y="8828"/>
              <a:ext cx="4316" cy="3837"/>
            </a:xfrm>
            <a:prstGeom prst="roundRect">
              <a:avLst>
                <a:gd name="adj" fmla="val 3694"/>
              </a:avLst>
            </a:prstGeom>
            <a:solidFill>
              <a:srgbClr val="FEEFEC"/>
            </a:solidFill>
            <a:ln w="12700">
              <a:solidFill>
                <a:srgbClr val="DA776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Segoe UI Semibold" panose="020B0702040204020203" charset="0"/>
                <a:cs typeface="Segoe UI Semibold" panose="020B0702040204020203" charset="0"/>
              </a:endParaRPr>
            </a:p>
          </p:txBody>
        </p:sp>
      </p:grpSp>
      <p:pic>
        <p:nvPicPr>
          <p:cNvPr id="117" name="图片 116" descr="7b0a202020202266696c746572223a202230220a7d0a"/>
          <p:cNvPicPr>
            <a:picLocks noChangeAspect="1"/>
          </p:cNvPicPr>
          <p:nvPr/>
        </p:nvPicPr>
        <p:blipFill>
          <a:blip r:embed="rId22">
            <a:extLst>
              <a:ext uri="{CDFE0825-6DEF-4EF5-8246-60DE8C826C90}">
                <a14:imgProps xmlns:a14="http://schemas.microsoft.com/office/drawing/2010/main">
                  <a14:imgLayer r:embed="rId23">
                    <a14:imgEffect name="6"/>
                  </a14:imgLayer>
                </a14:imgProps>
              </a:ext>
            </a:extLst>
          </a:blip>
          <a:srcRect l="-3533" t="797" r="3533" b="-797"/>
          <a:stretch>
            <a:fillRect/>
          </a:stretch>
        </p:blipFill>
        <p:spPr>
          <a:xfrm>
            <a:off x="4479290" y="5793105"/>
            <a:ext cx="1663700" cy="20675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00" h="3640">
                <a:moveTo>
                  <a:pt x="0" y="0"/>
                </a:moveTo>
                <a:lnTo>
                  <a:pt x="2237" y="0"/>
                </a:lnTo>
                <a:lnTo>
                  <a:pt x="2236" y="2"/>
                </a:lnTo>
                <a:cubicBezTo>
                  <a:pt x="2226" y="46"/>
                  <a:pt x="2221" y="112"/>
                  <a:pt x="2236" y="118"/>
                </a:cubicBezTo>
                <a:cubicBezTo>
                  <a:pt x="2251" y="124"/>
                  <a:pt x="2288" y="23"/>
                  <a:pt x="2313" y="31"/>
                </a:cubicBezTo>
                <a:cubicBezTo>
                  <a:pt x="2338" y="39"/>
                  <a:pt x="2346" y="110"/>
                  <a:pt x="2361" y="156"/>
                </a:cubicBezTo>
                <a:cubicBezTo>
                  <a:pt x="2376" y="202"/>
                  <a:pt x="2378" y="220"/>
                  <a:pt x="2390" y="262"/>
                </a:cubicBezTo>
                <a:cubicBezTo>
                  <a:pt x="2402" y="304"/>
                  <a:pt x="2409" y="321"/>
                  <a:pt x="2419" y="367"/>
                </a:cubicBezTo>
                <a:cubicBezTo>
                  <a:pt x="2429" y="413"/>
                  <a:pt x="2434" y="442"/>
                  <a:pt x="2438" y="492"/>
                </a:cubicBezTo>
                <a:cubicBezTo>
                  <a:pt x="2442" y="542"/>
                  <a:pt x="2438" y="571"/>
                  <a:pt x="2438" y="617"/>
                </a:cubicBezTo>
                <a:cubicBezTo>
                  <a:pt x="2438" y="663"/>
                  <a:pt x="2440" y="678"/>
                  <a:pt x="2438" y="722"/>
                </a:cubicBezTo>
                <a:cubicBezTo>
                  <a:pt x="2436" y="766"/>
                  <a:pt x="2430" y="790"/>
                  <a:pt x="2428" y="838"/>
                </a:cubicBezTo>
                <a:cubicBezTo>
                  <a:pt x="2426" y="886"/>
                  <a:pt x="2428" y="912"/>
                  <a:pt x="2428" y="962"/>
                </a:cubicBezTo>
                <a:cubicBezTo>
                  <a:pt x="2428" y="1012"/>
                  <a:pt x="2428" y="1039"/>
                  <a:pt x="2428" y="1087"/>
                </a:cubicBezTo>
                <a:cubicBezTo>
                  <a:pt x="2428" y="1135"/>
                  <a:pt x="2426" y="1158"/>
                  <a:pt x="2428" y="1202"/>
                </a:cubicBezTo>
                <a:cubicBezTo>
                  <a:pt x="2430" y="1246"/>
                  <a:pt x="2436" y="1266"/>
                  <a:pt x="2438" y="1308"/>
                </a:cubicBezTo>
                <a:cubicBezTo>
                  <a:pt x="2440" y="1350"/>
                  <a:pt x="2438" y="1370"/>
                  <a:pt x="2438" y="1414"/>
                </a:cubicBezTo>
                <a:cubicBezTo>
                  <a:pt x="2438" y="1458"/>
                  <a:pt x="2436" y="1485"/>
                  <a:pt x="2438" y="1529"/>
                </a:cubicBezTo>
                <a:cubicBezTo>
                  <a:pt x="2440" y="1573"/>
                  <a:pt x="2440" y="1590"/>
                  <a:pt x="2448" y="1634"/>
                </a:cubicBezTo>
                <a:cubicBezTo>
                  <a:pt x="2456" y="1678"/>
                  <a:pt x="2465" y="1706"/>
                  <a:pt x="2476" y="1750"/>
                </a:cubicBezTo>
                <a:cubicBezTo>
                  <a:pt x="2487" y="1794"/>
                  <a:pt x="2491" y="1813"/>
                  <a:pt x="2505" y="1855"/>
                </a:cubicBezTo>
                <a:cubicBezTo>
                  <a:pt x="2519" y="1897"/>
                  <a:pt x="2531" y="1917"/>
                  <a:pt x="2544" y="1961"/>
                </a:cubicBezTo>
                <a:cubicBezTo>
                  <a:pt x="2557" y="2005"/>
                  <a:pt x="2564" y="2032"/>
                  <a:pt x="2572" y="2076"/>
                </a:cubicBezTo>
                <a:cubicBezTo>
                  <a:pt x="2580" y="2120"/>
                  <a:pt x="2574" y="2140"/>
                  <a:pt x="2582" y="2182"/>
                </a:cubicBezTo>
                <a:cubicBezTo>
                  <a:pt x="2590" y="2224"/>
                  <a:pt x="2603" y="2243"/>
                  <a:pt x="2611" y="2287"/>
                </a:cubicBezTo>
                <a:cubicBezTo>
                  <a:pt x="2619" y="2331"/>
                  <a:pt x="2614" y="2358"/>
                  <a:pt x="2620" y="2402"/>
                </a:cubicBezTo>
                <a:cubicBezTo>
                  <a:pt x="2626" y="2446"/>
                  <a:pt x="2630" y="2464"/>
                  <a:pt x="2640" y="2508"/>
                </a:cubicBezTo>
                <a:cubicBezTo>
                  <a:pt x="2650" y="2552"/>
                  <a:pt x="2649" y="2579"/>
                  <a:pt x="2668" y="2623"/>
                </a:cubicBezTo>
                <a:cubicBezTo>
                  <a:pt x="2687" y="2667"/>
                  <a:pt x="2701" y="2692"/>
                  <a:pt x="2736" y="2729"/>
                </a:cubicBezTo>
                <a:cubicBezTo>
                  <a:pt x="2771" y="2766"/>
                  <a:pt x="2797" y="2781"/>
                  <a:pt x="2841" y="2806"/>
                </a:cubicBezTo>
                <a:cubicBezTo>
                  <a:pt x="2885" y="2831"/>
                  <a:pt x="2912" y="2837"/>
                  <a:pt x="2956" y="2854"/>
                </a:cubicBezTo>
                <a:cubicBezTo>
                  <a:pt x="2973" y="2861"/>
                  <a:pt x="2985" y="2867"/>
                  <a:pt x="2997" y="2872"/>
                </a:cubicBezTo>
                <a:lnTo>
                  <a:pt x="3000" y="2873"/>
                </a:lnTo>
                <a:lnTo>
                  <a:pt x="3000" y="3640"/>
                </a:lnTo>
                <a:lnTo>
                  <a:pt x="0" y="3640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179" name="组合 178"/>
          <p:cNvGrpSpPr/>
          <p:nvPr/>
        </p:nvGrpSpPr>
        <p:grpSpPr>
          <a:xfrm rot="0">
            <a:off x="997585" y="5946775"/>
            <a:ext cx="1162050" cy="1718310"/>
            <a:chOff x="11077" y="6941"/>
            <a:chExt cx="3924" cy="1106"/>
          </a:xfrm>
        </p:grpSpPr>
        <p:sp>
          <p:nvSpPr>
            <p:cNvPr id="180" name="矩形: 圆角 547"/>
            <p:cNvSpPr/>
            <p:nvPr/>
          </p:nvSpPr>
          <p:spPr>
            <a:xfrm>
              <a:off x="11077" y="7020"/>
              <a:ext cx="3924" cy="1027"/>
            </a:xfrm>
            <a:prstGeom prst="roundRect">
              <a:avLst>
                <a:gd name="adj" fmla="val 11311"/>
              </a:avLst>
            </a:prstGeom>
            <a:solidFill>
              <a:srgbClr val="DA776D"/>
            </a:solidFill>
            <a:ln>
              <a:solidFill>
                <a:srgbClr val="DA776D"/>
              </a:solidFill>
            </a:ln>
            <a:effectLst>
              <a:reflection blurRad="177800" stA="52000" endA="300" endPos="2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Segoe UI Semibold" panose="020B0702040204020203" charset="0"/>
                <a:cs typeface="Segoe UI Semibold" panose="020B0702040204020203" charset="0"/>
              </a:endParaRPr>
            </a:p>
          </p:txBody>
        </p:sp>
        <p:sp>
          <p:nvSpPr>
            <p:cNvPr id="181" name="矩形: 圆角 547"/>
            <p:cNvSpPr/>
            <p:nvPr/>
          </p:nvSpPr>
          <p:spPr>
            <a:xfrm>
              <a:off x="11083" y="6941"/>
              <a:ext cx="3915" cy="1083"/>
            </a:xfrm>
            <a:prstGeom prst="roundRect">
              <a:avLst>
                <a:gd name="adj" fmla="val 7185"/>
              </a:avLst>
            </a:prstGeom>
            <a:solidFill>
              <a:srgbClr val="FA7D68"/>
            </a:solidFill>
            <a:ln>
              <a:solidFill>
                <a:srgbClr val="DA77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Segoe UI Semibold" panose="020B0702040204020203" charset="0"/>
                <a:cs typeface="Segoe UI Semibold" panose="020B0702040204020203" charset="0"/>
              </a:endParaRPr>
            </a:p>
          </p:txBody>
        </p:sp>
        <p:sp>
          <p:nvSpPr>
            <p:cNvPr id="192" name="矩形: 圆角 547"/>
            <p:cNvSpPr/>
            <p:nvPr/>
          </p:nvSpPr>
          <p:spPr>
            <a:xfrm>
              <a:off x="11139" y="6963"/>
              <a:ext cx="3804" cy="1036"/>
            </a:xfrm>
            <a:prstGeom prst="roundRect">
              <a:avLst>
                <a:gd name="adj" fmla="val 6318"/>
              </a:avLst>
            </a:prstGeom>
            <a:gradFill>
              <a:gsLst>
                <a:gs pos="0">
                  <a:srgbClr val="FDDFDA"/>
                </a:gs>
                <a:gs pos="100000">
                  <a:srgbClr val="FAA499"/>
                </a:gs>
                <a:gs pos="66000">
                  <a:srgbClr val="FBBEB5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Segoe UI Semibold" panose="020B0702040204020203" charset="0"/>
                <a:cs typeface="Segoe UI Semibold" panose="020B0702040204020203" charset="0"/>
              </a:endParaRPr>
            </a:p>
          </p:txBody>
        </p:sp>
      </p:grpSp>
      <p:grpSp>
        <p:nvGrpSpPr>
          <p:cNvPr id="155" name="组合 154"/>
          <p:cNvGrpSpPr/>
          <p:nvPr/>
        </p:nvGrpSpPr>
        <p:grpSpPr>
          <a:xfrm rot="5400000">
            <a:off x="1492885" y="6064250"/>
            <a:ext cx="171450" cy="819150"/>
            <a:chOff x="6329" y="10876"/>
            <a:chExt cx="270" cy="1290"/>
          </a:xfrm>
        </p:grpSpPr>
        <p:sp>
          <p:nvSpPr>
            <p:cNvPr id="136" name="Google Shape;214;p21"/>
            <p:cNvSpPr/>
            <p:nvPr/>
          </p:nvSpPr>
          <p:spPr>
            <a:xfrm flipH="1">
              <a:off x="6329" y="10876"/>
              <a:ext cx="270" cy="259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Segoe UI Semibold" panose="020B0702040204020203" charset="0"/>
                <a:cs typeface="Segoe UI Semibold" panose="020B0702040204020203" charset="0"/>
              </a:endParaRPr>
            </a:p>
          </p:txBody>
        </p:sp>
        <p:sp>
          <p:nvSpPr>
            <p:cNvPr id="137" name="Google Shape;219;p21"/>
            <p:cNvSpPr/>
            <p:nvPr/>
          </p:nvSpPr>
          <p:spPr>
            <a:xfrm flipH="1">
              <a:off x="6329" y="11136"/>
              <a:ext cx="270" cy="259"/>
            </a:xfrm>
            <a:prstGeom prst="rect">
              <a:avLst/>
            </a:prstGeom>
            <a:solidFill>
              <a:srgbClr val="CECEE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Segoe UI Semibold" panose="020B0702040204020203" charset="0"/>
                <a:cs typeface="Segoe UI Semibold" panose="020B0702040204020203" charset="0"/>
              </a:endParaRPr>
            </a:p>
          </p:txBody>
        </p:sp>
        <p:sp>
          <p:nvSpPr>
            <p:cNvPr id="138" name="Google Shape;223;p21"/>
            <p:cNvSpPr/>
            <p:nvPr/>
          </p:nvSpPr>
          <p:spPr>
            <a:xfrm flipH="1">
              <a:off x="6329" y="11393"/>
              <a:ext cx="270" cy="259"/>
            </a:xfrm>
            <a:prstGeom prst="rect">
              <a:avLst/>
            </a:prstGeom>
            <a:solidFill>
              <a:srgbClr val="0070C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Segoe UI Semibold" panose="020B0702040204020203" charset="0"/>
                <a:cs typeface="Segoe UI Semibold" panose="020B0702040204020203" charset="0"/>
              </a:endParaRPr>
            </a:p>
          </p:txBody>
        </p:sp>
        <p:sp>
          <p:nvSpPr>
            <p:cNvPr id="139" name="Google Shape;229;p21"/>
            <p:cNvSpPr/>
            <p:nvPr/>
          </p:nvSpPr>
          <p:spPr>
            <a:xfrm flipH="1">
              <a:off x="6329" y="11645"/>
              <a:ext cx="270" cy="260"/>
            </a:xfrm>
            <a:prstGeom prst="rect">
              <a:avLst/>
            </a:prstGeom>
            <a:solidFill>
              <a:srgbClr val="D9EDEE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Segoe UI Semibold" panose="020B0702040204020203" charset="0"/>
                <a:cs typeface="Segoe UI Semibold" panose="020B0702040204020203" charset="0"/>
              </a:endParaRPr>
            </a:p>
          </p:txBody>
        </p:sp>
        <p:sp>
          <p:nvSpPr>
            <p:cNvPr id="140" name="Google Shape;234;p21"/>
            <p:cNvSpPr/>
            <p:nvPr/>
          </p:nvSpPr>
          <p:spPr>
            <a:xfrm flipH="1">
              <a:off x="6329" y="11906"/>
              <a:ext cx="270" cy="260"/>
            </a:xfrm>
            <a:prstGeom prst="rect">
              <a:avLst/>
            </a:prstGeom>
            <a:solidFill>
              <a:srgbClr val="D1D1F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latin typeface="Segoe UI Semibold" panose="020B0702040204020203" charset="0"/>
                <a:cs typeface="Segoe UI Semibold" panose="020B0702040204020203" charset="0"/>
              </a:endParaRPr>
            </a:p>
          </p:txBody>
        </p:sp>
      </p:grpSp>
      <p:sp>
        <p:nvSpPr>
          <p:cNvPr id="148" name="Google Shape;214;p21"/>
          <p:cNvSpPr/>
          <p:nvPr/>
        </p:nvSpPr>
        <p:spPr>
          <a:xfrm rot="5400000" flipH="1">
            <a:off x="1823085" y="7025640"/>
            <a:ext cx="172085" cy="165100"/>
          </a:xfrm>
          <a:prstGeom prst="rect">
            <a:avLst/>
          </a:prstGeom>
          <a:solidFill>
            <a:srgbClr val="FDE7E7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149" name="Google Shape;219;p21"/>
          <p:cNvSpPr/>
          <p:nvPr/>
        </p:nvSpPr>
        <p:spPr>
          <a:xfrm rot="5400000" flipH="1">
            <a:off x="1657350" y="7025640"/>
            <a:ext cx="172085" cy="165100"/>
          </a:xfrm>
          <a:prstGeom prst="rect">
            <a:avLst/>
          </a:prstGeom>
          <a:solidFill>
            <a:srgbClr val="FCC1D6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150" name="Google Shape;223;p21"/>
          <p:cNvSpPr/>
          <p:nvPr/>
        </p:nvSpPr>
        <p:spPr>
          <a:xfrm rot="5400000" flipH="1">
            <a:off x="1493520" y="7025640"/>
            <a:ext cx="172085" cy="165100"/>
          </a:xfrm>
          <a:prstGeom prst="rect">
            <a:avLst/>
          </a:prstGeom>
          <a:solidFill>
            <a:srgbClr val="BC0404">
              <a:alpha val="60000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151" name="Google Shape;229;p21"/>
          <p:cNvSpPr/>
          <p:nvPr/>
        </p:nvSpPr>
        <p:spPr>
          <a:xfrm rot="5400000" flipH="1">
            <a:off x="1327785" y="7025640"/>
            <a:ext cx="172085" cy="165100"/>
          </a:xfrm>
          <a:prstGeom prst="rect">
            <a:avLst/>
          </a:prstGeom>
          <a:solidFill>
            <a:srgbClr val="F4C8FE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152" name="Google Shape;234;p21"/>
          <p:cNvSpPr/>
          <p:nvPr/>
        </p:nvSpPr>
        <p:spPr>
          <a:xfrm rot="5400000" flipH="1">
            <a:off x="1162685" y="7025640"/>
            <a:ext cx="171450" cy="165100"/>
          </a:xfrm>
          <a:prstGeom prst="rect">
            <a:avLst/>
          </a:prstGeom>
          <a:solidFill>
            <a:srgbClr val="FBB4AE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977900" y="6081395"/>
            <a:ext cx="1202690" cy="27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</a:extLst>
        </p:spPr>
        <p:txBody>
          <a:bodyPr wrap="square" rtlCol="0" anchor="t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200" b="1" dirty="0">
                <a:latin typeface="Segoe UI Semibold" panose="020B0702040204020203" charset="0"/>
                <a:cs typeface="Segoe UI Semibold" panose="020B0702040204020203" charset="0"/>
                <a:sym typeface="+mn-ea"/>
              </a:rPr>
              <a:t>Drug fearture</a:t>
            </a:r>
            <a:endParaRPr lang="en-US" altLang="zh-CN" sz="1200" b="1" dirty="0">
              <a:latin typeface="Segoe UI Semibold" panose="020B0702040204020203" charset="0"/>
              <a:cs typeface="Segoe UI Semibold" panose="020B0702040204020203" charset="0"/>
              <a:sym typeface="+mn-ea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977900" y="7255510"/>
            <a:ext cx="1202690" cy="27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B9A99"/>
                </a:solidFill>
              </a14:hiddenFill>
            </a:ext>
          </a:extLst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 b="1" dirty="0">
                <a:latin typeface="Segoe UI Semibold" panose="020B0702040204020203" charset="0"/>
                <a:cs typeface="Segoe UI Semibold" panose="020B0702040204020203" charset="0"/>
                <a:sym typeface="+mn-ea"/>
              </a:rPr>
              <a:t>ADR type</a:t>
            </a:r>
            <a:r>
              <a:rPr lang="en-US" altLang="zh-CN" sz="1200" dirty="0">
                <a:latin typeface="Segoe UI Semibold" panose="020B0702040204020203" charset="0"/>
                <a:cs typeface="Segoe UI Semibold" panose="020B0702040204020203" charset="0"/>
                <a:sym typeface="+mn-ea"/>
              </a:rPr>
              <a:t> </a:t>
            </a:r>
            <a:endParaRPr lang="en-US" altLang="zh-CN" sz="1200" b="1" dirty="0">
              <a:latin typeface="Segoe UI Semibold" panose="020B0702040204020203" charset="0"/>
              <a:cs typeface="Segoe UI Semibold" panose="020B0702040204020203" charset="0"/>
              <a:sym typeface="+mn-ea"/>
            </a:endParaRPr>
          </a:p>
        </p:txBody>
      </p:sp>
      <p:sp>
        <p:nvSpPr>
          <p:cNvPr id="178" name="上下箭头 177"/>
          <p:cNvSpPr/>
          <p:nvPr/>
        </p:nvSpPr>
        <p:spPr>
          <a:xfrm>
            <a:off x="1514475" y="6645910"/>
            <a:ext cx="128905" cy="264160"/>
          </a:xfrm>
          <a:prstGeom prst="up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01600" dist="50800" dir="5400000" algn="ctr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2000">
              <a:latin typeface="Segoe UI Semibold" panose="020B0702040204020203" charset="0"/>
              <a:cs typeface="Segoe UI Semibold" panose="020B0702040204020203" charset="0"/>
              <a:sym typeface="+mn-ea"/>
            </a:endParaRPr>
          </a:p>
        </p:txBody>
      </p:sp>
      <p:sp>
        <p:nvSpPr>
          <p:cNvPr id="194" name="右箭头 193"/>
          <p:cNvSpPr/>
          <p:nvPr/>
        </p:nvSpPr>
        <p:spPr>
          <a:xfrm>
            <a:off x="2313305" y="6717030"/>
            <a:ext cx="242570" cy="177800"/>
          </a:xfrm>
          <a:prstGeom prst="rightArrow">
            <a:avLst/>
          </a:prstGeom>
          <a:gradFill>
            <a:gsLst>
              <a:gs pos="0">
                <a:srgbClr val="FDDFDA"/>
              </a:gs>
              <a:gs pos="24000">
                <a:srgbClr val="FAA499">
                  <a:alpha val="89000"/>
                </a:srgbClr>
              </a:gs>
              <a:gs pos="85000">
                <a:srgbClr val="FA7D68"/>
              </a:gs>
            </a:gsLst>
            <a:lin ang="0"/>
          </a:gradFill>
          <a:ln>
            <a:solidFill>
              <a:srgbClr val="DA77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000">
              <a:latin typeface="Segoe UI Semibold" panose="020B0702040204020203" charset="0"/>
              <a:cs typeface="Segoe UI Semibold" panose="020B0702040204020203" charset="0"/>
              <a:sym typeface="+mn-ea"/>
            </a:endParaRPr>
          </a:p>
        </p:txBody>
      </p:sp>
      <p:pic>
        <p:nvPicPr>
          <p:cNvPr id="4" name="图片 3" descr="figure1_adr_output_schematic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13025" y="5842635"/>
            <a:ext cx="2037715" cy="19265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 descr="figure_2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664210"/>
            <a:ext cx="2964815" cy="228917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-8255" y="60515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</a:rPr>
              <a:t>a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2786380" y="60515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</a:rPr>
              <a:t>b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-8255" y="296672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</a:rPr>
              <a:t>c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-8255" y="764667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</a:rPr>
              <a:t>e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641985" y="2973705"/>
            <a:ext cx="906780" cy="155575"/>
          </a:xfrm>
          <a:custGeom>
            <a:avLst/>
            <a:gdLst>
              <a:gd name="connisteX0" fmla="*/ 20955 w 906780"/>
              <a:gd name="connsiteY0" fmla="*/ 144780 h 144780"/>
              <a:gd name="connisteX1" fmla="*/ 91440 w 906780"/>
              <a:gd name="connsiteY1" fmla="*/ 140970 h 144780"/>
              <a:gd name="connisteX2" fmla="*/ 163830 w 906780"/>
              <a:gd name="connsiteY2" fmla="*/ 123825 h 144780"/>
              <a:gd name="connisteX3" fmla="*/ 228600 w 906780"/>
              <a:gd name="connsiteY3" fmla="*/ 118110 h 144780"/>
              <a:gd name="connisteX4" fmla="*/ 293370 w 906780"/>
              <a:gd name="connsiteY4" fmla="*/ 116205 h 144780"/>
              <a:gd name="connisteX5" fmla="*/ 360045 w 906780"/>
              <a:gd name="connsiteY5" fmla="*/ 116205 h 144780"/>
              <a:gd name="connisteX6" fmla="*/ 426720 w 906780"/>
              <a:gd name="connsiteY6" fmla="*/ 108585 h 144780"/>
              <a:gd name="connisteX7" fmla="*/ 491490 w 906780"/>
              <a:gd name="connsiteY7" fmla="*/ 112395 h 144780"/>
              <a:gd name="connisteX8" fmla="*/ 556260 w 906780"/>
              <a:gd name="connsiteY8" fmla="*/ 118110 h 144780"/>
              <a:gd name="connisteX9" fmla="*/ 621030 w 906780"/>
              <a:gd name="connsiteY9" fmla="*/ 133350 h 144780"/>
              <a:gd name="connisteX10" fmla="*/ 687705 w 906780"/>
              <a:gd name="connsiteY10" fmla="*/ 137160 h 144780"/>
              <a:gd name="connisteX11" fmla="*/ 762000 w 906780"/>
              <a:gd name="connsiteY11" fmla="*/ 137160 h 144780"/>
              <a:gd name="connisteX12" fmla="*/ 826770 w 906780"/>
              <a:gd name="connsiteY12" fmla="*/ 135255 h 144780"/>
              <a:gd name="connisteX13" fmla="*/ 891540 w 906780"/>
              <a:gd name="connsiteY13" fmla="*/ 118110 h 144780"/>
              <a:gd name="connisteX14" fmla="*/ 906780 w 906780"/>
              <a:gd name="connsiteY14" fmla="*/ 53340 h 144780"/>
              <a:gd name="connisteX15" fmla="*/ 842010 w 906780"/>
              <a:gd name="connsiteY15" fmla="*/ 11430 h 144780"/>
              <a:gd name="connisteX16" fmla="*/ 773430 w 906780"/>
              <a:gd name="connsiteY16" fmla="*/ 0 h 144780"/>
              <a:gd name="connisteX17" fmla="*/ 706755 w 906780"/>
              <a:gd name="connsiteY17" fmla="*/ 1905 h 144780"/>
              <a:gd name="connisteX18" fmla="*/ 630555 w 906780"/>
              <a:gd name="connsiteY18" fmla="*/ 5715 h 144780"/>
              <a:gd name="connisteX19" fmla="*/ 523875 w 906780"/>
              <a:gd name="connsiteY19" fmla="*/ 9525 h 144780"/>
              <a:gd name="connisteX20" fmla="*/ 455295 w 906780"/>
              <a:gd name="connsiteY20" fmla="*/ 9525 h 144780"/>
              <a:gd name="connisteX21" fmla="*/ 388620 w 906780"/>
              <a:gd name="connsiteY21" fmla="*/ 9525 h 144780"/>
              <a:gd name="connisteX22" fmla="*/ 302895 w 906780"/>
              <a:gd name="connsiteY22" fmla="*/ 13335 h 144780"/>
              <a:gd name="connisteX23" fmla="*/ 232410 w 906780"/>
              <a:gd name="connsiteY23" fmla="*/ 19050 h 144780"/>
              <a:gd name="connisteX24" fmla="*/ 165735 w 906780"/>
              <a:gd name="connsiteY24" fmla="*/ 26670 h 144780"/>
              <a:gd name="connisteX25" fmla="*/ 97155 w 906780"/>
              <a:gd name="connsiteY25" fmla="*/ 34290 h 144780"/>
              <a:gd name="connisteX26" fmla="*/ 32385 w 906780"/>
              <a:gd name="connsiteY26" fmla="*/ 40005 h 144780"/>
              <a:gd name="connisteX27" fmla="*/ 0 w 906780"/>
              <a:gd name="connsiteY27" fmla="*/ 104775 h 144780"/>
              <a:gd name="connisteX28" fmla="*/ 20955 w 906780"/>
              <a:gd name="connsiteY28" fmla="*/ 144780 h 1447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</a:cxnLst>
            <a:rect l="l" t="t" r="r" b="b"/>
            <a:pathLst>
              <a:path w="906780" h="144780">
                <a:moveTo>
                  <a:pt x="20955" y="144780"/>
                </a:moveTo>
                <a:lnTo>
                  <a:pt x="91440" y="140970"/>
                </a:lnTo>
                <a:lnTo>
                  <a:pt x="163830" y="123825"/>
                </a:lnTo>
                <a:lnTo>
                  <a:pt x="228600" y="118110"/>
                </a:lnTo>
                <a:lnTo>
                  <a:pt x="293370" y="116205"/>
                </a:lnTo>
                <a:lnTo>
                  <a:pt x="360045" y="116205"/>
                </a:lnTo>
                <a:lnTo>
                  <a:pt x="426720" y="108585"/>
                </a:lnTo>
                <a:lnTo>
                  <a:pt x="491490" y="112395"/>
                </a:lnTo>
                <a:lnTo>
                  <a:pt x="556260" y="118110"/>
                </a:lnTo>
                <a:lnTo>
                  <a:pt x="621030" y="133350"/>
                </a:lnTo>
                <a:lnTo>
                  <a:pt x="687705" y="137160"/>
                </a:lnTo>
                <a:lnTo>
                  <a:pt x="762000" y="137160"/>
                </a:lnTo>
                <a:lnTo>
                  <a:pt x="826770" y="135255"/>
                </a:lnTo>
                <a:lnTo>
                  <a:pt x="891540" y="118110"/>
                </a:lnTo>
                <a:lnTo>
                  <a:pt x="906780" y="53340"/>
                </a:lnTo>
                <a:lnTo>
                  <a:pt x="842010" y="11430"/>
                </a:lnTo>
                <a:lnTo>
                  <a:pt x="773430" y="0"/>
                </a:lnTo>
                <a:lnTo>
                  <a:pt x="706755" y="1905"/>
                </a:lnTo>
                <a:lnTo>
                  <a:pt x="630555" y="5715"/>
                </a:lnTo>
                <a:lnTo>
                  <a:pt x="523875" y="9525"/>
                </a:lnTo>
                <a:lnTo>
                  <a:pt x="455295" y="9525"/>
                </a:lnTo>
                <a:lnTo>
                  <a:pt x="388620" y="9525"/>
                </a:lnTo>
                <a:lnTo>
                  <a:pt x="302895" y="13335"/>
                </a:lnTo>
                <a:lnTo>
                  <a:pt x="232410" y="19050"/>
                </a:lnTo>
                <a:lnTo>
                  <a:pt x="165735" y="26670"/>
                </a:lnTo>
                <a:lnTo>
                  <a:pt x="97155" y="34290"/>
                </a:lnTo>
                <a:lnTo>
                  <a:pt x="32385" y="40005"/>
                </a:lnTo>
                <a:lnTo>
                  <a:pt x="0" y="104775"/>
                </a:lnTo>
                <a:lnTo>
                  <a:pt x="20955" y="1447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42" name="任意多边形 41"/>
          <p:cNvSpPr/>
          <p:nvPr/>
        </p:nvSpPr>
        <p:spPr>
          <a:xfrm>
            <a:off x="2457450" y="2964180"/>
            <a:ext cx="1158240" cy="157480"/>
          </a:xfrm>
          <a:custGeom>
            <a:avLst/>
            <a:gdLst>
              <a:gd name="connsiteX0" fmla="*/ 0 w 1824"/>
              <a:gd name="connsiteY0" fmla="*/ 208 h 248"/>
              <a:gd name="connsiteX1" fmla="*/ 104 w 1824"/>
              <a:gd name="connsiteY1" fmla="*/ 208 h 248"/>
              <a:gd name="connsiteX2" fmla="*/ 208 w 1824"/>
              <a:gd name="connsiteY2" fmla="*/ 200 h 248"/>
              <a:gd name="connsiteX3" fmla="*/ 312 w 1824"/>
              <a:gd name="connsiteY3" fmla="*/ 200 h 248"/>
              <a:gd name="connsiteX4" fmla="*/ 424 w 1824"/>
              <a:gd name="connsiteY4" fmla="*/ 200 h 248"/>
              <a:gd name="connsiteX5" fmla="*/ 528 w 1824"/>
              <a:gd name="connsiteY5" fmla="*/ 200 h 248"/>
              <a:gd name="connsiteX6" fmla="*/ 632 w 1824"/>
              <a:gd name="connsiteY6" fmla="*/ 200 h 248"/>
              <a:gd name="connsiteX7" fmla="*/ 733 w 1824"/>
              <a:gd name="connsiteY7" fmla="*/ 224 h 248"/>
              <a:gd name="connsiteX8" fmla="*/ 848 w 1824"/>
              <a:gd name="connsiteY8" fmla="*/ 200 h 248"/>
              <a:gd name="connsiteX9" fmla="*/ 960 w 1824"/>
              <a:gd name="connsiteY9" fmla="*/ 200 h 248"/>
              <a:gd name="connsiteX10" fmla="*/ 1072 w 1824"/>
              <a:gd name="connsiteY10" fmla="*/ 208 h 248"/>
              <a:gd name="connsiteX11" fmla="*/ 1176 w 1824"/>
              <a:gd name="connsiteY11" fmla="*/ 224 h 248"/>
              <a:gd name="connsiteX12" fmla="*/ 1280 w 1824"/>
              <a:gd name="connsiteY12" fmla="*/ 232 h 248"/>
              <a:gd name="connsiteX13" fmla="*/ 1392 w 1824"/>
              <a:gd name="connsiteY13" fmla="*/ 248 h 248"/>
              <a:gd name="connsiteX14" fmla="*/ 1504 w 1824"/>
              <a:gd name="connsiteY14" fmla="*/ 248 h 248"/>
              <a:gd name="connsiteX15" fmla="*/ 1608 w 1824"/>
              <a:gd name="connsiteY15" fmla="*/ 248 h 248"/>
              <a:gd name="connsiteX16" fmla="*/ 1728 w 1824"/>
              <a:gd name="connsiteY16" fmla="*/ 240 h 248"/>
              <a:gd name="connsiteX17" fmla="*/ 1824 w 1824"/>
              <a:gd name="connsiteY17" fmla="*/ 136 h 248"/>
              <a:gd name="connsiteX18" fmla="*/ 1704 w 1824"/>
              <a:gd name="connsiteY18" fmla="*/ 32 h 248"/>
              <a:gd name="connsiteX19" fmla="*/ 1560 w 1824"/>
              <a:gd name="connsiteY19" fmla="*/ 0 h 248"/>
              <a:gd name="connsiteX20" fmla="*/ 1376 w 1824"/>
              <a:gd name="connsiteY20" fmla="*/ 0 h 248"/>
              <a:gd name="connsiteX21" fmla="*/ 1272 w 1824"/>
              <a:gd name="connsiteY21" fmla="*/ 0 h 248"/>
              <a:gd name="connsiteX22" fmla="*/ 1096 w 1824"/>
              <a:gd name="connsiteY22" fmla="*/ 0 h 248"/>
              <a:gd name="connsiteX23" fmla="*/ 976 w 1824"/>
              <a:gd name="connsiteY23" fmla="*/ 0 h 248"/>
              <a:gd name="connsiteX24" fmla="*/ 856 w 1824"/>
              <a:gd name="connsiteY24" fmla="*/ 0 h 248"/>
              <a:gd name="connsiteX25" fmla="*/ 752 w 1824"/>
              <a:gd name="connsiteY25" fmla="*/ 8 h 248"/>
              <a:gd name="connsiteX26" fmla="*/ 648 w 1824"/>
              <a:gd name="connsiteY26" fmla="*/ 24 h 248"/>
              <a:gd name="connsiteX27" fmla="*/ 536 w 1824"/>
              <a:gd name="connsiteY27" fmla="*/ 40 h 248"/>
              <a:gd name="connsiteX28" fmla="*/ 400 w 1824"/>
              <a:gd name="connsiteY28" fmla="*/ 56 h 248"/>
              <a:gd name="connsiteX29" fmla="*/ 264 w 1824"/>
              <a:gd name="connsiteY29" fmla="*/ 72 h 248"/>
              <a:gd name="connsiteX30" fmla="*/ 144 w 1824"/>
              <a:gd name="connsiteY30" fmla="*/ 72 h 248"/>
              <a:gd name="connsiteX31" fmla="*/ 32 w 1824"/>
              <a:gd name="connsiteY31" fmla="*/ 96 h 248"/>
              <a:gd name="connsiteX32" fmla="*/ 0 w 1824"/>
              <a:gd name="connsiteY32" fmla="*/ 208 h 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824" h="248">
                <a:moveTo>
                  <a:pt x="0" y="208"/>
                </a:moveTo>
                <a:lnTo>
                  <a:pt x="104" y="208"/>
                </a:lnTo>
                <a:lnTo>
                  <a:pt x="208" y="200"/>
                </a:lnTo>
                <a:lnTo>
                  <a:pt x="312" y="200"/>
                </a:lnTo>
                <a:lnTo>
                  <a:pt x="424" y="200"/>
                </a:lnTo>
                <a:lnTo>
                  <a:pt x="528" y="200"/>
                </a:lnTo>
                <a:lnTo>
                  <a:pt x="632" y="200"/>
                </a:lnTo>
                <a:lnTo>
                  <a:pt x="733" y="224"/>
                </a:lnTo>
                <a:lnTo>
                  <a:pt x="848" y="200"/>
                </a:lnTo>
                <a:lnTo>
                  <a:pt x="960" y="200"/>
                </a:lnTo>
                <a:lnTo>
                  <a:pt x="1072" y="208"/>
                </a:lnTo>
                <a:lnTo>
                  <a:pt x="1176" y="224"/>
                </a:lnTo>
                <a:lnTo>
                  <a:pt x="1280" y="232"/>
                </a:lnTo>
                <a:lnTo>
                  <a:pt x="1392" y="248"/>
                </a:lnTo>
                <a:lnTo>
                  <a:pt x="1504" y="248"/>
                </a:lnTo>
                <a:lnTo>
                  <a:pt x="1608" y="248"/>
                </a:lnTo>
                <a:lnTo>
                  <a:pt x="1728" y="240"/>
                </a:lnTo>
                <a:lnTo>
                  <a:pt x="1824" y="136"/>
                </a:lnTo>
                <a:lnTo>
                  <a:pt x="1704" y="32"/>
                </a:lnTo>
                <a:lnTo>
                  <a:pt x="1560" y="0"/>
                </a:lnTo>
                <a:lnTo>
                  <a:pt x="1376" y="0"/>
                </a:lnTo>
                <a:lnTo>
                  <a:pt x="1272" y="0"/>
                </a:lnTo>
                <a:lnTo>
                  <a:pt x="1096" y="0"/>
                </a:lnTo>
                <a:lnTo>
                  <a:pt x="976" y="0"/>
                </a:lnTo>
                <a:lnTo>
                  <a:pt x="856" y="0"/>
                </a:lnTo>
                <a:lnTo>
                  <a:pt x="752" y="8"/>
                </a:lnTo>
                <a:lnTo>
                  <a:pt x="648" y="24"/>
                </a:lnTo>
                <a:lnTo>
                  <a:pt x="536" y="40"/>
                </a:lnTo>
                <a:lnTo>
                  <a:pt x="400" y="56"/>
                </a:lnTo>
                <a:lnTo>
                  <a:pt x="264" y="72"/>
                </a:lnTo>
                <a:lnTo>
                  <a:pt x="144" y="72"/>
                </a:lnTo>
                <a:lnTo>
                  <a:pt x="32" y="96"/>
                </a:lnTo>
                <a:lnTo>
                  <a:pt x="0" y="2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6"/>
            </p:custDataLst>
          </p:nvPr>
        </p:nvSpPr>
        <p:spPr>
          <a:xfrm>
            <a:off x="3891280" y="296672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</a:rPr>
              <a:t>d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3020060" y="702310"/>
          <a:ext cx="3667125" cy="2103120"/>
        </p:xfrm>
        <a:graphic>
          <a:graphicData uri="http://schemas.openxmlformats.org/drawingml/2006/table">
            <a:tbl>
              <a:tblPr firstRow="1">
                <a:tableStyleId>{8CC8FC79-6185-4386-960D-B2C91B0F2FAA}</a:tableStyleId>
              </a:tblPr>
              <a:tblGrid>
                <a:gridCol w="1127125"/>
                <a:gridCol w="581025"/>
                <a:gridCol w="878840"/>
                <a:gridCol w="1080135"/>
              </a:tblGrid>
              <a:tr h="23050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Target type</a:t>
                      </a:r>
                      <a:endParaRPr lang="en-US" altLang="zh-CN" sz="1000" b="1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1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Targets num</a:t>
                      </a:r>
                      <a:endParaRPr lang="en-US" altLang="zh-CN" sz="1000" b="1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Compounds num</a:t>
                      </a:r>
                      <a:endParaRPr lang="en-US" altLang="zh-CN" sz="1000" b="1" baseline="-25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Compound-target pairs num </a:t>
                      </a:r>
                      <a:endParaRPr lang="en-US" altLang="zh-CN" sz="1000" b="1" baseline="-25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GPCR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107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5.098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4.941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Ion channel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19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6.274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5.992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Enzyme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20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5.740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5.591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Kinase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28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5.853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6.144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NR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9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4.638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5.398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Transporter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9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4.398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4.131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Other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2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3.714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2.907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4" name="图片 23" descr="figure_2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875" y="2884170"/>
            <a:ext cx="3273425" cy="4776470"/>
          </a:xfrm>
          <a:prstGeom prst="rect">
            <a:avLst/>
          </a:prstGeom>
        </p:spPr>
      </p:pic>
      <p:pic>
        <p:nvPicPr>
          <p:cNvPr id="61" name="图片 60" descr="figure_2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3480" y="3769360"/>
            <a:ext cx="2484120" cy="3919855"/>
          </a:xfrm>
          <a:prstGeom prst="rect">
            <a:avLst/>
          </a:prstGeom>
        </p:spPr>
      </p:pic>
      <p:pic>
        <p:nvPicPr>
          <p:cNvPr id="59" name="图片 58" descr="figure_2d_legend"/>
          <p:cNvPicPr>
            <a:picLocks noChangeAspect="1"/>
          </p:cNvPicPr>
          <p:nvPr/>
        </p:nvPicPr>
        <p:blipFill>
          <a:blip r:embed="rId9"/>
          <a:srcRect t="26349" b="30489"/>
          <a:stretch>
            <a:fillRect/>
          </a:stretch>
        </p:blipFill>
        <p:spPr>
          <a:xfrm>
            <a:off x="3458845" y="3291840"/>
            <a:ext cx="2932430" cy="436880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3199765" y="7946390"/>
          <a:ext cx="3468370" cy="1950720"/>
        </p:xfrm>
        <a:graphic>
          <a:graphicData uri="http://schemas.openxmlformats.org/drawingml/2006/table">
            <a:tbl>
              <a:tblPr firstRow="1">
                <a:tableStyleId>{8CC8FC79-6185-4386-960D-B2C91B0F2FAA}</a:tableStyleId>
              </a:tblPr>
              <a:tblGrid>
                <a:gridCol w="1047750"/>
                <a:gridCol w="1156335"/>
                <a:gridCol w="1264285"/>
              </a:tblGrid>
              <a:tr h="2305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Drug name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Ob</a:t>
                      </a: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served  pIC</a:t>
                      </a:r>
                      <a:r>
                        <a:rPr lang="en-US" altLang="zh-CN" sz="1000" baseline="-25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50</a:t>
                      </a:r>
                      <a:endParaRPr lang="en-US" altLang="zh-CN" sz="1000" baseline="-25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Predicted pAC</a:t>
                      </a:r>
                      <a:r>
                        <a:rPr lang="en-US" altLang="zh-CN" sz="1000" baseline="-25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50</a:t>
                      </a:r>
                      <a:endParaRPr lang="en-US" altLang="zh-CN" sz="1000" baseline="-25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Amitriptyline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5.098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4.941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Bepridil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6.274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5.992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Fentanyl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5.740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5.591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Mibefradil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5.853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6.144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Nisoldipine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4.638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5.398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Telithromycin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4.398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4.131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Phenytoin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3.714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Segoe UI Semibold" panose="020B0702040204020203" charset="0"/>
                          <a:ea typeface="微软雅黑" panose="020B0503020204020204" charset="-122"/>
                          <a:cs typeface="Segoe UI Semibold" panose="020B0702040204020203" charset="0"/>
                        </a:rPr>
                        <a:t>2.907</a:t>
                      </a:r>
                      <a:endParaRPr lang="en-US" altLang="zh-CN" sz="1000">
                        <a:latin typeface="Segoe UI Semibold" panose="020B0702040204020203" charset="0"/>
                        <a:ea typeface="微软雅黑" panose="020B0503020204020204" charset="-122"/>
                        <a:cs typeface="Segoe UI Semibold" panose="020B0702040204020203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295015" y="7702550"/>
            <a:ext cx="348234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>
                <a:latin typeface="Segoe UI Semibold" panose="020B0702040204020203" charset="0"/>
                <a:ea typeface="微软雅黑" panose="020B0503020204020204" charset="-122"/>
                <a:cs typeface="Segoe UI Semibold" panose="020B0702040204020203" charset="0"/>
              </a:rPr>
              <a:t>Off-Target Affinity Prediction for hERG-Related Drugs</a:t>
            </a:r>
            <a:endParaRPr lang="en-US" altLang="zh-CN" sz="1000">
              <a:latin typeface="Segoe UI Semibold" panose="020B0702040204020203" charset="0"/>
              <a:ea typeface="微软雅黑" panose="020B0503020204020204" charset="-122"/>
              <a:cs typeface="Segoe UI Semibold" panose="020B0702040204020203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10"/>
            </p:custDataLst>
          </p:nvPr>
        </p:nvSpPr>
        <p:spPr>
          <a:xfrm>
            <a:off x="3024505" y="764667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</a:rPr>
              <a:t>f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pic>
        <p:nvPicPr>
          <p:cNvPr id="99" name="图片 98" descr="figure_2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7778750"/>
            <a:ext cx="2389505" cy="2368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图片 72" descr="figure_3a_ppb_model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" y="3395345"/>
            <a:ext cx="2233930" cy="1865630"/>
          </a:xfrm>
          <a:prstGeom prst="rect">
            <a:avLst/>
          </a:prstGeom>
        </p:spPr>
      </p:pic>
      <p:pic>
        <p:nvPicPr>
          <p:cNvPr id="77" name="图片 76" descr="figure_3d_ppb_interval_ma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815" y="1539240"/>
            <a:ext cx="2157730" cy="1783080"/>
          </a:xfrm>
          <a:prstGeom prst="rect">
            <a:avLst/>
          </a:prstGeom>
        </p:spPr>
      </p:pic>
      <p:pic>
        <p:nvPicPr>
          <p:cNvPr id="78" name="图片 77" descr="figure_3e_ppb_scat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175" y="3338830"/>
            <a:ext cx="2252345" cy="1764665"/>
          </a:xfrm>
          <a:prstGeom prst="rect">
            <a:avLst/>
          </a:prstGeom>
        </p:spPr>
      </p:pic>
      <p:pic>
        <p:nvPicPr>
          <p:cNvPr id="79" name="图片 78" descr="figure_3f_cmax_model_comparis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" y="5208905"/>
            <a:ext cx="2233930" cy="1661160"/>
          </a:xfrm>
          <a:prstGeom prst="rect">
            <a:avLst/>
          </a:prstGeom>
        </p:spPr>
      </p:pic>
      <p:pic>
        <p:nvPicPr>
          <p:cNvPr id="80" name="图片 79" descr="figure_3g_ciprofloxac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2030" y="5208905"/>
            <a:ext cx="2267585" cy="1758950"/>
          </a:xfrm>
          <a:prstGeom prst="rect">
            <a:avLst/>
          </a:prstGeom>
        </p:spPr>
      </p:pic>
      <p:pic>
        <p:nvPicPr>
          <p:cNvPr id="81" name="图片 80" descr="figure_3h_cevimel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0090" y="5208905"/>
            <a:ext cx="2267585" cy="1758950"/>
          </a:xfrm>
          <a:prstGeom prst="rect">
            <a:avLst/>
          </a:prstGeom>
        </p:spPr>
      </p:pic>
      <p:pic>
        <p:nvPicPr>
          <p:cNvPr id="82" name="图片 81" descr="figure_3a_ppb_distribu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95" y="1539240"/>
            <a:ext cx="2218690" cy="1703705"/>
          </a:xfrm>
          <a:prstGeom prst="rect">
            <a:avLst/>
          </a:prstGeom>
        </p:spPr>
      </p:pic>
      <p:pic>
        <p:nvPicPr>
          <p:cNvPr id="83" name="图片 82" descr="figure_3b_unbound_fraction_log10_distribu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4580" y="1539240"/>
            <a:ext cx="2216150" cy="1718945"/>
          </a:xfrm>
          <a:prstGeom prst="rect">
            <a:avLst/>
          </a:prstGeom>
        </p:spPr>
      </p:pic>
      <p:sp>
        <p:nvSpPr>
          <p:cNvPr id="86" name="矩形 85"/>
          <p:cNvSpPr/>
          <p:nvPr/>
        </p:nvSpPr>
        <p:spPr>
          <a:xfrm>
            <a:off x="5695950" y="4445635"/>
            <a:ext cx="970280" cy="2184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>
            <a:off x="5729605" y="4450715"/>
            <a:ext cx="902172" cy="200660"/>
            <a:chOff x="6919" y="13681"/>
            <a:chExt cx="1762" cy="392"/>
          </a:xfrm>
        </p:grpSpPr>
        <p:pic>
          <p:nvPicPr>
            <p:cNvPr id="70" name="图片 69" descr="figure_3e_legend"/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6086" t="30071" r="54969" b="32918"/>
            <a:stretch>
              <a:fillRect/>
            </a:stretch>
          </p:blipFill>
          <p:spPr>
            <a:xfrm>
              <a:off x="6919" y="13681"/>
              <a:ext cx="1587" cy="208"/>
            </a:xfrm>
            <a:prstGeom prst="rect">
              <a:avLst/>
            </a:prstGeom>
          </p:spPr>
        </p:pic>
        <p:pic>
          <p:nvPicPr>
            <p:cNvPr id="84" name="图片 83" descr="figure_3e_legend"/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52687" t="32918" r="4491" b="37189"/>
            <a:stretch>
              <a:fillRect/>
            </a:stretch>
          </p:blipFill>
          <p:spPr>
            <a:xfrm>
              <a:off x="6936" y="13905"/>
              <a:ext cx="1745" cy="168"/>
            </a:xfrm>
            <a:prstGeom prst="rect">
              <a:avLst/>
            </a:prstGeom>
          </p:spPr>
        </p:pic>
      </p:grpSp>
      <p:pic>
        <p:nvPicPr>
          <p:cNvPr id="71" name="图片 70" descr="figure_3g_h_legend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3665" r="861" b="15218"/>
          <a:stretch>
            <a:fillRect/>
          </a:stretch>
        </p:blipFill>
        <p:spPr>
          <a:xfrm>
            <a:off x="2237105" y="6964045"/>
            <a:ext cx="4597400" cy="187960"/>
          </a:xfrm>
          <a:prstGeom prst="rect">
            <a:avLst/>
          </a:prstGeom>
        </p:spPr>
      </p:pic>
      <p:pic>
        <p:nvPicPr>
          <p:cNvPr id="76" name="图片 75" descr="figure_3c_external_pcc"/>
          <p:cNvPicPr>
            <a:picLocks noChangeAspect="1"/>
          </p:cNvPicPr>
          <p:nvPr/>
        </p:nvPicPr>
        <p:blipFill>
          <a:blip r:embed="rId11"/>
          <a:srcRect b="4404"/>
          <a:stretch>
            <a:fillRect/>
          </a:stretch>
        </p:blipFill>
        <p:spPr>
          <a:xfrm>
            <a:off x="2354580" y="3395345"/>
            <a:ext cx="2182495" cy="184721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111760" y="3058160"/>
            <a:ext cx="260350" cy="2552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lvl="0" algn="l">
              <a:buClrTx/>
              <a:buSzTx/>
              <a:buFontTx/>
            </a:pPr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  <a:sym typeface="+mn-ea"/>
              </a:rPr>
              <a:t>d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2320925" y="3058160"/>
            <a:ext cx="260350" cy="2552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</a:rPr>
              <a:t>e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2320925" y="1349375"/>
            <a:ext cx="260350" cy="2552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</a:rPr>
              <a:t>b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15"/>
            </p:custDataLst>
          </p:nvPr>
        </p:nvSpPr>
        <p:spPr>
          <a:xfrm>
            <a:off x="4526915" y="1349375"/>
            <a:ext cx="260350" cy="2552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</a:rPr>
              <a:t>c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54" name="文本框 53"/>
          <p:cNvSpPr txBox="1"/>
          <p:nvPr>
            <p:custDataLst>
              <p:tags r:id="rId16"/>
            </p:custDataLst>
          </p:nvPr>
        </p:nvSpPr>
        <p:spPr>
          <a:xfrm>
            <a:off x="4581525" y="3058160"/>
            <a:ext cx="260350" cy="2552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</a:rPr>
              <a:t>f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7"/>
            </p:custDataLst>
          </p:nvPr>
        </p:nvSpPr>
        <p:spPr>
          <a:xfrm>
            <a:off x="111760" y="1349375"/>
            <a:ext cx="260350" cy="2552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</a:rPr>
              <a:t>a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89" name="文本框 88"/>
          <p:cNvSpPr txBox="1"/>
          <p:nvPr>
            <p:custDataLst>
              <p:tags r:id="rId18"/>
            </p:custDataLst>
          </p:nvPr>
        </p:nvSpPr>
        <p:spPr>
          <a:xfrm>
            <a:off x="111760" y="5020310"/>
            <a:ext cx="260350" cy="2552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lvl="0" algn="l">
              <a:buClrTx/>
              <a:buSzTx/>
              <a:buFontTx/>
            </a:pPr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  <a:sym typeface="+mn-ea"/>
              </a:rPr>
              <a:t>g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  <a:sym typeface="+mn-ea"/>
            </a:endParaRPr>
          </a:p>
        </p:txBody>
      </p:sp>
      <p:sp>
        <p:nvSpPr>
          <p:cNvPr id="90" name="文本框 89"/>
          <p:cNvSpPr txBox="1"/>
          <p:nvPr>
            <p:custDataLst>
              <p:tags r:id="rId19"/>
            </p:custDataLst>
          </p:nvPr>
        </p:nvSpPr>
        <p:spPr>
          <a:xfrm>
            <a:off x="2320925" y="5020310"/>
            <a:ext cx="260350" cy="2552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</a:rPr>
              <a:t>h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91" name="文本框 90"/>
          <p:cNvSpPr txBox="1"/>
          <p:nvPr>
            <p:custDataLst>
              <p:tags r:id="rId20"/>
            </p:custDataLst>
          </p:nvPr>
        </p:nvSpPr>
        <p:spPr>
          <a:xfrm>
            <a:off x="4581525" y="5020310"/>
            <a:ext cx="260350" cy="2552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</a:rPr>
              <a:t>i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圆角矩形 104"/>
          <p:cNvSpPr/>
          <p:nvPr/>
        </p:nvSpPr>
        <p:spPr>
          <a:xfrm>
            <a:off x="168910" y="2635250"/>
            <a:ext cx="2165985" cy="890905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  <a:alpha val="57000"/>
            </a:schemeClr>
          </a:solidFill>
          <a:ln w="15875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直角上箭头 173"/>
          <p:cNvSpPr/>
          <p:nvPr/>
        </p:nvSpPr>
        <p:spPr>
          <a:xfrm>
            <a:off x="3759835" y="4464050"/>
            <a:ext cx="989965" cy="726440"/>
          </a:xfrm>
          <a:prstGeom prst="bentUpArrow">
            <a:avLst>
              <a:gd name="adj1" fmla="val 22563"/>
              <a:gd name="adj2" fmla="val 19821"/>
              <a:gd name="adj3" fmla="val 20718"/>
            </a:avLst>
          </a:prstGeom>
          <a:solidFill>
            <a:srgbClr val="FFF6D8"/>
          </a:solidFill>
          <a:ln w="19050">
            <a:noFill/>
            <a:prstDash val="solid"/>
          </a:ln>
        </p:spPr>
        <p:txBody>
          <a:bodyPr rtlCol="0" anchor="ctr"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直角上箭头 172"/>
          <p:cNvSpPr/>
          <p:nvPr/>
        </p:nvSpPr>
        <p:spPr>
          <a:xfrm>
            <a:off x="3891915" y="4481830"/>
            <a:ext cx="2475865" cy="1501140"/>
          </a:xfrm>
          <a:prstGeom prst="bentUpArrow">
            <a:avLst>
              <a:gd name="adj1" fmla="val 10919"/>
              <a:gd name="adj2" fmla="val 9903"/>
              <a:gd name="adj3" fmla="val 10681"/>
            </a:avLst>
          </a:prstGeom>
          <a:solidFill>
            <a:srgbClr val="FCE9EC"/>
          </a:solidFill>
          <a:ln w="19050">
            <a:noFill/>
            <a:prstDash val="solid"/>
          </a:ln>
        </p:spPr>
        <p:txBody>
          <a:bodyPr rtlCol="0" anchor="ctr"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dose-augmentation"/>
          <p:cNvSpPr>
            <a:spLocks noGrp="1"/>
          </p:cNvSpPr>
          <p:nvPr/>
        </p:nvSpPr>
        <p:spPr>
          <a:xfrm>
            <a:off x="168910" y="4772025"/>
            <a:ext cx="3740150" cy="6807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76" name="dose-augmentation"/>
          <p:cNvSpPr>
            <a:spLocks noGrp="1"/>
          </p:cNvSpPr>
          <p:nvPr/>
        </p:nvSpPr>
        <p:spPr>
          <a:xfrm>
            <a:off x="168910" y="5534025"/>
            <a:ext cx="3740150" cy="6807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5875">
            <a:solidFill>
              <a:srgbClr val="D95C6A"/>
            </a:solidFill>
            <a:prstDash val="solid"/>
          </a:ln>
        </p:spPr>
      </p:sp>
      <p:sp>
        <p:nvSpPr>
          <p:cNvPr id="166" name="dose-augmentation"/>
          <p:cNvSpPr>
            <a:spLocks noGrp="1"/>
          </p:cNvSpPr>
          <p:nvPr/>
        </p:nvSpPr>
        <p:spPr>
          <a:xfrm>
            <a:off x="4199890" y="4772025"/>
            <a:ext cx="2399030" cy="6807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1" name="dose-augmentation"/>
          <p:cNvSpPr>
            <a:spLocks noGrp="1"/>
          </p:cNvSpPr>
          <p:nvPr/>
        </p:nvSpPr>
        <p:spPr>
          <a:xfrm>
            <a:off x="4199890" y="3796665"/>
            <a:ext cx="2399030" cy="68072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  <a:prstDash val="sysDot"/>
          </a:ln>
        </p:spPr>
      </p:sp>
      <p:sp>
        <p:nvSpPr>
          <p:cNvPr id="3" name="文本框 2"/>
          <p:cNvSpPr txBox="1"/>
          <p:nvPr/>
        </p:nvSpPr>
        <p:spPr>
          <a:xfrm>
            <a:off x="168910" y="3578225"/>
            <a:ext cx="2165985" cy="890905"/>
          </a:xfrm>
          <a:prstGeom prst="rect">
            <a:avLst/>
          </a:prstGeom>
          <a:solidFill>
            <a:schemeClr val="accent6">
              <a:lumMod val="20000"/>
              <a:lumOff val="80000"/>
              <a:alpha val="59000"/>
            </a:schemeClr>
          </a:solidFill>
          <a:ln w="15875">
            <a:noFill/>
          </a:ln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ADR type </a:t>
            </a:r>
            <a:r>
              <a:rPr lang="en-US" altLang="zh-CN" sz="12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</a:t>
            </a:r>
            <a:endParaRPr lang="en-US" altLang="zh-CN" sz="1200" b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3195320" y="3108960"/>
            <a:ext cx="198120" cy="127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3386455" y="3108325"/>
            <a:ext cx="0" cy="99060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3195320" y="4097021"/>
            <a:ext cx="198120" cy="127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3386455" y="3267075"/>
            <a:ext cx="304165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8" name="流程图: 多文档 107"/>
          <p:cNvSpPr/>
          <p:nvPr/>
        </p:nvSpPr>
        <p:spPr>
          <a:xfrm>
            <a:off x="1655445" y="3875406"/>
            <a:ext cx="622300" cy="444500"/>
          </a:xfrm>
          <a:prstGeom prst="flowChartMultidocument">
            <a:avLst/>
          </a:prstGeom>
          <a:solidFill>
            <a:srgbClr val="FA9FB5">
              <a:alpha val="60000"/>
            </a:srgbClr>
          </a:solidFill>
          <a:ln>
            <a:solidFill>
              <a:srgbClr val="FA9FB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5" name="图片 24" descr="supplementary_figure_7b_adr_target_legen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3705" y="1783080"/>
            <a:ext cx="2533015" cy="420370"/>
          </a:xfrm>
          <a:prstGeom prst="rect">
            <a:avLst/>
          </a:prstGeom>
        </p:spPr>
      </p:pic>
      <p:pic>
        <p:nvPicPr>
          <p:cNvPr id="4" name="图片 3" descr="32313538393030313b32313538383038373bd2a9ceef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365" y="2668905"/>
            <a:ext cx="323850" cy="323850"/>
          </a:xfrm>
          <a:prstGeom prst="rect">
            <a:avLst/>
          </a:prstGeom>
        </p:spPr>
      </p:pic>
      <p:pic>
        <p:nvPicPr>
          <p:cNvPr id="5" name="图片 4" descr="3b32313536373236353bbeafb8e6cce1cab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270" y="3844290"/>
            <a:ext cx="433705" cy="4337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45173" y="2632393"/>
            <a:ext cx="1060450" cy="27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</a:extLst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Drug </a:t>
            </a:r>
            <a:r>
              <a:rPr lang="en-US" altLang="zh-CN" sz="1200" b="1" dirty="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</a:t>
            </a:r>
            <a:endParaRPr lang="en-US" altLang="zh-CN" sz="1200" b="1" dirty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0" name="右箭头 19"/>
          <p:cNvSpPr/>
          <p:nvPr/>
        </p:nvSpPr>
        <p:spPr>
          <a:xfrm>
            <a:off x="1403985" y="3957003"/>
            <a:ext cx="176530" cy="220345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流程图: 多文档 20"/>
          <p:cNvSpPr/>
          <p:nvPr/>
        </p:nvSpPr>
        <p:spPr>
          <a:xfrm>
            <a:off x="2579688" y="2887663"/>
            <a:ext cx="622300" cy="444500"/>
          </a:xfrm>
          <a:prstGeom prst="flowChartMultidocument">
            <a:avLst/>
          </a:prstGeom>
          <a:solidFill>
            <a:srgbClr val="C2E0E6">
              <a:alpha val="60000"/>
            </a:srgbClr>
          </a:solidFill>
          <a:ln>
            <a:solidFill>
              <a:srgbClr val="C2E0E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584325" y="3916681"/>
            <a:ext cx="690880" cy="259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Emb-edding </a:t>
            </a:r>
            <a:endParaRPr lang="en-US" altLang="zh-CN" sz="10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495550" y="2932748"/>
            <a:ext cx="7092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Drug encoder</a:t>
            </a:r>
            <a:endParaRPr lang="en-US" altLang="zh-CN" sz="10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8" name="流程图: 多文档 27"/>
          <p:cNvSpPr/>
          <p:nvPr/>
        </p:nvSpPr>
        <p:spPr>
          <a:xfrm>
            <a:off x="2579688" y="3875406"/>
            <a:ext cx="622300" cy="444500"/>
          </a:xfrm>
          <a:prstGeom prst="flowChartMultidocument">
            <a:avLst/>
          </a:prstGeom>
          <a:solidFill>
            <a:srgbClr val="FBB4AE"/>
          </a:solidFill>
          <a:ln>
            <a:solidFill>
              <a:srgbClr val="FB9A9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485390" y="3913506"/>
            <a:ext cx="7092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ADR encoder</a:t>
            </a:r>
            <a:endParaRPr lang="en-US" altLang="zh-CN" sz="10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0" name="流程图: 多文档 29"/>
          <p:cNvSpPr/>
          <p:nvPr/>
        </p:nvSpPr>
        <p:spPr>
          <a:xfrm>
            <a:off x="4197985" y="3060701"/>
            <a:ext cx="622300" cy="444500"/>
          </a:xfrm>
          <a:prstGeom prst="flowChartMultidocument">
            <a:avLst/>
          </a:prstGeom>
          <a:solidFill>
            <a:srgbClr val="EDF8B1">
              <a:alpha val="40000"/>
            </a:srgbClr>
          </a:solidFill>
          <a:ln>
            <a:solidFill>
              <a:srgbClr val="EDF8B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106545" y="3105150"/>
            <a:ext cx="709295" cy="4159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Pair </a:t>
            </a:r>
            <a:endParaRPr lang="en-US" altLang="zh-CN" sz="10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en-US" altLang="zh-CN" sz="10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MLP</a:t>
            </a:r>
            <a:endParaRPr lang="en-US" altLang="zh-CN" sz="10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algn="ctr"/>
            <a:endParaRPr lang="en-US" altLang="zh-CN" sz="1000" b="1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2" name="右箭头 31"/>
          <p:cNvSpPr/>
          <p:nvPr/>
        </p:nvSpPr>
        <p:spPr>
          <a:xfrm>
            <a:off x="2383155" y="2971483"/>
            <a:ext cx="176530" cy="220345"/>
          </a:xfrm>
          <a:prstGeom prst="rightArrow">
            <a:avLst/>
          </a:prstGeom>
          <a:solidFill>
            <a:srgbClr val="BBE0E3">
              <a:alpha val="50000"/>
            </a:srgbClr>
          </a:solidFill>
          <a:ln>
            <a:solidFill>
              <a:srgbClr val="72BFC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右箭头 32"/>
          <p:cNvSpPr/>
          <p:nvPr/>
        </p:nvSpPr>
        <p:spPr>
          <a:xfrm>
            <a:off x="2383155" y="3957003"/>
            <a:ext cx="176530" cy="220345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6" name="组合 185"/>
          <p:cNvGrpSpPr/>
          <p:nvPr/>
        </p:nvGrpSpPr>
        <p:grpSpPr>
          <a:xfrm>
            <a:off x="3743325" y="2979420"/>
            <a:ext cx="171450" cy="825500"/>
            <a:chOff x="5829" y="7783"/>
            <a:chExt cx="270" cy="1300"/>
          </a:xfrm>
        </p:grpSpPr>
        <p:sp>
          <p:nvSpPr>
            <p:cNvPr id="67" name="Google Shape;214;p21"/>
            <p:cNvSpPr/>
            <p:nvPr/>
          </p:nvSpPr>
          <p:spPr>
            <a:xfrm flipH="1">
              <a:off x="5829" y="7783"/>
              <a:ext cx="270" cy="260"/>
            </a:xfrm>
            <a:prstGeom prst="rect">
              <a:avLst/>
            </a:prstGeom>
            <a:solidFill>
              <a:srgbClr val="41B6C4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8" name="Google Shape;219;p21"/>
            <p:cNvSpPr/>
            <p:nvPr/>
          </p:nvSpPr>
          <p:spPr>
            <a:xfrm flipH="1">
              <a:off x="5829" y="8043"/>
              <a:ext cx="270" cy="260"/>
            </a:xfrm>
            <a:prstGeom prst="rect">
              <a:avLst/>
            </a:prstGeom>
            <a:solidFill>
              <a:srgbClr val="7FCDBB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Google Shape;223;p21"/>
            <p:cNvSpPr/>
            <p:nvPr/>
          </p:nvSpPr>
          <p:spPr>
            <a:xfrm flipH="1">
              <a:off x="5829" y="8303"/>
              <a:ext cx="270" cy="260"/>
            </a:xfrm>
            <a:prstGeom prst="rect">
              <a:avLst/>
            </a:prstGeom>
            <a:solidFill>
              <a:srgbClr val="C7E9B4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Google Shape;229;p21"/>
            <p:cNvSpPr/>
            <p:nvPr/>
          </p:nvSpPr>
          <p:spPr>
            <a:xfrm flipH="1">
              <a:off x="5829" y="8563"/>
              <a:ext cx="270" cy="260"/>
            </a:xfrm>
            <a:prstGeom prst="rect">
              <a:avLst/>
            </a:prstGeom>
            <a:solidFill>
              <a:srgbClr val="EDF8B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" name="Google Shape;234;p21"/>
            <p:cNvSpPr/>
            <p:nvPr/>
          </p:nvSpPr>
          <p:spPr>
            <a:xfrm flipH="1">
              <a:off x="5829" y="8823"/>
              <a:ext cx="270" cy="260"/>
            </a:xfrm>
            <a:prstGeom prst="rect">
              <a:avLst/>
            </a:prstGeom>
            <a:solidFill>
              <a:srgbClr val="FFFFD9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2" name="右箭头 71"/>
          <p:cNvSpPr/>
          <p:nvPr/>
        </p:nvSpPr>
        <p:spPr>
          <a:xfrm>
            <a:off x="3974465" y="3180398"/>
            <a:ext cx="176530" cy="220345"/>
          </a:xfrm>
          <a:prstGeom prst="rightArrow">
            <a:avLst/>
          </a:prstGeom>
          <a:solidFill>
            <a:srgbClr val="0C2C84">
              <a:alpha val="40000"/>
            </a:srgbClr>
          </a:solidFill>
          <a:ln>
            <a:solidFill>
              <a:srgbClr val="0C2C8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右箭头 74"/>
          <p:cNvSpPr/>
          <p:nvPr/>
        </p:nvSpPr>
        <p:spPr>
          <a:xfrm>
            <a:off x="4894580" y="3172778"/>
            <a:ext cx="176530" cy="220345"/>
          </a:xfrm>
          <a:prstGeom prst="rightArrow">
            <a:avLst/>
          </a:prstGeom>
          <a:solidFill>
            <a:srgbClr val="0C2C84">
              <a:alpha val="40000"/>
            </a:srgbClr>
          </a:solidFill>
          <a:ln>
            <a:solidFill>
              <a:srgbClr val="0C2C8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204970" y="4521200"/>
            <a:ext cx="240411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Binary crossentropy loss</a:t>
            </a:r>
            <a:endParaRPr lang="en-US" altLang="zh-CN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410835" y="3520758"/>
            <a:ext cx="66230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Sigmoid</a:t>
            </a:r>
            <a:endParaRPr lang="en-US" altLang="zh-CN" sz="9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" name="图片 5" descr="supplementary_figure_7b_adr_target_associ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2880"/>
            <a:ext cx="6858000" cy="1758315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46990" y="4254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a</a:t>
            </a:r>
            <a:endParaRPr lang="en-US" altLang="zh-CN" sz="1400" b="1">
              <a:latin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6990" y="191198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b</a:t>
            </a:r>
            <a:endParaRPr lang="en-US" altLang="zh-CN" sz="1400" b="1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4410" y="3087370"/>
            <a:ext cx="120142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800" b="1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194 pAC</a:t>
            </a:r>
            <a:r>
              <a:rPr lang="en-US" altLang="zh-CN" sz="800" b="1" baseline="-25000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50</a:t>
            </a:r>
            <a:endParaRPr lang="en-US" altLang="zh-CN" sz="800" b="1" baseline="-25000" dirty="0">
              <a:solidFill>
                <a:srgbClr val="1A4874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94410" y="3291840"/>
            <a:ext cx="173799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800" b="1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194 log</a:t>
            </a:r>
            <a:r>
              <a:rPr lang="en-US" altLang="zh-CN" sz="800" b="1" baseline="-25000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10</a:t>
            </a:r>
            <a:r>
              <a:rPr lang="en-US" altLang="zh-CN" sz="800" b="1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(C</a:t>
            </a:r>
            <a:r>
              <a:rPr lang="en-US" altLang="zh-CN" sz="800" b="1" baseline="-25000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max,free</a:t>
            </a:r>
            <a:r>
              <a:rPr lang="en-US" altLang="zh-CN" sz="800" b="1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/AC</a:t>
            </a:r>
            <a:r>
              <a:rPr lang="en-US" altLang="zh-CN" sz="800" b="1" baseline="-25000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50</a:t>
            </a:r>
            <a:r>
              <a:rPr lang="en-US" altLang="zh-CN" sz="800" b="1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)</a:t>
            </a:r>
            <a:endParaRPr lang="en-US" altLang="zh-CN" sz="800" b="1" dirty="0">
              <a:solidFill>
                <a:srgbClr val="1A4874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 rot="0">
            <a:off x="381635" y="2922905"/>
            <a:ext cx="672465" cy="333375"/>
            <a:chOff x="2186" y="8157"/>
            <a:chExt cx="1059" cy="525"/>
          </a:xfrm>
        </p:grpSpPr>
        <p:sp>
          <p:nvSpPr>
            <p:cNvPr id="26" name="矩形 25"/>
            <p:cNvSpPr/>
            <p:nvPr/>
          </p:nvSpPr>
          <p:spPr>
            <a:xfrm>
              <a:off x="2186" y="8461"/>
              <a:ext cx="214" cy="22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mongolianVert" bIns="71755"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2400" y="8461"/>
              <a:ext cx="214" cy="22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mongolianVert" bIns="71755"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2600" y="8461"/>
              <a:ext cx="214" cy="22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mongolianVert" bIns="71755"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2814" y="8461"/>
              <a:ext cx="214" cy="22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mongolianVert" bIns="71755"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3031" y="8461"/>
              <a:ext cx="214" cy="221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mongolianVert" bIns="71755"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3031" y="8157"/>
              <a:ext cx="214" cy="22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mongolianVert" bIns="71755"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 rot="0">
            <a:off x="381635" y="3324225"/>
            <a:ext cx="672465" cy="140335"/>
            <a:chOff x="2200" y="8977"/>
            <a:chExt cx="1059" cy="221"/>
          </a:xfrm>
        </p:grpSpPr>
        <p:sp>
          <p:nvSpPr>
            <p:cNvPr id="73" name="矩形 72"/>
            <p:cNvSpPr/>
            <p:nvPr/>
          </p:nvSpPr>
          <p:spPr>
            <a:xfrm>
              <a:off x="2200" y="8977"/>
              <a:ext cx="214" cy="2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mongolianVert" bIns="71755"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2414" y="8977"/>
              <a:ext cx="214" cy="22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mongolianVert" bIns="71755"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2614" y="8977"/>
              <a:ext cx="214" cy="2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mongolianVert" bIns="71755"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2828" y="8977"/>
              <a:ext cx="214" cy="22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mongolianVert" bIns="71755"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3045" y="8977"/>
              <a:ext cx="214" cy="2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mongolianVert" bIns="71755"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99" name="文本框 98"/>
          <p:cNvSpPr txBox="1"/>
          <p:nvPr/>
        </p:nvSpPr>
        <p:spPr>
          <a:xfrm>
            <a:off x="124460" y="3241675"/>
            <a:ext cx="330200" cy="31242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⊕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94410" y="2885440"/>
            <a:ext cx="173799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800" b="1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 1   log</a:t>
            </a:r>
            <a:r>
              <a:rPr lang="en-US" altLang="zh-CN" sz="800" b="1" baseline="-25000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10</a:t>
            </a:r>
            <a:r>
              <a:rPr lang="en-US" altLang="zh-CN" sz="800" b="1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(C</a:t>
            </a:r>
            <a:r>
              <a:rPr lang="en-US" altLang="zh-CN" sz="800" b="1" baseline="-25000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max,free</a:t>
            </a:r>
            <a:r>
              <a:rPr lang="en-US" altLang="zh-CN" sz="800" b="1" dirty="0">
                <a:solidFill>
                  <a:srgbClr val="1A4874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)</a:t>
            </a:r>
            <a:endParaRPr lang="en-US" altLang="zh-CN" sz="800" b="1" dirty="0">
              <a:solidFill>
                <a:srgbClr val="1A4874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24460" y="3033395"/>
            <a:ext cx="330200" cy="31242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⊕</a:t>
            </a:r>
            <a:endParaRPr lang="zh-CN" altLang="en-US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流程图: 多文档 101"/>
          <p:cNvSpPr/>
          <p:nvPr/>
        </p:nvSpPr>
        <p:spPr>
          <a:xfrm>
            <a:off x="5153025" y="3060701"/>
            <a:ext cx="622300" cy="444500"/>
          </a:xfrm>
          <a:prstGeom prst="flowChartMultidocumen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5056505" y="3106421"/>
            <a:ext cx="7099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 b="1">
                <a:latin typeface="微软雅黑" panose="020B0503020204020204" charset="-122"/>
                <a:ea typeface="微软雅黑" panose="020B0503020204020204" charset="-122"/>
              </a:rPr>
              <a:t> 18 SOC</a:t>
            </a:r>
            <a:endParaRPr lang="en-US" altLang="zh-CN" sz="10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000" b="1">
                <a:latin typeface="微软雅黑" panose="020B0503020204020204" charset="-122"/>
                <a:ea typeface="微软雅黑" panose="020B0503020204020204" charset="-122"/>
              </a:rPr>
              <a:t>head </a:t>
            </a:r>
            <a:endParaRPr lang="en-US" altLang="zh-CN" sz="1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4" name="直接箭头连接符 103"/>
          <p:cNvCxnSpPr/>
          <p:nvPr/>
        </p:nvCxnSpPr>
        <p:spPr>
          <a:xfrm flipH="1">
            <a:off x="5403215" y="3494088"/>
            <a:ext cx="1270" cy="29464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7" name="矩形 106"/>
          <p:cNvSpPr>
            <a:spLocks noGrp="1"/>
          </p:cNvSpPr>
          <p:nvPr/>
        </p:nvSpPr>
        <p:spPr>
          <a:xfrm>
            <a:off x="3082290" y="2562225"/>
            <a:ext cx="1562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20252B"/>
                </a:solidFill>
              </a:defRPr>
            </a:pPr>
            <a:r>
              <a:rPr sz="1000">
                <a:solidFill>
                  <a:srgbClr val="20252B"/>
                </a:solidFill>
                <a:latin typeface="微软雅黑" panose="020B0503020204020204" charset="-122"/>
                <a:ea typeface="微软雅黑" panose="020B0503020204020204" charset="-122"/>
              </a:rPr>
              <a:t>Pair </a:t>
            </a:r>
            <a:endParaRPr sz="1000">
              <a:solidFill>
                <a:srgbClr val="2025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defRPr sz="1575" b="1">
                <a:solidFill>
                  <a:srgbClr val="20252B"/>
                </a:solidFill>
              </a:defRPr>
            </a:pPr>
            <a:r>
              <a:rPr sz="1000">
                <a:solidFill>
                  <a:srgbClr val="20252B"/>
                </a:solidFill>
                <a:latin typeface="微软雅黑" panose="020B0503020204020204" charset="-122"/>
                <a:ea typeface="微软雅黑" panose="020B0503020204020204" charset="-122"/>
              </a:rPr>
              <a:t>representation</a:t>
            </a:r>
            <a:endParaRPr sz="1000">
              <a:solidFill>
                <a:srgbClr val="2025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soc-index"/>
          <p:cNvSpPr>
            <a:spLocks noGrp="1"/>
          </p:cNvSpPr>
          <p:nvPr/>
        </p:nvSpPr>
        <p:spPr>
          <a:xfrm>
            <a:off x="595630" y="4007485"/>
            <a:ext cx="803910" cy="174625"/>
          </a:xfrm>
          <a:prstGeom prst="roundRect">
            <a:avLst>
              <a:gd name="adj" fmla="val 16279"/>
            </a:avLst>
          </a:prstGeom>
          <a:noFill/>
          <a:ln w="1905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CE9EC"/>
                </a:solidFill>
              </a14:hiddenFill>
            </a:ext>
          </a:extLst>
        </p:spPr>
        <p:txBody>
          <a:bodyPr anchor="ctr"/>
          <a:lstStyle/>
          <a:p>
            <a:pPr algn="ctr">
              <a:defRPr sz="1500" b="1">
                <a:solidFill>
                  <a:srgbClr val="A83C49"/>
                </a:solidFill>
              </a:defRPr>
            </a:pPr>
            <a:r>
              <a:rPr sz="1000">
                <a:solidFill>
                  <a:srgbClr val="A83C49"/>
                </a:solidFill>
                <a:latin typeface="微软雅黑" panose="020B0503020204020204" charset="-122"/>
                <a:ea typeface="微软雅黑" panose="020B0503020204020204" charset="-122"/>
              </a:rPr>
              <a:t>SOC index</a:t>
            </a:r>
            <a:endParaRPr sz="1000">
              <a:solidFill>
                <a:srgbClr val="A83C4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defRPr sz="1500" b="1">
                <a:solidFill>
                  <a:srgbClr val="A83C49"/>
                </a:solidFill>
              </a:defRPr>
            </a:pPr>
            <a:r>
              <a:rPr sz="1000">
                <a:solidFill>
                  <a:srgbClr val="A83C49"/>
                </a:solidFill>
                <a:latin typeface="微软雅黑" panose="020B0503020204020204" charset="-122"/>
                <a:ea typeface="微软雅黑" panose="020B0503020204020204" charset="-122"/>
              </a:rPr>
              <a:t>1–18</a:t>
            </a:r>
            <a:endParaRPr sz="1000">
              <a:solidFill>
                <a:srgbClr val="A83C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4344670" y="4221480"/>
            <a:ext cx="209423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defRPr sz="1275" b="1">
                <a:solidFill>
                  <a:srgbClr val="806512"/>
                </a:solidFill>
              </a:defRPr>
            </a:pPr>
            <a:r>
              <a:rPr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Monotonic</a:t>
            </a:r>
            <a:r>
              <a:rPr 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pair loss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4187190" y="3869690"/>
            <a:ext cx="2426970" cy="398780"/>
            <a:chOff x="6598" y="9125"/>
            <a:chExt cx="3588" cy="628"/>
          </a:xfrm>
        </p:grpSpPr>
        <p:sp>
          <p:nvSpPr>
            <p:cNvPr id="101" name="圆角矩形 100"/>
            <p:cNvSpPr/>
            <p:nvPr/>
          </p:nvSpPr>
          <p:spPr>
            <a:xfrm>
              <a:off x="6748" y="9146"/>
              <a:ext cx="1424" cy="5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0" name="文本框 99"/>
            <p:cNvSpPr txBox="1">
              <a:spLocks noGrp="1"/>
            </p:cNvSpPr>
            <p:nvPr/>
          </p:nvSpPr>
          <p:spPr>
            <a:xfrm>
              <a:off x="6598" y="9125"/>
              <a:ext cx="1725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P(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ADR | drug,</a:t>
              </a:r>
              <a:r>
                <a:rPr lang="en-US" altLang="zh-CN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</a:t>
              </a:r>
              <a:r>
                <a:rPr sz="10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dose</a:t>
              </a:r>
              <a:r>
                <a:rPr sz="10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1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, SO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C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)</a:t>
              </a:r>
              <a:endParaRPr lang="en-US" altLang="zh-CN" sz="100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4" name="圆角矩形 113"/>
            <p:cNvSpPr/>
            <p:nvPr/>
          </p:nvSpPr>
          <p:spPr>
            <a:xfrm>
              <a:off x="8611" y="9146"/>
              <a:ext cx="1424" cy="5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文本框 112"/>
            <p:cNvSpPr txBox="1">
              <a:spLocks noGrp="1"/>
            </p:cNvSpPr>
            <p:nvPr/>
          </p:nvSpPr>
          <p:spPr>
            <a:xfrm>
              <a:off x="8461" y="9125"/>
              <a:ext cx="1725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P(ADR | drug,</a:t>
              </a:r>
              <a:r>
                <a:rPr lang="en-US" altLang="zh-CN" sz="10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</a:t>
              </a:r>
              <a:r>
                <a:rPr sz="10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dose 2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, SOC)</a:t>
              </a:r>
              <a:endParaRPr lang="en-US" altLang="zh-CN" sz="100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cxnSp>
          <p:nvCxnSpPr>
            <p:cNvPr id="116" name="直接箭头连接符 115"/>
            <p:cNvCxnSpPr>
              <a:stCxn id="114" idx="1"/>
              <a:endCxn id="101" idx="3"/>
            </p:cNvCxnSpPr>
            <p:nvPr/>
          </p:nvCxnSpPr>
          <p:spPr>
            <a:xfrm flipH="1">
              <a:off x="8172" y="9430"/>
              <a:ext cx="439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headEnd type="arrow" w="med" len="sm"/>
              <a:tailEnd type="arrow" w="med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本框 94"/>
              <p:cNvSpPr txBox="1"/>
              <p:nvPr/>
            </p:nvSpPr>
            <p:spPr>
              <a:xfrm>
                <a:off x="3453066" y="3800729"/>
                <a:ext cx="748030" cy="245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en-US" altLang="zh-CN" sz="1000" b="1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1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1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CN" sz="1000" b="1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𝒅</m:t>
                              </m:r>
                            </m:sub>
                          </m:sSub>
                          <m:r>
                            <a:rPr lang="en-US" altLang="zh-CN" sz="1000" b="1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 −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1000" b="1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000" b="1" i="1"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000" b="1" i="1"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US" altLang="zh-CN" sz="1000" b="1" i="1">
                                      <a:latin typeface="Cambria Math" panose="02040503050406030204" pitchFamily="18" charset="0"/>
                                      <a:ea typeface="微软雅黑" panose="020B0503020204020204" charset="-122"/>
                                      <a:cs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1000" b="1" i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95" name="文本框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066" y="3800729"/>
                <a:ext cx="748030" cy="245110"/>
              </a:xfrm>
              <a:prstGeom prst="rect">
                <a:avLst/>
              </a:prstGeom>
              <a:blipFill rotWithShape="1">
                <a:blip r:embed="rId7"/>
                <a:stretch>
                  <a:fillRect l="-76" t="-104" r="76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矩形 117"/>
          <p:cNvSpPr>
            <a:spLocks noGrp="1"/>
          </p:cNvSpPr>
          <p:nvPr/>
        </p:nvSpPr>
        <p:spPr>
          <a:xfrm>
            <a:off x="530860" y="2247900"/>
            <a:ext cx="169735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87C80"/>
                </a:solidFill>
              </a:defRPr>
            </a:pPr>
            <a:r>
              <a: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Feature construction</a:t>
            </a:r>
            <a:endParaRPr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矩形 118"/>
          <p:cNvSpPr>
            <a:spLocks noGrp="1"/>
          </p:cNvSpPr>
          <p:nvPr/>
        </p:nvSpPr>
        <p:spPr>
          <a:xfrm>
            <a:off x="2670175" y="2247900"/>
            <a:ext cx="196596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7566B0"/>
                </a:solidFill>
              </a:defRPr>
            </a:pPr>
            <a:r>
              <a: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Drug–SOC representation</a:t>
            </a:r>
            <a:endParaRPr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4596130" y="2247900"/>
            <a:ext cx="18453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2B6CB0"/>
                </a:solidFill>
              </a:defRPr>
            </a:pPr>
            <a:r>
              <a: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SOC-specific prediction</a:t>
            </a:r>
            <a:endParaRPr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0" name="组合 129"/>
          <p:cNvGrpSpPr/>
          <p:nvPr/>
        </p:nvGrpSpPr>
        <p:grpSpPr>
          <a:xfrm rot="0">
            <a:off x="306705" y="5700395"/>
            <a:ext cx="476250" cy="347980"/>
            <a:chOff x="1365" y="7980"/>
            <a:chExt cx="1170" cy="855"/>
          </a:xfrm>
        </p:grpSpPr>
        <p:sp>
          <p:nvSpPr>
            <p:cNvPr id="131" name="圆角矩形 130"/>
            <p:cNvSpPr>
              <a:spLocks noGrp="1"/>
            </p:cNvSpPr>
            <p:nvPr/>
          </p:nvSpPr>
          <p:spPr>
            <a:xfrm>
              <a:off x="1365" y="8055"/>
              <a:ext cx="1170" cy="78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9050">
              <a:solidFill>
                <a:srgbClr val="D95C6A"/>
              </a:solidFill>
              <a:prstDash val="solid"/>
            </a:ln>
          </p:spPr>
        </p:sp>
        <p:sp>
          <p:nvSpPr>
            <p:cNvPr id="132" name="圆角矩形 131"/>
            <p:cNvSpPr>
              <a:spLocks noGrp="1"/>
            </p:cNvSpPr>
            <p:nvPr/>
          </p:nvSpPr>
          <p:spPr>
            <a:xfrm>
              <a:off x="1785" y="7980"/>
              <a:ext cx="330" cy="150"/>
            </a:xfrm>
            <a:prstGeom prst="roundRect">
              <a:avLst>
                <a:gd name="adj" fmla="val 30000"/>
              </a:avLst>
            </a:prstGeom>
            <a:solidFill>
              <a:srgbClr val="D95C6A"/>
            </a:solidFill>
            <a:ln w="0">
              <a:solidFill>
                <a:srgbClr val="D95C6A"/>
              </a:solidFill>
              <a:prstDash val="solid"/>
            </a:ln>
          </p:spPr>
        </p:sp>
        <p:sp>
          <p:nvSpPr>
            <p:cNvPr id="133" name="矩形 132"/>
            <p:cNvSpPr>
              <a:spLocks noGrp="1"/>
            </p:cNvSpPr>
            <p:nvPr/>
          </p:nvSpPr>
          <p:spPr>
            <a:xfrm>
              <a:off x="1890" y="8250"/>
              <a:ext cx="120" cy="390"/>
            </a:xfrm>
            <a:prstGeom prst="rect">
              <a:avLst/>
            </a:prstGeom>
            <a:solidFill>
              <a:srgbClr val="D95C6A"/>
            </a:solidFill>
            <a:ln w="0">
              <a:solidFill>
                <a:srgbClr val="D95C6A"/>
              </a:solidFill>
              <a:prstDash val="solid"/>
            </a:ln>
          </p:spPr>
        </p:sp>
        <p:sp>
          <p:nvSpPr>
            <p:cNvPr id="134" name="矩形 133"/>
            <p:cNvSpPr>
              <a:spLocks noGrp="1"/>
            </p:cNvSpPr>
            <p:nvPr/>
          </p:nvSpPr>
          <p:spPr>
            <a:xfrm>
              <a:off x="1755" y="8385"/>
              <a:ext cx="390" cy="120"/>
            </a:xfrm>
            <a:prstGeom prst="rect">
              <a:avLst/>
            </a:prstGeom>
            <a:solidFill>
              <a:srgbClr val="D95C6A"/>
            </a:solidFill>
            <a:ln w="0">
              <a:solidFill>
                <a:srgbClr val="D95C6A"/>
              </a:solidFill>
              <a:prstDash val="solid"/>
            </a:ln>
          </p:spPr>
        </p:sp>
      </p:grpSp>
      <p:sp>
        <p:nvSpPr>
          <p:cNvPr id="135" name="矩形 134"/>
          <p:cNvSpPr>
            <a:spLocks noGrp="1"/>
          </p:cNvSpPr>
          <p:nvPr/>
        </p:nvSpPr>
        <p:spPr>
          <a:xfrm>
            <a:off x="3557270" y="5545455"/>
            <a:ext cx="2326640" cy="2901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A83C49"/>
                </a:solidFill>
              </a:defRPr>
            </a:pPr>
            <a:r>
              <a:rPr sz="1000">
                <a:solidFill>
                  <a:srgbClr val="A83C49"/>
                </a:solidFill>
                <a:latin typeface="微软雅黑" panose="020B0503020204020204" charset="-122"/>
                <a:ea typeface="微软雅黑" panose="020B0503020204020204" charset="-122"/>
              </a:rPr>
              <a:t>Clinical dose</a:t>
            </a:r>
            <a:r>
              <a:rPr lang="en-US" sz="1000">
                <a:solidFill>
                  <a:srgbClr val="A83C49"/>
                </a:solidFill>
                <a:latin typeface="微软雅黑" panose="020B0503020204020204" charset="-122"/>
                <a:ea typeface="微软雅黑" panose="020B0503020204020204" charset="-122"/>
              </a:rPr>
              <a:t> fine-tuning</a:t>
            </a:r>
            <a:endParaRPr lang="en-US" sz="1000">
              <a:solidFill>
                <a:srgbClr val="A83C4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矩形 140"/>
          <p:cNvSpPr>
            <a:spLocks noGrp="1"/>
          </p:cNvSpPr>
          <p:nvPr/>
        </p:nvSpPr>
        <p:spPr>
          <a:xfrm>
            <a:off x="4392930" y="4895850"/>
            <a:ext cx="133350" cy="1143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2" name="矩形 141"/>
          <p:cNvSpPr>
            <a:spLocks noGrp="1"/>
          </p:cNvSpPr>
          <p:nvPr/>
        </p:nvSpPr>
        <p:spPr>
          <a:xfrm>
            <a:off x="4573905" y="4895850"/>
            <a:ext cx="133350" cy="114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3" name="矩形 142"/>
          <p:cNvSpPr>
            <a:spLocks noGrp="1"/>
          </p:cNvSpPr>
          <p:nvPr/>
        </p:nvSpPr>
        <p:spPr>
          <a:xfrm>
            <a:off x="4754880" y="4895850"/>
            <a:ext cx="133350" cy="114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4" name="矩形 143"/>
          <p:cNvSpPr>
            <a:spLocks noGrp="1"/>
          </p:cNvSpPr>
          <p:nvPr/>
        </p:nvSpPr>
        <p:spPr>
          <a:xfrm>
            <a:off x="4935855" y="4895850"/>
            <a:ext cx="133350" cy="1143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5" name="矩形 144"/>
          <p:cNvSpPr>
            <a:spLocks noGrp="1"/>
          </p:cNvSpPr>
          <p:nvPr/>
        </p:nvSpPr>
        <p:spPr>
          <a:xfrm>
            <a:off x="4392930" y="5057775"/>
            <a:ext cx="133350" cy="114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4573905" y="5057775"/>
            <a:ext cx="133350" cy="114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7" name="矩形 146"/>
          <p:cNvSpPr>
            <a:spLocks noGrp="1"/>
          </p:cNvSpPr>
          <p:nvPr/>
        </p:nvSpPr>
        <p:spPr>
          <a:xfrm>
            <a:off x="4754880" y="5057775"/>
            <a:ext cx="133350" cy="1143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8" name="矩形 147"/>
          <p:cNvSpPr>
            <a:spLocks noGrp="1"/>
          </p:cNvSpPr>
          <p:nvPr/>
        </p:nvSpPr>
        <p:spPr>
          <a:xfrm>
            <a:off x="4935855" y="5057775"/>
            <a:ext cx="133350" cy="114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4392930" y="5219700"/>
            <a:ext cx="133350" cy="114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0" name="矩形 149"/>
          <p:cNvSpPr>
            <a:spLocks noGrp="1"/>
          </p:cNvSpPr>
          <p:nvPr/>
        </p:nvSpPr>
        <p:spPr>
          <a:xfrm>
            <a:off x="4573905" y="5219700"/>
            <a:ext cx="133350" cy="1143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1" name="矩形 150"/>
          <p:cNvSpPr>
            <a:spLocks noGrp="1"/>
          </p:cNvSpPr>
          <p:nvPr/>
        </p:nvSpPr>
        <p:spPr>
          <a:xfrm>
            <a:off x="4754880" y="5219700"/>
            <a:ext cx="133350" cy="114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4935855" y="5219700"/>
            <a:ext cx="133350" cy="114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3" name="矩形 152"/>
          <p:cNvSpPr>
            <a:spLocks noGrp="1"/>
          </p:cNvSpPr>
          <p:nvPr/>
        </p:nvSpPr>
        <p:spPr>
          <a:xfrm>
            <a:off x="5221605" y="494284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87C80"/>
                </a:solidFill>
              </a:defRPr>
            </a:pPr>
            <a:r>
              <a:rPr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Observed ADR labels</a:t>
            </a:r>
            <a:endParaRPr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defRPr sz="1425" b="1">
                <a:solidFill>
                  <a:srgbClr val="187C80"/>
                </a:solidFill>
              </a:defRPr>
            </a:pPr>
            <a:r>
              <a:rPr 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18 SOC</a:t>
            </a:r>
            <a:endParaRPr 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矩形 161"/>
          <p:cNvSpPr>
            <a:spLocks noGrp="1"/>
          </p:cNvSpPr>
          <p:nvPr/>
        </p:nvSpPr>
        <p:spPr>
          <a:xfrm>
            <a:off x="2159635" y="4482465"/>
            <a:ext cx="2466340" cy="335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8A6E0D"/>
                </a:solidFill>
              </a:defRPr>
            </a:pPr>
            <a:r>
              <a:rPr sz="1000">
                <a:solidFill>
                  <a:srgbClr val="8A6E0D"/>
                </a:solidFill>
                <a:latin typeface="微软雅黑" panose="020B0503020204020204" charset="-122"/>
                <a:ea typeface="微软雅黑" panose="020B0503020204020204" charset="-122"/>
              </a:rPr>
              <a:t>Dose augmentation</a:t>
            </a:r>
            <a:r>
              <a:rPr lang="en-US" sz="1000">
                <a:solidFill>
                  <a:srgbClr val="8A6E0D"/>
                </a:solidFill>
                <a:latin typeface="微软雅黑" panose="020B0503020204020204" charset="-122"/>
                <a:ea typeface="微软雅黑" panose="020B0503020204020204" charset="-122"/>
              </a:rPr>
              <a:t> training</a:t>
            </a:r>
            <a:endParaRPr lang="en-US" sz="1000">
              <a:solidFill>
                <a:srgbClr val="8A6E0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9" name="表格 168"/>
          <p:cNvGraphicFramePr/>
          <p:nvPr>
            <p:custDataLst>
              <p:tags r:id="rId8"/>
            </p:custDataLst>
          </p:nvPr>
        </p:nvGraphicFramePr>
        <p:xfrm>
          <a:off x="963930" y="4837430"/>
          <a:ext cx="2868295" cy="57404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237615"/>
                <a:gridCol w="407670"/>
                <a:gridCol w="407670"/>
                <a:gridCol w="407670"/>
                <a:gridCol w="407670"/>
              </a:tblGrid>
              <a:tr h="1435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1">
                          <a:solidFill>
                            <a:srgbClr val="8A6E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Reference </a:t>
                      </a:r>
                      <a:r>
                        <a:rPr sz="800" b="1">
                          <a:solidFill>
                            <a:srgbClr val="8A6E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dose </a:t>
                      </a:r>
                      <a:endParaRPr sz="800" b="1">
                        <a:solidFill>
                          <a:srgbClr val="8A6E0D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 anchorCtr="0"/>
                </a:tc>
                <a:tc gridSpan="4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solidFill>
                            <a:srgbClr val="8A6E0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Pseudo-dose multiplier</a:t>
                      </a:r>
                      <a:endParaRPr lang="en-US" altLang="zh-CN" sz="800" b="0">
                        <a:solidFill>
                          <a:srgbClr val="8A6E0D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 anchorCtr="0"/>
                </a:tc>
                <a:tc hMerge="1">
                  <a:tcPr marL="0" marR="0" marT="0" marB="0" anchor="ctr" anchorCtr="0"/>
                </a:tc>
                <a:tc hMerge="1">
                  <a:tcPr marL="0" marR="0" marT="0" marB="0" anchor="ctr" anchorCtr="0"/>
                </a:tc>
                <a:tc hMerge="1">
                  <a:tcPr marL="0" marR="0" marT="0" marB="0" anchor="ctr" anchorCtr="0"/>
                </a:tc>
              </a:tr>
              <a:tr h="1435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100 mg/day </a:t>
                      </a: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(1×)</a:t>
                      </a:r>
                      <a:endParaRPr lang="en-US" altLang="zh-CN" sz="800" b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0.25x</a:t>
                      </a:r>
                      <a:endParaRPr lang="en-US" altLang="zh-CN" sz="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0.5x</a:t>
                      </a:r>
                      <a:endParaRPr lang="en-US" altLang="zh-CN" sz="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2x</a:t>
                      </a:r>
                      <a:endParaRPr lang="en-US" altLang="zh-CN" sz="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4x</a:t>
                      </a:r>
                      <a:endParaRPr lang="en-US" altLang="zh-CN" sz="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  <a:tr h="1435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Observed positive: </a:t>
                      </a: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</a:t>
                      </a:r>
                      <a:endParaRPr lang="en-US" altLang="zh-CN" sz="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--</a:t>
                      </a:r>
                      <a:endParaRPr lang="en-US" altLang="zh-CN" sz="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0.75</a:t>
                      </a:r>
                      <a:endParaRPr lang="en-US" altLang="zh-CN" sz="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0.92</a:t>
                      </a:r>
                      <a:endParaRPr lang="en-US" altLang="zh-CN" sz="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0.96</a:t>
                      </a:r>
                      <a:endParaRPr lang="en-US" altLang="zh-CN" sz="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  <a:tr h="1435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Observed negative: </a:t>
                      </a:r>
                      <a:r>
                        <a:rPr lang="en-US" altLang="zh-CN" sz="8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0</a:t>
                      </a:r>
                      <a:endParaRPr lang="en-US" altLang="zh-CN" sz="8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0.02</a:t>
                      </a:r>
                      <a:endParaRPr lang="en-US" altLang="zh-CN" sz="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0.04</a:t>
                      </a:r>
                      <a:endParaRPr lang="en-US" altLang="zh-CN" sz="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0.18</a:t>
                      </a:r>
                      <a:endParaRPr lang="en-US" altLang="zh-CN" sz="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8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0.30</a:t>
                      </a:r>
                      <a:endParaRPr lang="en-US" altLang="zh-CN" sz="8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172" name="矩形 171"/>
          <p:cNvSpPr>
            <a:spLocks noGrp="1"/>
          </p:cNvSpPr>
          <p:nvPr/>
        </p:nvSpPr>
        <p:spPr>
          <a:xfrm>
            <a:off x="756285" y="5542915"/>
            <a:ext cx="3221990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20000"/>
              </a:lnSpc>
              <a:defRPr sz="1125" b="0">
                <a:solidFill>
                  <a:srgbClr val="66717C"/>
                </a:solidFill>
              </a:defRPr>
            </a:pPr>
            <a:r>
              <a:rPr sz="10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CT-ADE</a:t>
            </a:r>
            <a:r>
              <a:rPr lang="en-US" sz="1000" b="1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dataset</a:t>
            </a:r>
            <a:endParaRPr sz="1000" b="1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  <a:defRPr sz="1125" b="0">
                <a:solidFill>
                  <a:srgbClr val="66717C"/>
                </a:solidFill>
              </a:defRPr>
            </a:pPr>
            <a:r>
              <a:rPr sz="100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495 train · 64 validation</a:t>
            </a:r>
            <a:r>
              <a:rPr sz="100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· </a:t>
            </a:r>
            <a:r>
              <a:rPr sz="100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57</a:t>
            </a:r>
            <a:r>
              <a:rPr lang="en-US" sz="100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sz="100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test drugs</a:t>
            </a:r>
            <a:endParaRPr sz="100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3" name="组合 182"/>
          <p:cNvGrpSpPr/>
          <p:nvPr/>
        </p:nvGrpSpPr>
        <p:grpSpPr>
          <a:xfrm rot="20040000">
            <a:off x="213360" y="5013325"/>
            <a:ext cx="511810" cy="202565"/>
            <a:chOff x="-4920" y="13632"/>
            <a:chExt cx="1590" cy="618"/>
          </a:xfrm>
        </p:grpSpPr>
        <p:sp>
          <p:nvSpPr>
            <p:cNvPr id="178" name="椭圆 177"/>
            <p:cNvSpPr>
              <a:spLocks noGrp="1"/>
            </p:cNvSpPr>
            <p:nvPr/>
          </p:nvSpPr>
          <p:spPr>
            <a:xfrm rot="19680000">
              <a:off x="-4920" y="13980"/>
              <a:ext cx="270" cy="270"/>
            </a:xfrm>
            <a:prstGeom prst="ellipse">
              <a:avLst/>
            </a:prstGeom>
            <a:solidFill>
              <a:srgbClr val="C9A227"/>
            </a:solidFill>
            <a:ln w="0">
              <a:solidFill>
                <a:srgbClr val="C9A227"/>
              </a:solidFill>
              <a:prstDash val="solid"/>
            </a:ln>
          </p:spPr>
        </p:sp>
        <p:sp>
          <p:nvSpPr>
            <p:cNvPr id="179" name="椭圆 178"/>
            <p:cNvSpPr>
              <a:spLocks noGrp="1"/>
            </p:cNvSpPr>
            <p:nvPr/>
          </p:nvSpPr>
          <p:spPr>
            <a:xfrm rot="19680000">
              <a:off x="-4410" y="13812"/>
              <a:ext cx="360" cy="360"/>
            </a:xfrm>
            <a:prstGeom prst="ellipse">
              <a:avLst/>
            </a:prstGeom>
            <a:solidFill>
              <a:srgbClr val="C9A227"/>
            </a:solidFill>
            <a:ln w="0">
              <a:solidFill>
                <a:srgbClr val="C9A227"/>
              </a:solidFill>
              <a:prstDash val="solid"/>
            </a:ln>
          </p:spPr>
        </p:sp>
        <p:sp>
          <p:nvSpPr>
            <p:cNvPr id="180" name="椭圆 179"/>
            <p:cNvSpPr>
              <a:spLocks noGrp="1"/>
            </p:cNvSpPr>
            <p:nvPr/>
          </p:nvSpPr>
          <p:spPr>
            <a:xfrm rot="19680000">
              <a:off x="-3780" y="13632"/>
              <a:ext cx="450" cy="450"/>
            </a:xfrm>
            <a:prstGeom prst="ellipse">
              <a:avLst/>
            </a:prstGeom>
            <a:solidFill>
              <a:srgbClr val="C9A227"/>
            </a:solidFill>
            <a:ln w="0">
              <a:solidFill>
                <a:srgbClr val="C9A227"/>
              </a:solidFill>
              <a:prstDash val="solid"/>
            </a:ln>
          </p:spPr>
        </p:sp>
        <p:sp>
          <p:nvSpPr>
            <p:cNvPr id="181" name="直接连接符 180"/>
            <p:cNvSpPr>
              <a:spLocks noGrp="1"/>
            </p:cNvSpPr>
            <p:nvPr/>
          </p:nvSpPr>
          <p:spPr>
            <a:xfrm rot="19680000">
              <a:off x="-4695" y="13992"/>
              <a:ext cx="390" cy="120"/>
            </a:xfrm>
            <a:prstGeom prst="line">
              <a:avLst/>
            </a:prstGeom>
            <a:noFill/>
            <a:ln w="19050">
              <a:solidFill>
                <a:srgbClr val="C9A227"/>
              </a:solidFill>
              <a:prstDash val="solid"/>
            </a:ln>
          </p:spPr>
        </p:sp>
        <p:sp>
          <p:nvSpPr>
            <p:cNvPr id="182" name="直接连接符 181"/>
            <p:cNvSpPr>
              <a:spLocks noGrp="1"/>
            </p:cNvSpPr>
            <p:nvPr/>
          </p:nvSpPr>
          <p:spPr>
            <a:xfrm rot="19680000">
              <a:off x="-4095" y="13842"/>
              <a:ext cx="420" cy="135"/>
            </a:xfrm>
            <a:prstGeom prst="line">
              <a:avLst/>
            </a:prstGeom>
            <a:noFill/>
            <a:ln w="19050">
              <a:solidFill>
                <a:srgbClr val="C9A227"/>
              </a:solidFill>
              <a:prstDash val="solid"/>
            </a:ln>
          </p:spPr>
        </p:sp>
      </p:grpSp>
      <p:sp>
        <p:nvSpPr>
          <p:cNvPr id="187" name="文本框 186"/>
          <p:cNvSpPr txBox="1"/>
          <p:nvPr/>
        </p:nvSpPr>
        <p:spPr>
          <a:xfrm>
            <a:off x="194945" y="6224905"/>
            <a:ext cx="652907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defRPr sz="2400" b="1">
                <a:solidFill>
                  <a:srgbClr val="20252B"/>
                </a:solidFill>
              </a:defRPr>
            </a:pPr>
            <a:r>
              <a: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Dose-aware ADR modeling strategy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igure4c_soc_relationship_u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" y="7035800"/>
            <a:ext cx="6656705" cy="178308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106680" y="685673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f</a:t>
            </a:r>
            <a:endParaRPr lang="en-US" altLang="zh-CN" sz="1400" b="1">
              <a:latin typeface="+mn-ea"/>
            </a:endParaRPr>
          </a:p>
        </p:txBody>
      </p:sp>
      <p:pic>
        <p:nvPicPr>
          <p:cNvPr id="3" name="图片 2" descr="figure4c_umap_lege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" y="8695055"/>
            <a:ext cx="6788150" cy="320040"/>
          </a:xfrm>
          <a:prstGeom prst="rect">
            <a:avLst/>
          </a:prstGeom>
        </p:spPr>
      </p:pic>
      <p:pic>
        <p:nvPicPr>
          <p:cNvPr id="21" name="图片 20" descr="figure4b_heatmap_legend"/>
          <p:cNvPicPr>
            <a:picLocks noChangeAspect="1"/>
          </p:cNvPicPr>
          <p:nvPr/>
        </p:nvPicPr>
        <p:blipFill>
          <a:blip r:embed="rId3"/>
          <a:srcRect t="10521" r="63775" b="4917"/>
          <a:stretch>
            <a:fillRect/>
          </a:stretch>
        </p:blipFill>
        <p:spPr>
          <a:xfrm>
            <a:off x="5149850" y="6692900"/>
            <a:ext cx="1518920" cy="346075"/>
          </a:xfrm>
          <a:prstGeom prst="rect">
            <a:avLst/>
          </a:prstGeom>
        </p:spPr>
      </p:pic>
      <p:pic>
        <p:nvPicPr>
          <p:cNvPr id="4" name="图片 3" descr="figure4a_roc_18so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5" y="2338705"/>
            <a:ext cx="4102735" cy="4477385"/>
          </a:xfrm>
          <a:prstGeom prst="rect">
            <a:avLst/>
          </a:prstGeom>
        </p:spPr>
      </p:pic>
      <p:pic>
        <p:nvPicPr>
          <p:cNvPr id="8" name="图片 7" descr="figure4a_roc_legend"/>
          <p:cNvPicPr>
            <a:picLocks noChangeAspect="1"/>
          </p:cNvPicPr>
          <p:nvPr/>
        </p:nvPicPr>
        <p:blipFill>
          <a:blip r:embed="rId5"/>
          <a:srcRect t="13554" r="71943" b="-2553"/>
          <a:stretch>
            <a:fillRect/>
          </a:stretch>
        </p:blipFill>
        <p:spPr>
          <a:xfrm>
            <a:off x="1464310" y="6727190"/>
            <a:ext cx="1345565" cy="22098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4204970" y="6649085"/>
            <a:ext cx="821690" cy="351790"/>
            <a:chOff x="17926" y="11007"/>
            <a:chExt cx="1463" cy="626"/>
          </a:xfrm>
        </p:grpSpPr>
        <p:pic>
          <p:nvPicPr>
            <p:cNvPr id="9" name="图片 8" descr="figure4b_heatmap_legend"/>
            <p:cNvPicPr>
              <a:picLocks noChangeAspect="1"/>
            </p:cNvPicPr>
            <p:nvPr/>
          </p:nvPicPr>
          <p:blipFill>
            <a:blip r:embed="rId3"/>
            <a:srcRect l="75048" t="14166" r="15184" b="62412"/>
            <a:stretch>
              <a:fillRect/>
            </a:stretch>
          </p:blipFill>
          <p:spPr>
            <a:xfrm>
              <a:off x="17937" y="11201"/>
              <a:ext cx="992" cy="232"/>
            </a:xfrm>
            <a:prstGeom prst="rect">
              <a:avLst/>
            </a:prstGeom>
          </p:spPr>
        </p:pic>
        <p:pic>
          <p:nvPicPr>
            <p:cNvPr id="10" name="图片 9" descr="figure4b_heatmap_legend"/>
            <p:cNvPicPr>
              <a:picLocks noChangeAspect="1"/>
            </p:cNvPicPr>
            <p:nvPr/>
          </p:nvPicPr>
          <p:blipFill>
            <a:blip r:embed="rId3"/>
            <a:srcRect l="85919" t="16589" r="168" b="61604"/>
            <a:stretch>
              <a:fillRect/>
            </a:stretch>
          </p:blipFill>
          <p:spPr>
            <a:xfrm>
              <a:off x="17977" y="11417"/>
              <a:ext cx="1413" cy="216"/>
            </a:xfrm>
            <a:prstGeom prst="rect">
              <a:avLst/>
            </a:prstGeom>
          </p:spPr>
        </p:pic>
        <p:pic>
          <p:nvPicPr>
            <p:cNvPr id="25" name="图片 24" descr="figure4b_heatmap_legend"/>
            <p:cNvPicPr>
              <a:picLocks noChangeAspect="1"/>
            </p:cNvPicPr>
            <p:nvPr/>
          </p:nvPicPr>
          <p:blipFill>
            <a:blip r:embed="rId3"/>
            <a:srcRect l="63754" t="14772" r="25897" b="60797"/>
            <a:stretch>
              <a:fillRect/>
            </a:stretch>
          </p:blipFill>
          <p:spPr>
            <a:xfrm>
              <a:off x="17926" y="11007"/>
              <a:ext cx="1051" cy="242"/>
            </a:xfrm>
            <a:prstGeom prst="rect">
              <a:avLst/>
            </a:prstGeom>
          </p:spPr>
        </p:pic>
      </p:grpSp>
      <p:pic>
        <p:nvPicPr>
          <p:cNvPr id="6" name="图片 5" descr="figure4a_roc_legend"/>
          <p:cNvPicPr>
            <a:picLocks noChangeAspect="1"/>
          </p:cNvPicPr>
          <p:nvPr/>
        </p:nvPicPr>
        <p:blipFill>
          <a:blip r:embed="rId5"/>
          <a:srcRect l="28269" t="5371" r="11381" b="-2553"/>
          <a:stretch>
            <a:fillRect/>
          </a:stretch>
        </p:blipFill>
        <p:spPr>
          <a:xfrm>
            <a:off x="808355" y="6859270"/>
            <a:ext cx="2894330" cy="241300"/>
          </a:xfrm>
          <a:prstGeom prst="rect">
            <a:avLst/>
          </a:prstGeom>
        </p:spPr>
      </p:pic>
      <p:pic>
        <p:nvPicPr>
          <p:cNvPr id="13" name="图片 12" descr="figure4b_observed_prediction_heatma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8450" y="2249170"/>
            <a:ext cx="2749550" cy="4438015"/>
          </a:xfrm>
          <a:prstGeom prst="rect">
            <a:avLst/>
          </a:prstGeom>
        </p:spPr>
      </p:pic>
      <p:pic>
        <p:nvPicPr>
          <p:cNvPr id="5" name="图片 4" descr="figure4_model_comparison_and_clinical_finetun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5" y="232410"/>
            <a:ext cx="6720840" cy="197802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11760" y="210439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d</a:t>
            </a:r>
            <a:endParaRPr lang="en-US" altLang="zh-CN" sz="1400" b="1">
              <a:latin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940810" y="210439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e</a:t>
            </a:r>
            <a:endParaRPr lang="en-US" altLang="zh-CN" sz="1400" b="1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1760" y="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a</a:t>
            </a:r>
            <a:endParaRPr lang="en-US" altLang="zh-CN" sz="1400" b="1">
              <a:latin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95220" y="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b</a:t>
            </a:r>
            <a:endParaRPr lang="en-US" altLang="zh-CN" sz="1400" b="1"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78680" y="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c</a:t>
            </a:r>
            <a:endParaRPr lang="en-US" altLang="zh-CN" sz="1400" b="1"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5347970" y="1884680"/>
            <a:ext cx="323215" cy="29317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Segoe UI Semibold" panose="020B0702040204020203" charset="0"/>
              <a:cs typeface="Segoe UI Semibold" panose="020B0702040204020203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594042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lvl="0" algn="l">
              <a:buClrTx/>
              <a:buSzTx/>
              <a:buFontTx/>
            </a:pPr>
            <a:r>
              <a:rPr lang="en-US" altLang="zh-CN" sz="1400" b="1">
                <a:latin typeface="+mn-ea"/>
                <a:sym typeface="+mn-ea"/>
              </a:rPr>
              <a:t>c</a:t>
            </a:r>
            <a:endParaRPr lang="en-US" altLang="zh-CN" sz="1400" b="1">
              <a:latin typeface="+mn-ea"/>
              <a:sym typeface="+mn-ea"/>
            </a:endParaRPr>
          </a:p>
        </p:txBody>
      </p:sp>
      <p:pic>
        <p:nvPicPr>
          <p:cNvPr id="37" name="图片 36" descr="figure5_candesarta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7890" y="6087745"/>
            <a:ext cx="3166745" cy="3938270"/>
          </a:xfrm>
          <a:prstGeom prst="rect">
            <a:avLst/>
          </a:prstGeom>
        </p:spPr>
      </p:pic>
      <p:pic>
        <p:nvPicPr>
          <p:cNvPr id="38" name="图片 37" descr="figure5_case_lege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" y="9930765"/>
            <a:ext cx="5288280" cy="457200"/>
          </a:xfrm>
          <a:prstGeom prst="rect">
            <a:avLst/>
          </a:prstGeom>
        </p:spPr>
      </p:pic>
      <p:pic>
        <p:nvPicPr>
          <p:cNvPr id="39" name="图片 38" descr="figure5_citalop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180" y="1929765"/>
            <a:ext cx="3005455" cy="3938270"/>
          </a:xfrm>
          <a:prstGeom prst="rect">
            <a:avLst/>
          </a:prstGeom>
        </p:spPr>
      </p:pic>
      <p:pic>
        <p:nvPicPr>
          <p:cNvPr id="42" name="图片 41" descr="figure5_meclofenamic_ac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35" y="1929765"/>
            <a:ext cx="2968625" cy="3938270"/>
          </a:xfrm>
          <a:prstGeom prst="rect">
            <a:avLst/>
          </a:prstGeom>
        </p:spPr>
      </p:pic>
      <p:pic>
        <p:nvPicPr>
          <p:cNvPr id="43" name="图片 42" descr="figure5_spironolacto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35" y="6087745"/>
            <a:ext cx="3005455" cy="3938270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3593465" y="597281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lvl="0" algn="l">
              <a:buClrTx/>
              <a:buSzTx/>
              <a:buFontTx/>
            </a:pPr>
            <a:r>
              <a:rPr lang="en-US" altLang="zh-CN" sz="1400" b="1">
                <a:latin typeface="+mn-ea"/>
                <a:sym typeface="+mn-ea"/>
              </a:rPr>
              <a:t>d</a:t>
            </a:r>
            <a:endParaRPr lang="en-US" altLang="zh-CN" sz="1400" b="1">
              <a:latin typeface="+mn-ea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0800" y="185674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lvl="0" algn="l">
              <a:buClrTx/>
              <a:buSzTx/>
              <a:buFontTx/>
            </a:pPr>
            <a:r>
              <a:rPr lang="en-US" altLang="zh-CN" sz="1400" b="1">
                <a:latin typeface="+mn-ea"/>
                <a:sym typeface="+mn-ea"/>
              </a:rPr>
              <a:t>a</a:t>
            </a:r>
            <a:endParaRPr lang="en-US" altLang="zh-CN" sz="1400" b="1">
              <a:latin typeface="+mn-ea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593465" y="185674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lvl="0" algn="l">
              <a:buClrTx/>
              <a:buSzTx/>
              <a:buFontTx/>
            </a:pPr>
            <a:r>
              <a:rPr lang="en-US" altLang="zh-CN" sz="1400" b="1">
                <a:latin typeface="+mn-ea"/>
                <a:sym typeface="+mn-ea"/>
              </a:rPr>
              <a:t>b</a:t>
            </a:r>
            <a:endParaRPr lang="en-US" altLang="zh-CN" sz="1400" b="1"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矩形: 圆角 717"/>
          <p:cNvSpPr/>
          <p:nvPr/>
        </p:nvSpPr>
        <p:spPr>
          <a:xfrm>
            <a:off x="2075180" y="6977063"/>
            <a:ext cx="2244090" cy="26409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4" name="组合 683"/>
          <p:cNvGrpSpPr/>
          <p:nvPr/>
        </p:nvGrpSpPr>
        <p:grpSpPr>
          <a:xfrm>
            <a:off x="2844136" y="7827975"/>
            <a:ext cx="825440" cy="857231"/>
            <a:chOff x="2814295" y="6710397"/>
            <a:chExt cx="825440" cy="857231"/>
          </a:xfrm>
          <a:solidFill>
            <a:schemeClr val="bg1"/>
          </a:solidFill>
        </p:grpSpPr>
        <p:grpSp>
          <p:nvGrpSpPr>
            <p:cNvPr id="685" name="组合 684"/>
            <p:cNvGrpSpPr/>
            <p:nvPr/>
          </p:nvGrpSpPr>
          <p:grpSpPr>
            <a:xfrm rot="5400000">
              <a:off x="2881778" y="6642914"/>
              <a:ext cx="690473" cy="825440"/>
              <a:chOff x="6865" y="6366"/>
              <a:chExt cx="1521" cy="1818"/>
            </a:xfrm>
            <a:grpFill/>
          </p:grpSpPr>
          <p:grpSp>
            <p:nvGrpSpPr>
              <p:cNvPr id="691" name="组合 690"/>
              <p:cNvGrpSpPr/>
              <p:nvPr/>
            </p:nvGrpSpPr>
            <p:grpSpPr>
              <a:xfrm>
                <a:off x="6865" y="6366"/>
                <a:ext cx="1519" cy="1454"/>
                <a:chOff x="6866" y="6368"/>
                <a:chExt cx="2227" cy="2012"/>
              </a:xfrm>
              <a:grpFill/>
            </p:grpSpPr>
            <p:grpSp>
              <p:nvGrpSpPr>
                <p:cNvPr id="696" name="Google Shape;211;p21"/>
                <p:cNvGrpSpPr/>
                <p:nvPr/>
              </p:nvGrpSpPr>
              <p:grpSpPr>
                <a:xfrm>
                  <a:off x="6866" y="6368"/>
                  <a:ext cx="2225" cy="2012"/>
                  <a:chOff x="3435100" y="1168125"/>
                  <a:chExt cx="2324040" cy="2135834"/>
                </a:xfrm>
                <a:grpFill/>
              </p:grpSpPr>
              <p:sp>
                <p:nvSpPr>
                  <p:cNvPr id="698" name="Google Shape;214;p21"/>
                  <p:cNvSpPr/>
                  <p:nvPr/>
                </p:nvSpPr>
                <p:spPr>
                  <a:xfrm flipH="1">
                    <a:off x="3435100" y="1168125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99" name="Google Shape;215;p21"/>
                  <p:cNvSpPr/>
                  <p:nvPr/>
                </p:nvSpPr>
                <p:spPr>
                  <a:xfrm flipH="1">
                    <a:off x="4015900" y="1168125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00" name="Google Shape;216;p21"/>
                  <p:cNvSpPr/>
                  <p:nvPr/>
                </p:nvSpPr>
                <p:spPr>
                  <a:xfrm flipH="1">
                    <a:off x="4596700" y="1168125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01" name="Google Shape;218;p21"/>
                  <p:cNvSpPr/>
                  <p:nvPr/>
                </p:nvSpPr>
                <p:spPr>
                  <a:xfrm flipH="1">
                    <a:off x="4596570" y="2231635"/>
                    <a:ext cx="581500" cy="539100"/>
                  </a:xfrm>
                  <a:prstGeom prst="rect">
                    <a:avLst/>
                  </a:prstGeom>
                  <a:solidFill>
                    <a:srgbClr val="0070C0"/>
                  </a:solidFill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02" name="Google Shape;219;p21"/>
                  <p:cNvSpPr/>
                  <p:nvPr/>
                </p:nvSpPr>
                <p:spPr>
                  <a:xfrm flipH="1">
                    <a:off x="3435100" y="1700925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03" name="Google Shape;220;p21"/>
                  <p:cNvSpPr/>
                  <p:nvPr/>
                </p:nvSpPr>
                <p:spPr>
                  <a:xfrm flipH="1">
                    <a:off x="4015900" y="1700925"/>
                    <a:ext cx="580800" cy="5328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04" name="Google Shape;221;p21"/>
                  <p:cNvSpPr/>
                  <p:nvPr/>
                </p:nvSpPr>
                <p:spPr>
                  <a:xfrm flipH="1">
                    <a:off x="4596700" y="1700925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05" name="Google Shape;223;p21"/>
                  <p:cNvSpPr/>
                  <p:nvPr/>
                </p:nvSpPr>
                <p:spPr>
                  <a:xfrm flipH="1">
                    <a:off x="3435940" y="2236437"/>
                    <a:ext cx="580800" cy="532800"/>
                  </a:xfrm>
                  <a:prstGeom prst="rect">
                    <a:avLst/>
                  </a:prstGeom>
                  <a:solidFill>
                    <a:srgbClr val="0070C0"/>
                  </a:solidFill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06" name="Google Shape;225;p21"/>
                  <p:cNvSpPr/>
                  <p:nvPr/>
                </p:nvSpPr>
                <p:spPr>
                  <a:xfrm flipH="1">
                    <a:off x="4015900" y="2235375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07" name="Google Shape;229;p21"/>
                  <p:cNvSpPr/>
                  <p:nvPr/>
                </p:nvSpPr>
                <p:spPr>
                  <a:xfrm flipH="1">
                    <a:off x="3435100" y="2769266"/>
                    <a:ext cx="581500" cy="534693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08" name="Google Shape;231;p21"/>
                  <p:cNvSpPr/>
                  <p:nvPr/>
                </p:nvSpPr>
                <p:spPr>
                  <a:xfrm flipH="1">
                    <a:off x="4596570" y="2769266"/>
                    <a:ext cx="581500" cy="534693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09" name="Google Shape;233;p21"/>
                  <p:cNvSpPr/>
                  <p:nvPr/>
                </p:nvSpPr>
                <p:spPr>
                  <a:xfrm flipH="1">
                    <a:off x="4015070" y="2767797"/>
                    <a:ext cx="581500" cy="536162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10" name="Google Shape;234;p21"/>
                  <p:cNvSpPr/>
                  <p:nvPr/>
                </p:nvSpPr>
                <p:spPr>
                  <a:xfrm flipH="1">
                    <a:off x="5177931" y="1168848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11" name="Google Shape;235;p21"/>
                  <p:cNvSpPr/>
                  <p:nvPr/>
                </p:nvSpPr>
                <p:spPr>
                  <a:xfrm flipH="1">
                    <a:off x="5178135" y="1704032"/>
                    <a:ext cx="580800" cy="5328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12" name="Google Shape;236;p21"/>
                  <p:cNvSpPr/>
                  <p:nvPr/>
                </p:nvSpPr>
                <p:spPr>
                  <a:xfrm flipH="1">
                    <a:off x="5178340" y="2237093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697" name="Google Shape;236;p21"/>
                <p:cNvSpPr/>
                <p:nvPr/>
              </p:nvSpPr>
              <p:spPr>
                <a:xfrm flipH="1">
                  <a:off x="8536" y="7873"/>
                  <a:ext cx="557" cy="50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692" name="Google Shape;234;p21"/>
              <p:cNvSpPr/>
              <p:nvPr/>
            </p:nvSpPr>
            <p:spPr>
              <a:xfrm flipH="1">
                <a:off x="6867" y="7821"/>
                <a:ext cx="378" cy="363"/>
              </a:xfrm>
              <a:prstGeom prst="rect">
                <a:avLst/>
              </a:prstGeom>
              <a:grpFill/>
              <a:ln w="9525" cap="flat" cmpd="sng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3" name="Google Shape;234;p21"/>
              <p:cNvSpPr/>
              <p:nvPr/>
            </p:nvSpPr>
            <p:spPr>
              <a:xfrm flipH="1">
                <a:off x="7244" y="7821"/>
                <a:ext cx="384" cy="363"/>
              </a:xfrm>
              <a:prstGeom prst="rect">
                <a:avLst/>
              </a:prstGeom>
              <a:solidFill>
                <a:srgbClr val="0070C0"/>
              </a:solidFill>
              <a:ln w="9525" cap="flat" cmpd="sng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4" name="Google Shape;234;p21"/>
              <p:cNvSpPr/>
              <p:nvPr/>
            </p:nvSpPr>
            <p:spPr>
              <a:xfrm flipH="1">
                <a:off x="7628" y="7821"/>
                <a:ext cx="380" cy="363"/>
              </a:xfrm>
              <a:prstGeom prst="rect">
                <a:avLst/>
              </a:prstGeom>
              <a:grpFill/>
              <a:ln w="9525" cap="flat" cmpd="sng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5" name="Google Shape;234;p21"/>
              <p:cNvSpPr/>
              <p:nvPr/>
            </p:nvSpPr>
            <p:spPr>
              <a:xfrm flipH="1">
                <a:off x="8006" y="7821"/>
                <a:ext cx="380" cy="363"/>
              </a:xfrm>
              <a:prstGeom prst="rect">
                <a:avLst/>
              </a:prstGeom>
              <a:grpFill/>
              <a:ln w="9525" cap="flat" cmpd="sng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686" name="Google Shape;234;p21"/>
            <p:cNvSpPr/>
            <p:nvPr/>
          </p:nvSpPr>
          <p:spPr>
            <a:xfrm rot="5400000" flipH="1">
              <a:off x="3471082" y="7397550"/>
              <a:ext cx="172174" cy="164684"/>
            </a:xfrm>
            <a:prstGeom prst="rect">
              <a:avLst/>
            </a:prstGeom>
            <a:solidFill>
              <a:srgbClr val="0070C0"/>
            </a:solidFill>
            <a:ln w="9525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235;p21"/>
            <p:cNvSpPr/>
            <p:nvPr/>
          </p:nvSpPr>
          <p:spPr>
            <a:xfrm rot="5400000" flipH="1">
              <a:off x="3305661" y="7397611"/>
              <a:ext cx="172174" cy="164684"/>
            </a:xfrm>
            <a:prstGeom prst="rect">
              <a:avLst/>
            </a:prstGeom>
            <a:grp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236;p21"/>
            <p:cNvSpPr/>
            <p:nvPr/>
          </p:nvSpPr>
          <p:spPr>
            <a:xfrm rot="5400000" flipH="1">
              <a:off x="3140896" y="7397672"/>
              <a:ext cx="172174" cy="164684"/>
            </a:xfrm>
            <a:prstGeom prst="rect">
              <a:avLst/>
            </a:prstGeom>
            <a:grp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236;p21"/>
            <p:cNvSpPr/>
            <p:nvPr/>
          </p:nvSpPr>
          <p:spPr>
            <a:xfrm rot="5400000" flipH="1">
              <a:off x="2976836" y="7397637"/>
              <a:ext cx="172469" cy="165699"/>
            </a:xfrm>
            <a:prstGeom prst="rect">
              <a:avLst/>
            </a:prstGeom>
            <a:grp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0" name="Google Shape;234;p21"/>
            <p:cNvSpPr/>
            <p:nvPr/>
          </p:nvSpPr>
          <p:spPr>
            <a:xfrm rot="5400000" flipH="1">
              <a:off x="2810450" y="7398968"/>
              <a:ext cx="172505" cy="1648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51" name="矩形: 圆角 650"/>
          <p:cNvSpPr/>
          <p:nvPr/>
        </p:nvSpPr>
        <p:spPr>
          <a:xfrm>
            <a:off x="2613588" y="7059111"/>
            <a:ext cx="1358265" cy="46037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9" name="组合 198"/>
          <p:cNvGrpSpPr/>
          <p:nvPr/>
        </p:nvGrpSpPr>
        <p:grpSpPr>
          <a:xfrm>
            <a:off x="1031311" y="2678763"/>
            <a:ext cx="1151244" cy="1035339"/>
            <a:chOff x="1564826" y="2108695"/>
            <a:chExt cx="1151244" cy="1035339"/>
          </a:xfrm>
        </p:grpSpPr>
        <p:grpSp>
          <p:nvGrpSpPr>
            <p:cNvPr id="8" name="组合 7"/>
            <p:cNvGrpSpPr/>
            <p:nvPr/>
          </p:nvGrpSpPr>
          <p:grpSpPr>
            <a:xfrm rot="5400000">
              <a:off x="1709032" y="2136996"/>
              <a:ext cx="862832" cy="1151243"/>
              <a:chOff x="10441" y="1968"/>
              <a:chExt cx="1901" cy="2536"/>
            </a:xfrm>
          </p:grpSpPr>
          <p:grpSp>
            <p:nvGrpSpPr>
              <p:cNvPr id="132" name="组合 131"/>
              <p:cNvGrpSpPr/>
              <p:nvPr/>
            </p:nvGrpSpPr>
            <p:grpSpPr>
              <a:xfrm>
                <a:off x="10441" y="2331"/>
                <a:ext cx="1899" cy="2173"/>
                <a:chOff x="9208" y="5783"/>
                <a:chExt cx="1899" cy="2173"/>
              </a:xfrm>
            </p:grpSpPr>
            <p:grpSp>
              <p:nvGrpSpPr>
                <p:cNvPr id="138" name="组合 137"/>
                <p:cNvGrpSpPr/>
                <p:nvPr/>
              </p:nvGrpSpPr>
              <p:grpSpPr>
                <a:xfrm>
                  <a:off x="9208" y="6144"/>
                  <a:ext cx="1899" cy="1812"/>
                  <a:chOff x="6867" y="6367"/>
                  <a:chExt cx="1899" cy="1812"/>
                </a:xfrm>
              </p:grpSpPr>
              <p:grpSp>
                <p:nvGrpSpPr>
                  <p:cNvPr id="144" name="组合 143"/>
                  <p:cNvGrpSpPr/>
                  <p:nvPr/>
                </p:nvGrpSpPr>
                <p:grpSpPr>
                  <a:xfrm>
                    <a:off x="6867" y="6367"/>
                    <a:ext cx="1519" cy="1452"/>
                    <a:chOff x="6867" y="6367"/>
                    <a:chExt cx="2226" cy="2009"/>
                  </a:xfrm>
                </p:grpSpPr>
                <p:grpSp>
                  <p:nvGrpSpPr>
                    <p:cNvPr id="154" name="Google Shape;211;p21"/>
                    <p:cNvGrpSpPr/>
                    <p:nvPr/>
                  </p:nvGrpSpPr>
                  <p:grpSpPr>
                    <a:xfrm>
                      <a:off x="6867" y="6367"/>
                      <a:ext cx="2226" cy="2005"/>
                      <a:chOff x="3435100" y="1168125"/>
                      <a:chExt cx="2324435" cy="2128929"/>
                    </a:xfrm>
                  </p:grpSpPr>
                  <p:sp>
                    <p:nvSpPr>
                      <p:cNvPr id="156" name="Google Shape;214;p21"/>
                      <p:cNvSpPr/>
                      <p:nvPr/>
                    </p:nvSpPr>
                    <p:spPr>
                      <a:xfrm flipH="1">
                        <a:off x="3435100" y="1168125"/>
                        <a:ext cx="580800" cy="532800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57" name="Google Shape;215;p21"/>
                      <p:cNvSpPr/>
                      <p:nvPr/>
                    </p:nvSpPr>
                    <p:spPr>
                      <a:xfrm flipH="1">
                        <a:off x="4015900" y="1168125"/>
                        <a:ext cx="580800" cy="532800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58" name="Google Shape;216;p21"/>
                      <p:cNvSpPr/>
                      <p:nvPr/>
                    </p:nvSpPr>
                    <p:spPr>
                      <a:xfrm flipH="1">
                        <a:off x="4596700" y="1168125"/>
                        <a:ext cx="580800" cy="532800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59" name="Google Shape;218;p21"/>
                      <p:cNvSpPr/>
                      <p:nvPr/>
                    </p:nvSpPr>
                    <p:spPr>
                      <a:xfrm flipH="1">
                        <a:off x="4598083" y="2230385"/>
                        <a:ext cx="578431" cy="536273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60" name="Google Shape;219;p21"/>
                      <p:cNvSpPr/>
                      <p:nvPr/>
                    </p:nvSpPr>
                    <p:spPr>
                      <a:xfrm flipH="1">
                        <a:off x="3435100" y="1700925"/>
                        <a:ext cx="580800" cy="532800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61" name="Google Shape;220;p21"/>
                      <p:cNvSpPr/>
                      <p:nvPr/>
                    </p:nvSpPr>
                    <p:spPr>
                      <a:xfrm flipH="1">
                        <a:off x="4015900" y="1700925"/>
                        <a:ext cx="580800" cy="532800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62" name="Google Shape;221;p21"/>
                      <p:cNvSpPr/>
                      <p:nvPr/>
                    </p:nvSpPr>
                    <p:spPr>
                      <a:xfrm flipH="1">
                        <a:off x="4596552" y="1701459"/>
                        <a:ext cx="581491" cy="533334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63" name="Google Shape;223;p21"/>
                      <p:cNvSpPr/>
                      <p:nvPr/>
                    </p:nvSpPr>
                    <p:spPr>
                      <a:xfrm flipH="1">
                        <a:off x="3435940" y="2230561"/>
                        <a:ext cx="580800" cy="532800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64" name="Google Shape;225;p21"/>
                      <p:cNvSpPr/>
                      <p:nvPr/>
                    </p:nvSpPr>
                    <p:spPr>
                      <a:xfrm flipH="1">
                        <a:off x="4017430" y="2230968"/>
                        <a:ext cx="580800" cy="532800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65" name="Google Shape;229;p21"/>
                      <p:cNvSpPr/>
                      <p:nvPr/>
                    </p:nvSpPr>
                    <p:spPr>
                      <a:xfrm flipH="1">
                        <a:off x="3436630" y="2763949"/>
                        <a:ext cx="580800" cy="532800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66" name="Google Shape;231;p21"/>
                      <p:cNvSpPr/>
                      <p:nvPr/>
                    </p:nvSpPr>
                    <p:spPr>
                      <a:xfrm flipH="1">
                        <a:off x="4596552" y="2763720"/>
                        <a:ext cx="578431" cy="533334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67" name="Google Shape;233;p21"/>
                      <p:cNvSpPr/>
                      <p:nvPr/>
                    </p:nvSpPr>
                    <p:spPr>
                      <a:xfrm flipH="1">
                        <a:off x="4016535" y="2763621"/>
                        <a:ext cx="580800" cy="532800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68" name="Google Shape;234;p21"/>
                      <p:cNvSpPr/>
                      <p:nvPr/>
                    </p:nvSpPr>
                    <p:spPr>
                      <a:xfrm flipH="1">
                        <a:off x="5177931" y="1168848"/>
                        <a:ext cx="580800" cy="532800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69" name="Google Shape;235;p21"/>
                      <p:cNvSpPr/>
                      <p:nvPr/>
                    </p:nvSpPr>
                    <p:spPr>
                      <a:xfrm flipH="1">
                        <a:off x="5174983" y="1704398"/>
                        <a:ext cx="584552" cy="533334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sp>
                    <p:nvSpPr>
                      <p:cNvPr id="170" name="Google Shape;236;p21"/>
                      <p:cNvSpPr/>
                      <p:nvPr/>
                    </p:nvSpPr>
                    <p:spPr>
                      <a:xfrm flipH="1">
                        <a:off x="5178044" y="2230385"/>
                        <a:ext cx="581491" cy="533334"/>
                      </a:xfrm>
                      <a:prstGeom prst="rect">
                        <a:avLst/>
                      </a:prstGeom>
                      <a:solidFill>
                        <a:srgbClr val="8DD3C7"/>
                      </a:solidFill>
                      <a:ln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>
                        <a:defPPr>
                          <a:defRPr lang="zh-CN"/>
                        </a:defPPr>
                        <a:lvl1pPr marL="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algn="l" defTabSz="914400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</p:grpSp>
                <p:sp>
                  <p:nvSpPr>
                    <p:cNvPr id="155" name="Google Shape;236;p21"/>
                    <p:cNvSpPr/>
                    <p:nvPr/>
                  </p:nvSpPr>
                  <p:spPr>
                    <a:xfrm flipH="1">
                      <a:off x="8533" y="7868"/>
                      <a:ext cx="560" cy="508"/>
                    </a:xfrm>
                    <a:prstGeom prst="rect">
                      <a:avLst/>
                    </a:prstGeom>
                    <a:solidFill>
                      <a:srgbClr val="8DD3C7"/>
                    </a:solidFill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</p:grpSp>
              <p:sp>
                <p:nvSpPr>
                  <p:cNvPr id="145" name="Google Shape;234;p21"/>
                  <p:cNvSpPr/>
                  <p:nvPr/>
                </p:nvSpPr>
                <p:spPr>
                  <a:xfrm flipH="1">
                    <a:off x="8386" y="6369"/>
                    <a:ext cx="380" cy="363"/>
                  </a:xfrm>
                  <a:prstGeom prst="rect">
                    <a:avLst/>
                  </a:prstGeom>
                  <a:solidFill>
                    <a:srgbClr val="8DD3C7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46" name="Google Shape;234;p21"/>
                  <p:cNvSpPr/>
                  <p:nvPr/>
                </p:nvSpPr>
                <p:spPr>
                  <a:xfrm flipH="1">
                    <a:off x="8386" y="6729"/>
                    <a:ext cx="380" cy="363"/>
                  </a:xfrm>
                  <a:prstGeom prst="rect">
                    <a:avLst/>
                  </a:prstGeom>
                  <a:solidFill>
                    <a:srgbClr val="8DD3C7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47" name="Google Shape;234;p21"/>
                  <p:cNvSpPr/>
                  <p:nvPr/>
                </p:nvSpPr>
                <p:spPr>
                  <a:xfrm flipH="1">
                    <a:off x="8386" y="7092"/>
                    <a:ext cx="380" cy="363"/>
                  </a:xfrm>
                  <a:prstGeom prst="rect">
                    <a:avLst/>
                  </a:prstGeom>
                  <a:solidFill>
                    <a:srgbClr val="8DD3C7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48" name="Google Shape;234;p21"/>
                  <p:cNvSpPr/>
                  <p:nvPr/>
                </p:nvSpPr>
                <p:spPr>
                  <a:xfrm flipH="1">
                    <a:off x="8386" y="7453"/>
                    <a:ext cx="380" cy="363"/>
                  </a:xfrm>
                  <a:prstGeom prst="rect">
                    <a:avLst/>
                  </a:prstGeom>
                  <a:solidFill>
                    <a:srgbClr val="8DD3C7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49" name="Google Shape;234;p21"/>
                  <p:cNvSpPr/>
                  <p:nvPr/>
                </p:nvSpPr>
                <p:spPr>
                  <a:xfrm flipH="1">
                    <a:off x="6868" y="7816"/>
                    <a:ext cx="380" cy="363"/>
                  </a:xfrm>
                  <a:prstGeom prst="rect">
                    <a:avLst/>
                  </a:prstGeom>
                  <a:solidFill>
                    <a:srgbClr val="8DD3C7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0" name="Google Shape;234;p21"/>
                  <p:cNvSpPr/>
                  <p:nvPr/>
                </p:nvSpPr>
                <p:spPr>
                  <a:xfrm flipH="1">
                    <a:off x="7248" y="7816"/>
                    <a:ext cx="380" cy="363"/>
                  </a:xfrm>
                  <a:prstGeom prst="rect">
                    <a:avLst/>
                  </a:prstGeom>
                  <a:solidFill>
                    <a:srgbClr val="8DD3C7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1" name="Google Shape;234;p21"/>
                  <p:cNvSpPr/>
                  <p:nvPr/>
                </p:nvSpPr>
                <p:spPr>
                  <a:xfrm flipH="1">
                    <a:off x="7626" y="7816"/>
                    <a:ext cx="378" cy="363"/>
                  </a:xfrm>
                  <a:prstGeom prst="rect">
                    <a:avLst/>
                  </a:prstGeom>
                  <a:solidFill>
                    <a:srgbClr val="8DD3C7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2" name="Google Shape;234;p21"/>
                  <p:cNvSpPr/>
                  <p:nvPr/>
                </p:nvSpPr>
                <p:spPr>
                  <a:xfrm flipH="1">
                    <a:off x="8006" y="7816"/>
                    <a:ext cx="380" cy="363"/>
                  </a:xfrm>
                  <a:prstGeom prst="rect">
                    <a:avLst/>
                  </a:prstGeom>
                  <a:solidFill>
                    <a:srgbClr val="8DD3C7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3" name="Google Shape;234;p21"/>
                  <p:cNvSpPr/>
                  <p:nvPr/>
                </p:nvSpPr>
                <p:spPr>
                  <a:xfrm flipH="1">
                    <a:off x="8386" y="7816"/>
                    <a:ext cx="380" cy="363"/>
                  </a:xfrm>
                  <a:prstGeom prst="rect">
                    <a:avLst/>
                  </a:prstGeom>
                  <a:solidFill>
                    <a:srgbClr val="8DD3C7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139" name="Google Shape;214;p21"/>
                <p:cNvSpPr/>
                <p:nvPr/>
              </p:nvSpPr>
              <p:spPr>
                <a:xfrm flipH="1">
                  <a:off x="9208" y="5783"/>
                  <a:ext cx="380" cy="363"/>
                </a:xfrm>
                <a:prstGeom prst="rect">
                  <a:avLst/>
                </a:prstGeom>
                <a:solidFill>
                  <a:srgbClr val="8DD3C7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40" name="Google Shape;214;p21"/>
                <p:cNvSpPr/>
                <p:nvPr/>
              </p:nvSpPr>
              <p:spPr>
                <a:xfrm flipH="1">
                  <a:off x="9589" y="5783"/>
                  <a:ext cx="380" cy="363"/>
                </a:xfrm>
                <a:prstGeom prst="rect">
                  <a:avLst/>
                </a:prstGeom>
                <a:solidFill>
                  <a:srgbClr val="8DD3C7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41" name="Google Shape;214;p21"/>
                <p:cNvSpPr/>
                <p:nvPr/>
              </p:nvSpPr>
              <p:spPr>
                <a:xfrm flipH="1">
                  <a:off x="9969" y="5783"/>
                  <a:ext cx="380" cy="363"/>
                </a:xfrm>
                <a:prstGeom prst="rect">
                  <a:avLst/>
                </a:prstGeom>
                <a:solidFill>
                  <a:srgbClr val="8DD3C7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42" name="Google Shape;214;p21"/>
                <p:cNvSpPr/>
                <p:nvPr/>
              </p:nvSpPr>
              <p:spPr>
                <a:xfrm flipH="1">
                  <a:off x="10347" y="5783"/>
                  <a:ext cx="380" cy="363"/>
                </a:xfrm>
                <a:prstGeom prst="rect">
                  <a:avLst/>
                </a:prstGeom>
                <a:solidFill>
                  <a:srgbClr val="8DD3C7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43" name="Google Shape;214;p21"/>
                <p:cNvSpPr/>
                <p:nvPr/>
              </p:nvSpPr>
              <p:spPr>
                <a:xfrm flipH="1">
                  <a:off x="10727" y="5783"/>
                  <a:ext cx="380" cy="363"/>
                </a:xfrm>
                <a:prstGeom prst="rect">
                  <a:avLst/>
                </a:prstGeom>
                <a:solidFill>
                  <a:srgbClr val="8DD3C7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133" name="Google Shape;214;p21"/>
              <p:cNvSpPr/>
              <p:nvPr/>
            </p:nvSpPr>
            <p:spPr>
              <a:xfrm flipH="1">
                <a:off x="10443" y="1968"/>
                <a:ext cx="380" cy="363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" name="Google Shape;214;p21"/>
              <p:cNvSpPr/>
              <p:nvPr/>
            </p:nvSpPr>
            <p:spPr>
              <a:xfrm flipH="1">
                <a:off x="10824" y="1968"/>
                <a:ext cx="380" cy="363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5" name="Google Shape;214;p21"/>
              <p:cNvSpPr/>
              <p:nvPr/>
            </p:nvSpPr>
            <p:spPr>
              <a:xfrm flipH="1">
                <a:off x="11204" y="1968"/>
                <a:ext cx="380" cy="363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" name="Google Shape;214;p21"/>
              <p:cNvSpPr/>
              <p:nvPr/>
            </p:nvSpPr>
            <p:spPr>
              <a:xfrm flipH="1">
                <a:off x="11582" y="1968"/>
                <a:ext cx="380" cy="363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" name="Google Shape;214;p21"/>
              <p:cNvSpPr/>
              <p:nvPr/>
            </p:nvSpPr>
            <p:spPr>
              <a:xfrm flipH="1">
                <a:off x="11962" y="1968"/>
                <a:ext cx="380" cy="363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92" name="Google Shape;214;p21"/>
            <p:cNvSpPr/>
            <p:nvPr/>
          </p:nvSpPr>
          <p:spPr>
            <a:xfrm rot="5400000" flipH="1">
              <a:off x="2218949" y="2112513"/>
              <a:ext cx="172270" cy="164635"/>
            </a:xfrm>
            <a:prstGeom prst="rect">
              <a:avLst/>
            </a:prstGeom>
            <a:solidFill>
              <a:srgbClr val="8DD3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219;p21"/>
            <p:cNvSpPr/>
            <p:nvPr/>
          </p:nvSpPr>
          <p:spPr>
            <a:xfrm rot="5400000" flipH="1">
              <a:off x="2054314" y="2112513"/>
              <a:ext cx="172270" cy="164635"/>
            </a:xfrm>
            <a:prstGeom prst="rect">
              <a:avLst/>
            </a:prstGeom>
            <a:solidFill>
              <a:srgbClr val="8DD3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223;p21"/>
            <p:cNvSpPr/>
            <p:nvPr/>
          </p:nvSpPr>
          <p:spPr>
            <a:xfrm rot="5400000" flipH="1">
              <a:off x="1890657" y="2112762"/>
              <a:ext cx="172270" cy="164635"/>
            </a:xfrm>
            <a:prstGeom prst="rect">
              <a:avLst/>
            </a:prstGeom>
            <a:solidFill>
              <a:srgbClr val="8DD3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229;p21"/>
            <p:cNvSpPr/>
            <p:nvPr/>
          </p:nvSpPr>
          <p:spPr>
            <a:xfrm rot="5400000" flipH="1">
              <a:off x="1725841" y="2112967"/>
              <a:ext cx="172270" cy="164635"/>
            </a:xfrm>
            <a:prstGeom prst="rect">
              <a:avLst/>
            </a:prstGeom>
            <a:solidFill>
              <a:srgbClr val="8DD3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234;p21"/>
            <p:cNvSpPr/>
            <p:nvPr/>
          </p:nvSpPr>
          <p:spPr>
            <a:xfrm rot="5400000" flipH="1">
              <a:off x="1560982" y="2112992"/>
              <a:ext cx="172476" cy="164787"/>
            </a:xfrm>
            <a:prstGeom prst="rect">
              <a:avLst/>
            </a:prstGeom>
            <a:solidFill>
              <a:srgbClr val="8DD3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214;p21"/>
            <p:cNvSpPr/>
            <p:nvPr/>
          </p:nvSpPr>
          <p:spPr>
            <a:xfrm rot="5400000" flipH="1">
              <a:off x="2382650" y="2112539"/>
              <a:ext cx="172476" cy="164787"/>
            </a:xfrm>
            <a:prstGeom prst="rect">
              <a:avLst/>
            </a:prstGeom>
            <a:solidFill>
              <a:srgbClr val="8DD3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214;p21"/>
            <p:cNvSpPr/>
            <p:nvPr/>
          </p:nvSpPr>
          <p:spPr>
            <a:xfrm rot="5400000" flipH="1">
              <a:off x="2547438" y="2113446"/>
              <a:ext cx="172476" cy="164788"/>
            </a:xfrm>
            <a:prstGeom prst="rect">
              <a:avLst/>
            </a:prstGeom>
            <a:solidFill>
              <a:srgbClr val="8DD3C7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34365" y="1519238"/>
            <a:ext cx="1847215" cy="39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Protein sequence</a:t>
            </a:r>
            <a:endParaRPr lang="zh-CN" altLang="en-US" sz="11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zh-CN" altLang="en-US" sz="1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MFRQEQR</a:t>
            </a:r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...</a:t>
            </a:r>
            <a:r>
              <a:rPr lang="zh-CN" altLang="en-US" sz="1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GPGGGTRAT</a:t>
            </a:r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...</a:t>
            </a:r>
            <a:r>
              <a:rPr lang="en-US" altLang="zh-CN" sz="105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en-US" altLang="zh-CN" sz="105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202879" y="2135924"/>
            <a:ext cx="778500" cy="281041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1579183" y="1890303"/>
            <a:ext cx="0" cy="21336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26"/>
          <p:cNvSpPr txBox="1"/>
          <p:nvPr/>
        </p:nvSpPr>
        <p:spPr>
          <a:xfrm>
            <a:off x="1259119" y="2152429"/>
            <a:ext cx="737052" cy="25273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050" b="1" dirty="0">
                <a:solidFill>
                  <a:srgbClr val="BEB9DA"/>
                </a:solidFill>
                <a:latin typeface="Arial" panose="020B0604020202020204" pitchFamily="34" charset="0"/>
                <a:ea typeface="微软雅黑" panose="020B0503020204020204" charset="-122"/>
              </a:rPr>
              <a:t>ESM2</a:t>
            </a:r>
            <a:endParaRPr lang="en-US" altLang="zh-CN" sz="1050" b="1" dirty="0">
              <a:solidFill>
                <a:srgbClr val="BEB9DA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 rot="5400000">
            <a:off x="1031751" y="2707619"/>
            <a:ext cx="863432" cy="987363"/>
            <a:chOff x="9206" y="5781"/>
            <a:chExt cx="1902" cy="2175"/>
          </a:xfrm>
        </p:grpSpPr>
        <p:grpSp>
          <p:nvGrpSpPr>
            <p:cNvPr id="99" name="组合 98"/>
            <p:cNvGrpSpPr/>
            <p:nvPr/>
          </p:nvGrpSpPr>
          <p:grpSpPr>
            <a:xfrm>
              <a:off x="9206" y="6145"/>
              <a:ext cx="1901" cy="1811"/>
              <a:chOff x="6865" y="6368"/>
              <a:chExt cx="1901" cy="1811"/>
            </a:xfrm>
          </p:grpSpPr>
          <p:grpSp>
            <p:nvGrpSpPr>
              <p:cNvPr id="105" name="组合 104"/>
              <p:cNvGrpSpPr/>
              <p:nvPr/>
            </p:nvGrpSpPr>
            <p:grpSpPr>
              <a:xfrm>
                <a:off x="6865" y="6368"/>
                <a:ext cx="1520" cy="1454"/>
                <a:chOff x="6865" y="6368"/>
                <a:chExt cx="2228" cy="2011"/>
              </a:xfrm>
            </p:grpSpPr>
            <p:grpSp>
              <p:nvGrpSpPr>
                <p:cNvPr id="115" name="Google Shape;211;p21"/>
                <p:cNvGrpSpPr/>
                <p:nvPr/>
              </p:nvGrpSpPr>
              <p:grpSpPr>
                <a:xfrm>
                  <a:off x="6865" y="6368"/>
                  <a:ext cx="2228" cy="2011"/>
                  <a:chOff x="3435100" y="1168125"/>
                  <a:chExt cx="2326895" cy="2134500"/>
                </a:xfrm>
              </p:grpSpPr>
              <p:sp>
                <p:nvSpPr>
                  <p:cNvPr id="117" name="Google Shape;214;p21"/>
                  <p:cNvSpPr/>
                  <p:nvPr/>
                </p:nvSpPr>
                <p:spPr>
                  <a:xfrm flipH="1">
                    <a:off x="3435100" y="1168125"/>
                    <a:ext cx="580800" cy="532800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18" name="Google Shape;215;p21"/>
                  <p:cNvSpPr/>
                  <p:nvPr/>
                </p:nvSpPr>
                <p:spPr>
                  <a:xfrm flipH="1">
                    <a:off x="4015900" y="1168125"/>
                    <a:ext cx="580800" cy="532800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19" name="Google Shape;216;p21"/>
                  <p:cNvSpPr/>
                  <p:nvPr/>
                </p:nvSpPr>
                <p:spPr>
                  <a:xfrm flipH="1">
                    <a:off x="4596700" y="1168125"/>
                    <a:ext cx="580800" cy="532800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20" name="Google Shape;218;p21"/>
                  <p:cNvSpPr/>
                  <p:nvPr/>
                </p:nvSpPr>
                <p:spPr>
                  <a:xfrm flipH="1">
                    <a:off x="4598661" y="2232764"/>
                    <a:ext cx="580800" cy="532800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21" name="Google Shape;219;p21"/>
                  <p:cNvSpPr/>
                  <p:nvPr/>
                </p:nvSpPr>
                <p:spPr>
                  <a:xfrm flipH="1">
                    <a:off x="3435100" y="1700925"/>
                    <a:ext cx="580800" cy="532800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22" name="Google Shape;220;p21"/>
                  <p:cNvSpPr/>
                  <p:nvPr/>
                </p:nvSpPr>
                <p:spPr>
                  <a:xfrm flipH="1">
                    <a:off x="4015900" y="1700925"/>
                    <a:ext cx="580800" cy="532800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23" name="Google Shape;221;p21"/>
                  <p:cNvSpPr/>
                  <p:nvPr/>
                </p:nvSpPr>
                <p:spPr>
                  <a:xfrm flipH="1">
                    <a:off x="4596700" y="1700925"/>
                    <a:ext cx="580800" cy="532800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24" name="Google Shape;223;p21"/>
                  <p:cNvSpPr/>
                  <p:nvPr/>
                </p:nvSpPr>
                <p:spPr>
                  <a:xfrm flipH="1">
                    <a:off x="3435940" y="2230561"/>
                    <a:ext cx="580800" cy="532800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25" name="Google Shape;225;p21"/>
                  <p:cNvSpPr/>
                  <p:nvPr/>
                </p:nvSpPr>
                <p:spPr>
                  <a:xfrm flipH="1">
                    <a:off x="4017430" y="2230968"/>
                    <a:ext cx="580800" cy="532800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26" name="Google Shape;229;p21"/>
                  <p:cNvSpPr/>
                  <p:nvPr/>
                </p:nvSpPr>
                <p:spPr>
                  <a:xfrm flipH="1">
                    <a:off x="3436630" y="2763949"/>
                    <a:ext cx="580800" cy="532800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27" name="Google Shape;231;p21"/>
                  <p:cNvSpPr/>
                  <p:nvPr/>
                </p:nvSpPr>
                <p:spPr>
                  <a:xfrm flipH="1">
                    <a:off x="4596700" y="2769825"/>
                    <a:ext cx="580800" cy="532800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28" name="Google Shape;233;p21"/>
                  <p:cNvSpPr/>
                  <p:nvPr/>
                </p:nvSpPr>
                <p:spPr>
                  <a:xfrm flipH="1">
                    <a:off x="4016535" y="2768029"/>
                    <a:ext cx="580800" cy="532800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29" name="Google Shape;234;p21"/>
                  <p:cNvSpPr/>
                  <p:nvPr/>
                </p:nvSpPr>
                <p:spPr>
                  <a:xfrm flipH="1">
                    <a:off x="5177748" y="1168125"/>
                    <a:ext cx="581392" cy="536196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0" name="Google Shape;235;p21"/>
                  <p:cNvSpPr/>
                  <p:nvPr/>
                </p:nvSpPr>
                <p:spPr>
                  <a:xfrm flipH="1">
                    <a:off x="5181195" y="1704032"/>
                    <a:ext cx="580800" cy="532800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1" name="Google Shape;236;p21"/>
                  <p:cNvSpPr/>
                  <p:nvPr/>
                </p:nvSpPr>
                <p:spPr>
                  <a:xfrm flipH="1">
                    <a:off x="5177748" y="2230233"/>
                    <a:ext cx="581392" cy="540603"/>
                  </a:xfrm>
                  <a:prstGeom prst="rect">
                    <a:avLst/>
                  </a:prstGeom>
                  <a:solidFill>
                    <a:srgbClr val="FFFFB3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116" name="Google Shape;236;p21"/>
                <p:cNvSpPr/>
                <p:nvPr/>
              </p:nvSpPr>
              <p:spPr>
                <a:xfrm flipH="1">
                  <a:off x="8537" y="7873"/>
                  <a:ext cx="556" cy="502"/>
                </a:xfrm>
                <a:prstGeom prst="rect">
                  <a:avLst/>
                </a:prstGeom>
                <a:solidFill>
                  <a:srgbClr val="FFFFB3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106" name="Google Shape;234;p21"/>
              <p:cNvSpPr/>
              <p:nvPr/>
            </p:nvSpPr>
            <p:spPr>
              <a:xfrm flipH="1">
                <a:off x="8386" y="6369"/>
                <a:ext cx="380" cy="363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" name="Google Shape;234;p21"/>
              <p:cNvSpPr/>
              <p:nvPr/>
            </p:nvSpPr>
            <p:spPr>
              <a:xfrm flipH="1">
                <a:off x="8386" y="6732"/>
                <a:ext cx="380" cy="363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" name="Google Shape;234;p21"/>
              <p:cNvSpPr/>
              <p:nvPr/>
            </p:nvSpPr>
            <p:spPr>
              <a:xfrm flipH="1">
                <a:off x="8386" y="7092"/>
                <a:ext cx="380" cy="363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9" name="Google Shape;234;p21"/>
              <p:cNvSpPr/>
              <p:nvPr/>
            </p:nvSpPr>
            <p:spPr>
              <a:xfrm flipH="1">
                <a:off x="8386" y="7453"/>
                <a:ext cx="380" cy="363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" name="Google Shape;234;p21"/>
              <p:cNvSpPr/>
              <p:nvPr/>
            </p:nvSpPr>
            <p:spPr>
              <a:xfrm flipH="1">
                <a:off x="6868" y="7816"/>
                <a:ext cx="380" cy="363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" name="Google Shape;234;p21"/>
              <p:cNvSpPr/>
              <p:nvPr/>
            </p:nvSpPr>
            <p:spPr>
              <a:xfrm flipH="1">
                <a:off x="7248" y="7816"/>
                <a:ext cx="380" cy="363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" name="Google Shape;234;p21"/>
              <p:cNvSpPr/>
              <p:nvPr/>
            </p:nvSpPr>
            <p:spPr>
              <a:xfrm flipH="1">
                <a:off x="7626" y="7816"/>
                <a:ext cx="380" cy="363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" name="Google Shape;234;p21"/>
              <p:cNvSpPr/>
              <p:nvPr/>
            </p:nvSpPr>
            <p:spPr>
              <a:xfrm flipH="1">
                <a:off x="8006" y="7816"/>
                <a:ext cx="380" cy="363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" name="Google Shape;234;p21"/>
              <p:cNvSpPr/>
              <p:nvPr/>
            </p:nvSpPr>
            <p:spPr>
              <a:xfrm flipH="1">
                <a:off x="8386" y="7816"/>
                <a:ext cx="380" cy="363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00" name="Google Shape;214;p21"/>
            <p:cNvSpPr/>
            <p:nvPr/>
          </p:nvSpPr>
          <p:spPr>
            <a:xfrm flipH="1">
              <a:off x="9208" y="5783"/>
              <a:ext cx="380" cy="363"/>
            </a:xfrm>
            <a:prstGeom prst="rect">
              <a:avLst/>
            </a:prstGeom>
            <a:solidFill>
              <a:srgbClr val="FFFFB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214;p21"/>
            <p:cNvSpPr/>
            <p:nvPr/>
          </p:nvSpPr>
          <p:spPr>
            <a:xfrm flipH="1">
              <a:off x="9587" y="5783"/>
              <a:ext cx="380" cy="363"/>
            </a:xfrm>
            <a:prstGeom prst="rect">
              <a:avLst/>
            </a:prstGeom>
            <a:solidFill>
              <a:srgbClr val="FFFFB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214;p21"/>
            <p:cNvSpPr/>
            <p:nvPr/>
          </p:nvSpPr>
          <p:spPr>
            <a:xfrm flipH="1">
              <a:off x="9969" y="5783"/>
              <a:ext cx="380" cy="363"/>
            </a:xfrm>
            <a:prstGeom prst="rect">
              <a:avLst/>
            </a:prstGeom>
            <a:solidFill>
              <a:srgbClr val="FFFFB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214;p21"/>
            <p:cNvSpPr/>
            <p:nvPr/>
          </p:nvSpPr>
          <p:spPr>
            <a:xfrm flipH="1">
              <a:off x="10347" y="5783"/>
              <a:ext cx="380" cy="363"/>
            </a:xfrm>
            <a:prstGeom prst="rect">
              <a:avLst/>
            </a:prstGeom>
            <a:solidFill>
              <a:srgbClr val="FFFFB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214;p21"/>
            <p:cNvSpPr/>
            <p:nvPr/>
          </p:nvSpPr>
          <p:spPr>
            <a:xfrm flipH="1">
              <a:off x="10727" y="5781"/>
              <a:ext cx="381" cy="365"/>
            </a:xfrm>
            <a:prstGeom prst="rect">
              <a:avLst/>
            </a:prstGeom>
            <a:solidFill>
              <a:srgbClr val="FFFFB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" name="组合 14"/>
          <p:cNvGrpSpPr/>
          <p:nvPr/>
        </p:nvGrpSpPr>
        <p:grpSpPr>
          <a:xfrm rot="5400000">
            <a:off x="977687" y="2784640"/>
            <a:ext cx="690473" cy="825440"/>
            <a:chOff x="6865" y="6366"/>
            <a:chExt cx="1521" cy="1818"/>
          </a:xfrm>
        </p:grpSpPr>
        <p:grpSp>
          <p:nvGrpSpPr>
            <p:cNvPr id="72" name="组合 71"/>
            <p:cNvGrpSpPr/>
            <p:nvPr/>
          </p:nvGrpSpPr>
          <p:grpSpPr>
            <a:xfrm>
              <a:off x="6865" y="6366"/>
              <a:ext cx="1519" cy="1454"/>
              <a:chOff x="6866" y="6368"/>
              <a:chExt cx="2227" cy="2012"/>
            </a:xfrm>
          </p:grpSpPr>
          <p:grpSp>
            <p:nvGrpSpPr>
              <p:cNvPr id="77" name="Google Shape;211;p21"/>
              <p:cNvGrpSpPr/>
              <p:nvPr/>
            </p:nvGrpSpPr>
            <p:grpSpPr>
              <a:xfrm>
                <a:off x="6866" y="6368"/>
                <a:ext cx="2225" cy="2012"/>
                <a:chOff x="3435100" y="1168125"/>
                <a:chExt cx="2324040" cy="2135834"/>
              </a:xfrm>
            </p:grpSpPr>
            <p:sp>
              <p:nvSpPr>
                <p:cNvPr id="79" name="Google Shape;214;p21"/>
                <p:cNvSpPr/>
                <p:nvPr/>
              </p:nvSpPr>
              <p:spPr>
                <a:xfrm flipH="1">
                  <a:off x="3435100" y="1168125"/>
                  <a:ext cx="580800" cy="532800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0" name="Google Shape;215;p21"/>
                <p:cNvSpPr/>
                <p:nvPr/>
              </p:nvSpPr>
              <p:spPr>
                <a:xfrm flipH="1">
                  <a:off x="4015900" y="1168125"/>
                  <a:ext cx="580800" cy="532800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1" name="Google Shape;216;p21"/>
                <p:cNvSpPr/>
                <p:nvPr/>
              </p:nvSpPr>
              <p:spPr>
                <a:xfrm flipH="1">
                  <a:off x="4596700" y="1168125"/>
                  <a:ext cx="580800" cy="532800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2" name="Google Shape;218;p21"/>
                <p:cNvSpPr/>
                <p:nvPr/>
              </p:nvSpPr>
              <p:spPr>
                <a:xfrm flipH="1">
                  <a:off x="4596570" y="2231635"/>
                  <a:ext cx="581500" cy="539100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3" name="Google Shape;219;p21"/>
                <p:cNvSpPr/>
                <p:nvPr/>
              </p:nvSpPr>
              <p:spPr>
                <a:xfrm flipH="1">
                  <a:off x="3435100" y="1700925"/>
                  <a:ext cx="580800" cy="532800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4" name="Google Shape;220;p21"/>
                <p:cNvSpPr/>
                <p:nvPr/>
              </p:nvSpPr>
              <p:spPr>
                <a:xfrm flipH="1">
                  <a:off x="4015900" y="1700925"/>
                  <a:ext cx="580800" cy="532800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5" name="Google Shape;221;p21"/>
                <p:cNvSpPr/>
                <p:nvPr/>
              </p:nvSpPr>
              <p:spPr>
                <a:xfrm flipH="1">
                  <a:off x="4596700" y="1700925"/>
                  <a:ext cx="580800" cy="532800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6" name="Google Shape;223;p21"/>
                <p:cNvSpPr/>
                <p:nvPr/>
              </p:nvSpPr>
              <p:spPr>
                <a:xfrm flipH="1">
                  <a:off x="3435940" y="2236437"/>
                  <a:ext cx="580800" cy="532800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7" name="Google Shape;225;p21"/>
                <p:cNvSpPr/>
                <p:nvPr/>
              </p:nvSpPr>
              <p:spPr>
                <a:xfrm flipH="1">
                  <a:off x="4015900" y="2235375"/>
                  <a:ext cx="580800" cy="532800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8" name="Google Shape;229;p21"/>
                <p:cNvSpPr/>
                <p:nvPr/>
              </p:nvSpPr>
              <p:spPr>
                <a:xfrm flipH="1">
                  <a:off x="3435100" y="2769266"/>
                  <a:ext cx="581500" cy="534693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9" name="Google Shape;231;p21"/>
                <p:cNvSpPr/>
                <p:nvPr/>
              </p:nvSpPr>
              <p:spPr>
                <a:xfrm flipH="1">
                  <a:off x="4596570" y="2769266"/>
                  <a:ext cx="581500" cy="534693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0" name="Google Shape;233;p21"/>
                <p:cNvSpPr/>
                <p:nvPr/>
              </p:nvSpPr>
              <p:spPr>
                <a:xfrm flipH="1">
                  <a:off x="4015070" y="2767797"/>
                  <a:ext cx="581500" cy="536162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1" name="Google Shape;234;p21"/>
                <p:cNvSpPr/>
                <p:nvPr/>
              </p:nvSpPr>
              <p:spPr>
                <a:xfrm flipH="1">
                  <a:off x="5177931" y="1168848"/>
                  <a:ext cx="580800" cy="532800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2" name="Google Shape;235;p21"/>
                <p:cNvSpPr/>
                <p:nvPr/>
              </p:nvSpPr>
              <p:spPr>
                <a:xfrm flipH="1">
                  <a:off x="5178135" y="1704032"/>
                  <a:ext cx="580800" cy="532800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3" name="Google Shape;236;p21"/>
                <p:cNvSpPr/>
                <p:nvPr/>
              </p:nvSpPr>
              <p:spPr>
                <a:xfrm flipH="1">
                  <a:off x="5178340" y="2237093"/>
                  <a:ext cx="580800" cy="532800"/>
                </a:xfrm>
                <a:prstGeom prst="rect">
                  <a:avLst/>
                </a:prstGeom>
                <a:solidFill>
                  <a:srgbClr val="BEB9DA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78" name="Google Shape;236;p21"/>
              <p:cNvSpPr/>
              <p:nvPr/>
            </p:nvSpPr>
            <p:spPr>
              <a:xfrm flipH="1">
                <a:off x="8536" y="7873"/>
                <a:ext cx="557" cy="505"/>
              </a:xfrm>
              <a:prstGeom prst="rect">
                <a:avLst/>
              </a:prstGeom>
              <a:solidFill>
                <a:srgbClr val="BEB9DA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73" name="Google Shape;234;p21"/>
            <p:cNvSpPr/>
            <p:nvPr/>
          </p:nvSpPr>
          <p:spPr>
            <a:xfrm flipH="1">
              <a:off x="6867" y="7821"/>
              <a:ext cx="378" cy="363"/>
            </a:xfrm>
            <a:prstGeom prst="rect">
              <a:avLst/>
            </a:prstGeom>
            <a:solidFill>
              <a:srgbClr val="BEB9D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234;p21"/>
            <p:cNvSpPr/>
            <p:nvPr/>
          </p:nvSpPr>
          <p:spPr>
            <a:xfrm flipH="1">
              <a:off x="7244" y="7821"/>
              <a:ext cx="384" cy="363"/>
            </a:xfrm>
            <a:prstGeom prst="rect">
              <a:avLst/>
            </a:prstGeom>
            <a:solidFill>
              <a:srgbClr val="BEB9D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234;p21"/>
            <p:cNvSpPr/>
            <p:nvPr/>
          </p:nvSpPr>
          <p:spPr>
            <a:xfrm flipH="1">
              <a:off x="7628" y="7821"/>
              <a:ext cx="380" cy="363"/>
            </a:xfrm>
            <a:prstGeom prst="rect">
              <a:avLst/>
            </a:prstGeom>
            <a:solidFill>
              <a:srgbClr val="BEB9D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234;p21"/>
            <p:cNvSpPr/>
            <p:nvPr/>
          </p:nvSpPr>
          <p:spPr>
            <a:xfrm flipH="1">
              <a:off x="8006" y="7821"/>
              <a:ext cx="380" cy="363"/>
            </a:xfrm>
            <a:prstGeom prst="rect">
              <a:avLst/>
            </a:prstGeom>
            <a:solidFill>
              <a:srgbClr val="BEB9DA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1" name="组合 200"/>
          <p:cNvGrpSpPr>
            <a:grpSpLocks noChangeAspect="1"/>
          </p:cNvGrpSpPr>
          <p:nvPr/>
        </p:nvGrpSpPr>
        <p:grpSpPr>
          <a:xfrm rot="5400000">
            <a:off x="1311471" y="3749549"/>
            <a:ext cx="435101" cy="1349624"/>
            <a:chOff x="3747135" y="4297680"/>
            <a:chExt cx="511175" cy="1585595"/>
          </a:xfrm>
        </p:grpSpPr>
        <p:grpSp>
          <p:nvGrpSpPr>
            <p:cNvPr id="14" name="组合 13"/>
            <p:cNvGrpSpPr/>
            <p:nvPr/>
          </p:nvGrpSpPr>
          <p:grpSpPr>
            <a:xfrm>
              <a:off x="3747135" y="4297680"/>
              <a:ext cx="257175" cy="1331595"/>
              <a:chOff x="13682" y="5288"/>
              <a:chExt cx="557" cy="2510"/>
            </a:xfrm>
          </p:grpSpPr>
          <p:sp>
            <p:nvSpPr>
              <p:cNvPr id="94" name="Google Shape;224;p21"/>
              <p:cNvSpPr/>
              <p:nvPr/>
            </p:nvSpPr>
            <p:spPr>
              <a:xfrm flipH="1">
                <a:off x="13682" y="6292"/>
                <a:ext cx="556" cy="502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" name="Google Shape;226;p21"/>
              <p:cNvSpPr/>
              <p:nvPr/>
            </p:nvSpPr>
            <p:spPr>
              <a:xfrm flipH="1">
                <a:off x="13683" y="5288"/>
                <a:ext cx="556" cy="502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228;p21"/>
              <p:cNvSpPr/>
              <p:nvPr/>
            </p:nvSpPr>
            <p:spPr>
              <a:xfrm flipH="1">
                <a:off x="13682" y="6794"/>
                <a:ext cx="556" cy="502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7" name="Google Shape;230;p21"/>
              <p:cNvSpPr/>
              <p:nvPr/>
            </p:nvSpPr>
            <p:spPr>
              <a:xfrm flipH="1">
                <a:off x="13682" y="5790"/>
                <a:ext cx="556" cy="502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8" name="Google Shape;232;p21"/>
              <p:cNvSpPr/>
              <p:nvPr/>
            </p:nvSpPr>
            <p:spPr>
              <a:xfrm flipH="1">
                <a:off x="13682" y="7296"/>
                <a:ext cx="556" cy="502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3874135" y="4424680"/>
              <a:ext cx="257175" cy="1331595"/>
              <a:chOff x="13682" y="5288"/>
              <a:chExt cx="557" cy="2510"/>
            </a:xfrm>
          </p:grpSpPr>
          <p:sp>
            <p:nvSpPr>
              <p:cNvPr id="67" name="Google Shape;224;p21"/>
              <p:cNvSpPr/>
              <p:nvPr/>
            </p:nvSpPr>
            <p:spPr>
              <a:xfrm flipH="1">
                <a:off x="13682" y="6292"/>
                <a:ext cx="556" cy="502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8" name="Google Shape;226;p21"/>
              <p:cNvSpPr/>
              <p:nvPr/>
            </p:nvSpPr>
            <p:spPr>
              <a:xfrm flipH="1">
                <a:off x="13683" y="5288"/>
                <a:ext cx="556" cy="502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9" name="Google Shape;228;p21"/>
              <p:cNvSpPr/>
              <p:nvPr/>
            </p:nvSpPr>
            <p:spPr>
              <a:xfrm flipH="1">
                <a:off x="13682" y="6794"/>
                <a:ext cx="556" cy="502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0" name="Google Shape;230;p21"/>
              <p:cNvSpPr/>
              <p:nvPr/>
            </p:nvSpPr>
            <p:spPr>
              <a:xfrm flipH="1">
                <a:off x="13682" y="5790"/>
                <a:ext cx="556" cy="502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1" name="Google Shape;232;p21"/>
              <p:cNvSpPr/>
              <p:nvPr/>
            </p:nvSpPr>
            <p:spPr>
              <a:xfrm flipH="1">
                <a:off x="13682" y="7296"/>
                <a:ext cx="556" cy="502"/>
              </a:xfrm>
              <a:prstGeom prst="rect">
                <a:avLst/>
              </a:prstGeom>
              <a:solidFill>
                <a:srgbClr val="FFFFB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4001135" y="4551680"/>
              <a:ext cx="257175" cy="1331595"/>
              <a:chOff x="13682" y="5288"/>
              <a:chExt cx="557" cy="2510"/>
            </a:xfrm>
          </p:grpSpPr>
          <p:sp>
            <p:nvSpPr>
              <p:cNvPr id="62" name="Google Shape;224;p21"/>
              <p:cNvSpPr/>
              <p:nvPr/>
            </p:nvSpPr>
            <p:spPr>
              <a:xfrm flipH="1">
                <a:off x="13682" y="6292"/>
                <a:ext cx="556" cy="502"/>
              </a:xfrm>
              <a:prstGeom prst="rect">
                <a:avLst/>
              </a:prstGeom>
              <a:solidFill>
                <a:srgbClr val="BEB9DA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3" name="Google Shape;226;p21"/>
              <p:cNvSpPr/>
              <p:nvPr/>
            </p:nvSpPr>
            <p:spPr>
              <a:xfrm flipH="1">
                <a:off x="13683" y="5288"/>
                <a:ext cx="556" cy="502"/>
              </a:xfrm>
              <a:prstGeom prst="rect">
                <a:avLst/>
              </a:prstGeom>
              <a:solidFill>
                <a:srgbClr val="BEB9DA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600">
                  <a:latin typeface="等线" panose="02010600030101010101" charset="-122"/>
                  <a:ea typeface="等线" panose="02010600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4" name="Google Shape;228;p21"/>
              <p:cNvSpPr/>
              <p:nvPr/>
            </p:nvSpPr>
            <p:spPr>
              <a:xfrm flipH="1">
                <a:off x="13682" y="6794"/>
                <a:ext cx="556" cy="502"/>
              </a:xfrm>
              <a:prstGeom prst="rect">
                <a:avLst/>
              </a:prstGeom>
              <a:solidFill>
                <a:srgbClr val="BEB9DA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" name="Google Shape;230;p21"/>
              <p:cNvSpPr/>
              <p:nvPr/>
            </p:nvSpPr>
            <p:spPr>
              <a:xfrm flipH="1">
                <a:off x="13682" y="5790"/>
                <a:ext cx="556" cy="502"/>
              </a:xfrm>
              <a:prstGeom prst="rect">
                <a:avLst/>
              </a:prstGeom>
              <a:solidFill>
                <a:srgbClr val="BEB9DA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" name="Google Shape;232;p21"/>
              <p:cNvSpPr/>
              <p:nvPr/>
            </p:nvSpPr>
            <p:spPr>
              <a:xfrm flipH="1">
                <a:off x="13682" y="7296"/>
                <a:ext cx="556" cy="502"/>
              </a:xfrm>
              <a:prstGeom prst="rect">
                <a:avLst/>
              </a:prstGeom>
              <a:solidFill>
                <a:srgbClr val="BEB9DA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8" name="文本框 152"/>
          <p:cNvSpPr txBox="1"/>
          <p:nvPr/>
        </p:nvSpPr>
        <p:spPr>
          <a:xfrm>
            <a:off x="821462" y="4427666"/>
            <a:ext cx="340995" cy="2298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</a:rPr>
              <a:t>X</a:t>
            </a:r>
            <a:r>
              <a:rPr lang="en-US" altLang="zh-CN" sz="900" baseline="-25000" dirty="0"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endParaRPr lang="en-US" altLang="zh-CN" sz="900" baseline="-25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文本框 153"/>
          <p:cNvSpPr txBox="1"/>
          <p:nvPr/>
        </p:nvSpPr>
        <p:spPr>
          <a:xfrm>
            <a:off x="1037156" y="4428625"/>
            <a:ext cx="340995" cy="2298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</a:rPr>
              <a:t>X</a:t>
            </a:r>
            <a:r>
              <a:rPr lang="en-US" altLang="zh-CN" sz="900" baseline="-25000" dirty="0">
                <a:latin typeface="Arial" panose="020B0604020202020204" pitchFamily="34" charset="0"/>
                <a:ea typeface="微软雅黑" panose="020B0503020204020204" charset="-122"/>
              </a:rPr>
              <a:t>2</a:t>
            </a:r>
            <a:endParaRPr lang="en-US" altLang="zh-CN" sz="900" baseline="-25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" name="文本框 154"/>
          <p:cNvSpPr txBox="1"/>
          <p:nvPr/>
        </p:nvSpPr>
        <p:spPr>
          <a:xfrm>
            <a:off x="1286650" y="4427592"/>
            <a:ext cx="340995" cy="2298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</a:rPr>
              <a:t>X</a:t>
            </a:r>
            <a:r>
              <a:rPr lang="en-US" altLang="zh-CN" sz="900" baseline="-25000" dirty="0">
                <a:latin typeface="Arial" panose="020B0604020202020204" pitchFamily="34" charset="0"/>
                <a:ea typeface="微软雅黑" panose="020B0503020204020204" charset="-122"/>
              </a:rPr>
              <a:t>3</a:t>
            </a:r>
            <a:endParaRPr lang="en-US" altLang="zh-CN" sz="900" baseline="-25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1" name="文本框 155"/>
          <p:cNvSpPr txBox="1"/>
          <p:nvPr/>
        </p:nvSpPr>
        <p:spPr>
          <a:xfrm>
            <a:off x="1734349" y="4431061"/>
            <a:ext cx="340995" cy="2298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</a:rPr>
              <a:t>X</a:t>
            </a:r>
            <a:r>
              <a:rPr lang="en-US" altLang="zh-CN" sz="900" baseline="-25000" dirty="0">
                <a:latin typeface="Arial" panose="020B0604020202020204" pitchFamily="34" charset="0"/>
                <a:ea typeface="微软雅黑" panose="020B0503020204020204" charset="-122"/>
              </a:rPr>
              <a:t>n</a:t>
            </a:r>
            <a:endParaRPr lang="en-US" altLang="zh-CN" sz="900" baseline="-25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2" name="文本框 237"/>
          <p:cNvSpPr txBox="1"/>
          <p:nvPr/>
        </p:nvSpPr>
        <p:spPr>
          <a:xfrm>
            <a:off x="1503838" y="4385086"/>
            <a:ext cx="340995" cy="26035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100" dirty="0">
                <a:latin typeface="Arial" panose="020B0604020202020204" pitchFamily="34" charset="0"/>
                <a:ea typeface="微软雅黑" panose="020B0503020204020204" charset="-122"/>
              </a:rPr>
              <a:t>...</a:t>
            </a:r>
            <a:endParaRPr lang="en-US" altLang="zh-CN" sz="1100" baseline="-25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34" name="组合 233"/>
          <p:cNvGrpSpPr>
            <a:grpSpLocks noChangeAspect="1"/>
          </p:cNvGrpSpPr>
          <p:nvPr/>
        </p:nvGrpSpPr>
        <p:grpSpPr>
          <a:xfrm rot="5400000">
            <a:off x="1331858" y="4959104"/>
            <a:ext cx="428066" cy="1418080"/>
            <a:chOff x="4416552" y="4251912"/>
            <a:chExt cx="462915" cy="1533525"/>
          </a:xfrm>
        </p:grpSpPr>
        <p:grpSp>
          <p:nvGrpSpPr>
            <p:cNvPr id="6" name="组合 5"/>
            <p:cNvGrpSpPr/>
            <p:nvPr/>
          </p:nvGrpSpPr>
          <p:grpSpPr>
            <a:xfrm>
              <a:off x="4622292" y="4251912"/>
              <a:ext cx="257175" cy="1331595"/>
              <a:chOff x="13682" y="5288"/>
              <a:chExt cx="557" cy="2510"/>
            </a:xfrm>
          </p:grpSpPr>
          <p:sp>
            <p:nvSpPr>
              <p:cNvPr id="176" name="Google Shape;224;p21"/>
              <p:cNvSpPr/>
              <p:nvPr/>
            </p:nvSpPr>
            <p:spPr>
              <a:xfrm flipH="1">
                <a:off x="13682" y="6292"/>
                <a:ext cx="556" cy="502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" name="Google Shape;226;p21"/>
              <p:cNvSpPr/>
              <p:nvPr/>
            </p:nvSpPr>
            <p:spPr>
              <a:xfrm flipH="1">
                <a:off x="13683" y="5288"/>
                <a:ext cx="556" cy="502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" name="Google Shape;228;p21"/>
              <p:cNvSpPr/>
              <p:nvPr/>
            </p:nvSpPr>
            <p:spPr>
              <a:xfrm flipH="1">
                <a:off x="13682" y="6794"/>
                <a:ext cx="556" cy="502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9" name="Google Shape;230;p21"/>
              <p:cNvSpPr/>
              <p:nvPr/>
            </p:nvSpPr>
            <p:spPr>
              <a:xfrm flipH="1">
                <a:off x="13682" y="5790"/>
                <a:ext cx="556" cy="502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0" name="Google Shape;232;p21"/>
              <p:cNvSpPr/>
              <p:nvPr/>
            </p:nvSpPr>
            <p:spPr>
              <a:xfrm flipH="1">
                <a:off x="13682" y="7296"/>
                <a:ext cx="556" cy="502"/>
              </a:xfrm>
              <a:prstGeom prst="rect">
                <a:avLst/>
              </a:prstGeom>
              <a:solidFill>
                <a:srgbClr val="8DD3C7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515612" y="4362402"/>
              <a:ext cx="257175" cy="1331595"/>
              <a:chOff x="13682" y="5288"/>
              <a:chExt cx="557" cy="2510"/>
            </a:xfrm>
            <a:solidFill>
              <a:srgbClr val="FFFFB3"/>
            </a:solidFill>
          </p:grpSpPr>
          <p:sp>
            <p:nvSpPr>
              <p:cNvPr id="171" name="Google Shape;224;p21"/>
              <p:cNvSpPr/>
              <p:nvPr/>
            </p:nvSpPr>
            <p:spPr>
              <a:xfrm flipH="1">
                <a:off x="13682" y="6292"/>
                <a:ext cx="556" cy="502"/>
              </a:xfrm>
              <a:prstGeom prst="rect">
                <a:avLst/>
              </a:prstGeom>
              <a:grp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2" name="Google Shape;226;p21"/>
              <p:cNvSpPr/>
              <p:nvPr/>
            </p:nvSpPr>
            <p:spPr>
              <a:xfrm flipH="1">
                <a:off x="13683" y="5288"/>
                <a:ext cx="556" cy="502"/>
              </a:xfrm>
              <a:prstGeom prst="rect">
                <a:avLst/>
              </a:prstGeom>
              <a:grp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3" name="Google Shape;228;p21"/>
              <p:cNvSpPr/>
              <p:nvPr/>
            </p:nvSpPr>
            <p:spPr>
              <a:xfrm flipH="1">
                <a:off x="13682" y="6794"/>
                <a:ext cx="556" cy="502"/>
              </a:xfrm>
              <a:prstGeom prst="rect">
                <a:avLst/>
              </a:prstGeom>
              <a:grp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" name="Google Shape;230;p21"/>
              <p:cNvSpPr/>
              <p:nvPr/>
            </p:nvSpPr>
            <p:spPr>
              <a:xfrm flipH="1">
                <a:off x="13682" y="5790"/>
                <a:ext cx="556" cy="502"/>
              </a:xfrm>
              <a:prstGeom prst="rect">
                <a:avLst/>
              </a:prstGeom>
              <a:grp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" name="Google Shape;232;p21"/>
              <p:cNvSpPr/>
              <p:nvPr/>
            </p:nvSpPr>
            <p:spPr>
              <a:xfrm flipH="1">
                <a:off x="13682" y="7296"/>
                <a:ext cx="556" cy="502"/>
              </a:xfrm>
              <a:prstGeom prst="rect">
                <a:avLst/>
              </a:prstGeom>
              <a:grp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4416552" y="4453842"/>
              <a:ext cx="257175" cy="1331595"/>
              <a:chOff x="13682" y="5288"/>
              <a:chExt cx="557" cy="2510"/>
            </a:xfrm>
            <a:solidFill>
              <a:srgbClr val="BEB9DA"/>
            </a:solidFill>
          </p:grpSpPr>
          <p:sp>
            <p:nvSpPr>
              <p:cNvPr id="57" name="Google Shape;224;p21"/>
              <p:cNvSpPr/>
              <p:nvPr/>
            </p:nvSpPr>
            <p:spPr>
              <a:xfrm flipH="1">
                <a:off x="13682" y="6292"/>
                <a:ext cx="556" cy="502"/>
              </a:xfrm>
              <a:prstGeom prst="rect">
                <a:avLst/>
              </a:prstGeom>
              <a:grp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8" name="Google Shape;226;p21"/>
              <p:cNvSpPr/>
              <p:nvPr/>
            </p:nvSpPr>
            <p:spPr>
              <a:xfrm flipH="1">
                <a:off x="13683" y="5288"/>
                <a:ext cx="556" cy="502"/>
              </a:xfrm>
              <a:prstGeom prst="rect">
                <a:avLst/>
              </a:prstGeom>
              <a:grp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" name="Google Shape;228;p21"/>
              <p:cNvSpPr/>
              <p:nvPr/>
            </p:nvSpPr>
            <p:spPr>
              <a:xfrm flipH="1">
                <a:off x="13682" y="6794"/>
                <a:ext cx="556" cy="502"/>
              </a:xfrm>
              <a:prstGeom prst="rect">
                <a:avLst/>
              </a:prstGeom>
              <a:grp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0" name="Google Shape;230;p21"/>
              <p:cNvSpPr/>
              <p:nvPr/>
            </p:nvSpPr>
            <p:spPr>
              <a:xfrm flipH="1">
                <a:off x="13682" y="5790"/>
                <a:ext cx="556" cy="502"/>
              </a:xfrm>
              <a:prstGeom prst="rect">
                <a:avLst/>
              </a:prstGeom>
              <a:grp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1" name="Google Shape;232;p21"/>
              <p:cNvSpPr/>
              <p:nvPr/>
            </p:nvSpPr>
            <p:spPr>
              <a:xfrm flipH="1">
                <a:off x="13682" y="7296"/>
                <a:ext cx="556" cy="502"/>
              </a:xfrm>
              <a:prstGeom prst="rect">
                <a:avLst/>
              </a:prstGeom>
              <a:grp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4" name="文本框 238"/>
          <p:cNvSpPr txBox="1"/>
          <p:nvPr/>
        </p:nvSpPr>
        <p:spPr>
          <a:xfrm>
            <a:off x="819235" y="5446388"/>
            <a:ext cx="34099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000" dirty="0">
                <a:latin typeface="Arial" panose="020B0604020202020204" pitchFamily="34" charset="0"/>
                <a:ea typeface="微软雅黑" panose="020B0503020204020204" charset="-122"/>
              </a:rPr>
              <a:t>y</a:t>
            </a:r>
            <a:r>
              <a:rPr lang="en-US" altLang="zh-CN" sz="1000" baseline="-25000" dirty="0">
                <a:latin typeface="Arial" panose="020B0604020202020204" pitchFamily="34" charset="0"/>
                <a:ea typeface="微软雅黑" panose="020B0503020204020204" charset="-122"/>
              </a:rPr>
              <a:t>1</a:t>
            </a:r>
            <a:endParaRPr lang="en-US" altLang="zh-CN" sz="1000" baseline="-25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5" name="文本框 239"/>
          <p:cNvSpPr txBox="1"/>
          <p:nvPr/>
        </p:nvSpPr>
        <p:spPr>
          <a:xfrm>
            <a:off x="1069441" y="5446421"/>
            <a:ext cx="34099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000" dirty="0">
                <a:latin typeface="Arial" panose="020B0604020202020204" pitchFamily="34" charset="0"/>
                <a:ea typeface="微软雅黑" panose="020B0503020204020204" charset="-122"/>
              </a:rPr>
              <a:t>y</a:t>
            </a:r>
            <a:r>
              <a:rPr lang="en-US" altLang="zh-CN" sz="1000" baseline="-25000" dirty="0">
                <a:latin typeface="Arial" panose="020B0604020202020204" pitchFamily="34" charset="0"/>
                <a:ea typeface="微软雅黑" panose="020B0503020204020204" charset="-122"/>
              </a:rPr>
              <a:t>2</a:t>
            </a:r>
            <a:endParaRPr lang="en-US" altLang="zh-CN" sz="1000" baseline="-25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6" name="文本框 240"/>
          <p:cNvSpPr txBox="1"/>
          <p:nvPr/>
        </p:nvSpPr>
        <p:spPr>
          <a:xfrm>
            <a:off x="1316897" y="5443367"/>
            <a:ext cx="34099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000" dirty="0">
                <a:latin typeface="Arial" panose="020B0604020202020204" pitchFamily="34" charset="0"/>
                <a:ea typeface="微软雅黑" panose="020B0503020204020204" charset="-122"/>
              </a:rPr>
              <a:t>y</a:t>
            </a:r>
            <a:r>
              <a:rPr lang="en-US" altLang="zh-CN" sz="1000" baseline="-25000" dirty="0">
                <a:latin typeface="Arial" panose="020B0604020202020204" pitchFamily="34" charset="0"/>
                <a:ea typeface="微软雅黑" panose="020B0503020204020204" charset="-122"/>
              </a:rPr>
              <a:t>3</a:t>
            </a:r>
            <a:endParaRPr lang="en-US" altLang="zh-CN" sz="1000" baseline="-25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7" name="文本框 241"/>
          <p:cNvSpPr txBox="1"/>
          <p:nvPr/>
        </p:nvSpPr>
        <p:spPr>
          <a:xfrm>
            <a:off x="1795533" y="5443367"/>
            <a:ext cx="34099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000" dirty="0">
                <a:latin typeface="Arial" panose="020B0604020202020204" pitchFamily="34" charset="0"/>
                <a:ea typeface="微软雅黑" panose="020B0503020204020204" charset="-122"/>
              </a:rPr>
              <a:t>y</a:t>
            </a:r>
            <a:r>
              <a:rPr lang="en-US" altLang="zh-CN" sz="1000" baseline="-25000" dirty="0">
                <a:latin typeface="Arial" panose="020B0604020202020204" pitchFamily="34" charset="0"/>
                <a:ea typeface="微软雅黑" panose="020B0503020204020204" charset="-122"/>
              </a:rPr>
              <a:t>n</a:t>
            </a:r>
            <a:endParaRPr lang="en-US" altLang="zh-CN" sz="1000" baseline="-25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8" name="文本框 242"/>
          <p:cNvSpPr txBox="1"/>
          <p:nvPr/>
        </p:nvSpPr>
        <p:spPr>
          <a:xfrm>
            <a:off x="1554932" y="5405417"/>
            <a:ext cx="34099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dirty="0">
                <a:latin typeface="Arial" panose="020B0604020202020204" pitchFamily="34" charset="0"/>
                <a:ea typeface="微软雅黑" panose="020B0503020204020204" charset="-122"/>
              </a:rPr>
              <a:t>...</a:t>
            </a:r>
            <a:endParaRPr lang="en-US" altLang="zh-CN" sz="1200" baseline="-25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H="1">
            <a:off x="1589773" y="2441141"/>
            <a:ext cx="1905" cy="18796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1608328" y="3769905"/>
            <a:ext cx="1905" cy="3835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264"/>
          <p:cNvSpPr txBox="1"/>
          <p:nvPr/>
        </p:nvSpPr>
        <p:spPr>
          <a:xfrm>
            <a:off x="770783" y="3751228"/>
            <a:ext cx="78422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Variable </a:t>
            </a:r>
            <a:endParaRPr lang="en-US" altLang="zh-CN" sz="11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en-US" altLang="zh-CN" sz="11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length </a:t>
            </a:r>
            <a:endParaRPr lang="en-US" altLang="zh-CN" sz="11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7" name="矩形 36"/>
          <p:cNvSpPr/>
          <p:nvPr/>
        </p:nvSpPr>
        <p:spPr>
          <a:xfrm rot="5400000">
            <a:off x="582381" y="4782490"/>
            <a:ext cx="230503" cy="519207"/>
          </a:xfrm>
          <a:prstGeom prst="rect">
            <a:avLst/>
          </a:prstGeom>
          <a:solidFill>
            <a:srgbClr val="BEB9DA">
              <a:alpha val="50000"/>
            </a:srgbClr>
          </a:solidFill>
          <a:ln>
            <a:solidFill>
              <a:srgbClr val="BEB9D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圆角矩形 273"/>
          <p:cNvSpPr/>
          <p:nvPr/>
        </p:nvSpPr>
        <p:spPr>
          <a:xfrm rot="5400000">
            <a:off x="1293590" y="3814828"/>
            <a:ext cx="460376" cy="2427993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44" name="直接箭头连接符 43"/>
          <p:cNvCxnSpPr/>
          <p:nvPr/>
        </p:nvCxnSpPr>
        <p:spPr>
          <a:xfrm>
            <a:off x="713986" y="5166933"/>
            <a:ext cx="0" cy="2202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2371122" y="4687130"/>
            <a:ext cx="0" cy="2305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1819613" y="4708333"/>
            <a:ext cx="0" cy="2185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1265237" y="4699123"/>
            <a:ext cx="4656" cy="2185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714644" y="4699124"/>
            <a:ext cx="0" cy="2185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8" name="矩形 217"/>
          <p:cNvSpPr/>
          <p:nvPr/>
        </p:nvSpPr>
        <p:spPr>
          <a:xfrm rot="5400000">
            <a:off x="1136312" y="4782490"/>
            <a:ext cx="230503" cy="519207"/>
          </a:xfrm>
          <a:prstGeom prst="rect">
            <a:avLst/>
          </a:prstGeom>
          <a:solidFill>
            <a:srgbClr val="BEB9DA">
              <a:alpha val="50000"/>
            </a:srgbClr>
          </a:solidFill>
          <a:ln>
            <a:solidFill>
              <a:srgbClr val="BEB9D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19" name="直接箭头连接符 218"/>
          <p:cNvCxnSpPr/>
          <p:nvPr/>
        </p:nvCxnSpPr>
        <p:spPr>
          <a:xfrm>
            <a:off x="1267917" y="5166933"/>
            <a:ext cx="0" cy="23406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0" name="矩形 219"/>
          <p:cNvSpPr/>
          <p:nvPr/>
        </p:nvSpPr>
        <p:spPr>
          <a:xfrm rot="5400000">
            <a:off x="1690243" y="4782490"/>
            <a:ext cx="230503" cy="519207"/>
          </a:xfrm>
          <a:prstGeom prst="rect">
            <a:avLst/>
          </a:prstGeom>
          <a:solidFill>
            <a:srgbClr val="BEB9DA">
              <a:alpha val="50000"/>
            </a:srgbClr>
          </a:solidFill>
          <a:ln>
            <a:solidFill>
              <a:srgbClr val="BEB9D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21" name="直接箭头连接符 220"/>
          <p:cNvCxnSpPr/>
          <p:nvPr/>
        </p:nvCxnSpPr>
        <p:spPr>
          <a:xfrm>
            <a:off x="1821848" y="5166933"/>
            <a:ext cx="0" cy="23406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2" name="矩形 221"/>
          <p:cNvSpPr/>
          <p:nvPr/>
        </p:nvSpPr>
        <p:spPr>
          <a:xfrm rot="5400000">
            <a:off x="2244174" y="4788267"/>
            <a:ext cx="230503" cy="519207"/>
          </a:xfrm>
          <a:prstGeom prst="rect">
            <a:avLst/>
          </a:prstGeom>
          <a:solidFill>
            <a:srgbClr val="BEB9DA">
              <a:alpha val="50000"/>
            </a:srgbClr>
          </a:solidFill>
          <a:ln>
            <a:solidFill>
              <a:srgbClr val="BEB9D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23" name="直接箭头连接符 222"/>
          <p:cNvCxnSpPr/>
          <p:nvPr/>
        </p:nvCxnSpPr>
        <p:spPr>
          <a:xfrm>
            <a:off x="2375779" y="5172710"/>
            <a:ext cx="0" cy="2509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266"/>
          <p:cNvSpPr txBox="1"/>
          <p:nvPr/>
        </p:nvSpPr>
        <p:spPr>
          <a:xfrm>
            <a:off x="452966" y="4912187"/>
            <a:ext cx="56197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000" dirty="0">
                <a:latin typeface="Arial" panose="020B0604020202020204" pitchFamily="34" charset="0"/>
                <a:ea typeface="微软雅黑" panose="020B0503020204020204" charset="-122"/>
              </a:rPr>
              <a:t>LSTM</a:t>
            </a:r>
            <a:endParaRPr lang="en-US" altLang="zh-CN" sz="1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32" name="文本框 266"/>
          <p:cNvSpPr txBox="1"/>
          <p:nvPr/>
        </p:nvSpPr>
        <p:spPr>
          <a:xfrm>
            <a:off x="994009" y="4919905"/>
            <a:ext cx="56197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000" dirty="0">
                <a:latin typeface="Arial" panose="020B0604020202020204" pitchFamily="34" charset="0"/>
                <a:ea typeface="微软雅黑" panose="020B0503020204020204" charset="-122"/>
              </a:rPr>
              <a:t>LSTM</a:t>
            </a:r>
            <a:endParaRPr lang="en-US" altLang="zh-CN" sz="1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33" name="文本框 266"/>
          <p:cNvSpPr txBox="1"/>
          <p:nvPr/>
        </p:nvSpPr>
        <p:spPr>
          <a:xfrm>
            <a:off x="2104531" y="4937048"/>
            <a:ext cx="561975" cy="2451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000" dirty="0">
                <a:latin typeface="Arial" panose="020B0604020202020204" pitchFamily="34" charset="0"/>
                <a:ea typeface="微软雅黑" panose="020B0503020204020204" charset="-122"/>
              </a:rPr>
              <a:t>LSTM</a:t>
            </a:r>
            <a:endParaRPr lang="en-US" altLang="zh-CN" sz="1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8" name="文本框 272"/>
          <p:cNvSpPr txBox="1"/>
          <p:nvPr/>
        </p:nvSpPr>
        <p:spPr>
          <a:xfrm>
            <a:off x="1579452" y="4874723"/>
            <a:ext cx="442278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dirty="0">
                <a:latin typeface="Arial" panose="020B0604020202020204" pitchFamily="34" charset="0"/>
                <a:ea typeface="微软雅黑" panose="020B0503020204020204" charset="-122"/>
              </a:rPr>
              <a:t>......</a:t>
            </a:r>
            <a:endParaRPr lang="en-US" altLang="zh-CN" sz="12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4158284" y="1498222"/>
            <a:ext cx="1847398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Compound SMILES</a:t>
            </a:r>
            <a:endParaRPr lang="en-US" altLang="zh-CN" sz="11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en-US" altLang="zh-CN" sz="1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CC(=O)Oc1ccccc1C(=O)O</a:t>
            </a:r>
            <a:endParaRPr lang="en-US" altLang="zh-CN" sz="105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41" name="圆角矩形 10"/>
          <p:cNvSpPr/>
          <p:nvPr/>
        </p:nvSpPr>
        <p:spPr>
          <a:xfrm>
            <a:off x="4650513" y="2137672"/>
            <a:ext cx="778500" cy="2792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42" name="文本框 26"/>
          <p:cNvSpPr txBox="1"/>
          <p:nvPr/>
        </p:nvSpPr>
        <p:spPr>
          <a:xfrm>
            <a:off x="4752856" y="2179610"/>
            <a:ext cx="646241" cy="25273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50" b="1" dirty="0">
                <a:solidFill>
                  <a:srgbClr val="FB8072"/>
                </a:solidFill>
                <a:latin typeface="Arial" panose="020B0604020202020204" pitchFamily="34" charset="0"/>
                <a:ea typeface="微软雅黑" panose="020B0503020204020204" charset="-122"/>
              </a:rPr>
              <a:t>RDKit</a:t>
            </a:r>
            <a:endParaRPr lang="en-US" altLang="zh-CN" sz="1050" b="1" dirty="0">
              <a:solidFill>
                <a:srgbClr val="FB8072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243" name="直接箭头连接符 242"/>
          <p:cNvCxnSpPr/>
          <p:nvPr/>
        </p:nvCxnSpPr>
        <p:spPr>
          <a:xfrm>
            <a:off x="5036402" y="1879537"/>
            <a:ext cx="0" cy="21336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/>
          <p:nvPr/>
        </p:nvCxnSpPr>
        <p:spPr>
          <a:xfrm>
            <a:off x="5046854" y="2477336"/>
            <a:ext cx="0" cy="1727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46" name="图形 24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98598" y="2405283"/>
            <a:ext cx="958423" cy="958423"/>
          </a:xfrm>
          <a:prstGeom prst="rect">
            <a:avLst/>
          </a:prstGeom>
        </p:spPr>
      </p:pic>
      <p:sp>
        <p:nvSpPr>
          <p:cNvPr id="248" name="矩形: 圆角 247"/>
          <p:cNvSpPr/>
          <p:nvPr/>
        </p:nvSpPr>
        <p:spPr>
          <a:xfrm>
            <a:off x="4083677" y="3377987"/>
            <a:ext cx="2004167" cy="657062"/>
          </a:xfrm>
          <a:prstGeom prst="roundRect">
            <a:avLst/>
          </a:prstGeom>
          <a:solidFill>
            <a:srgbClr val="80B1D3">
              <a:alpha val="44706"/>
            </a:srgbClr>
          </a:solidFill>
          <a:ln>
            <a:solidFill>
              <a:srgbClr val="80B1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1" name="组合 470"/>
          <p:cNvGrpSpPr>
            <a:grpSpLocks noChangeAspect="1"/>
          </p:cNvGrpSpPr>
          <p:nvPr/>
        </p:nvGrpSpPr>
        <p:grpSpPr>
          <a:xfrm>
            <a:off x="5254552" y="3500635"/>
            <a:ext cx="742134" cy="443316"/>
            <a:chOff x="4829216" y="3556005"/>
            <a:chExt cx="950114" cy="567554"/>
          </a:xfrm>
        </p:grpSpPr>
        <p:cxnSp>
          <p:nvCxnSpPr>
            <p:cNvPr id="282" name="直接箭头连接符 281"/>
            <p:cNvCxnSpPr/>
            <p:nvPr/>
          </p:nvCxnSpPr>
          <p:spPr>
            <a:xfrm>
              <a:off x="4898434" y="3612785"/>
              <a:ext cx="85143" cy="85357"/>
            </a:xfrm>
            <a:prstGeom prst="straightConnector1">
              <a:avLst/>
            </a:prstGeom>
            <a:ln w="19050">
              <a:solidFill>
                <a:srgbClr val="385723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箭头连接符 282"/>
            <p:cNvCxnSpPr>
              <a:endCxn id="317" idx="3"/>
            </p:cNvCxnSpPr>
            <p:nvPr/>
          </p:nvCxnSpPr>
          <p:spPr>
            <a:xfrm flipV="1">
              <a:off x="4894470" y="3749188"/>
              <a:ext cx="86815" cy="63240"/>
            </a:xfrm>
            <a:prstGeom prst="straightConnector1">
              <a:avLst/>
            </a:prstGeom>
            <a:ln w="19050">
              <a:solidFill>
                <a:srgbClr val="385723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箭头连接符 285"/>
            <p:cNvCxnSpPr>
              <a:stCxn id="291" idx="1"/>
            </p:cNvCxnSpPr>
            <p:nvPr/>
          </p:nvCxnSpPr>
          <p:spPr>
            <a:xfrm flipH="1" flipV="1">
              <a:off x="5329089" y="3697823"/>
              <a:ext cx="110738" cy="56756"/>
            </a:xfrm>
            <a:prstGeom prst="straightConnector1">
              <a:avLst/>
            </a:prstGeom>
            <a:ln w="19050">
              <a:solidFill>
                <a:srgbClr val="385723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椭圆 289"/>
            <p:cNvSpPr>
              <a:spLocks noChangeAspect="1"/>
            </p:cNvSpPr>
            <p:nvPr/>
          </p:nvSpPr>
          <p:spPr>
            <a:xfrm>
              <a:off x="5570897" y="3633899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1" name="椭圆 290"/>
            <p:cNvSpPr>
              <a:spLocks noChangeAspect="1"/>
            </p:cNvSpPr>
            <p:nvPr/>
          </p:nvSpPr>
          <p:spPr>
            <a:xfrm>
              <a:off x="5429013" y="3743765"/>
              <a:ext cx="73843" cy="73843"/>
            </a:xfrm>
            <a:prstGeom prst="ellipse">
              <a:avLst/>
            </a:prstGeom>
            <a:solidFill>
              <a:srgbClr val="3857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2" name="椭圆 291"/>
            <p:cNvSpPr>
              <a:spLocks noChangeAspect="1"/>
            </p:cNvSpPr>
            <p:nvPr/>
          </p:nvSpPr>
          <p:spPr>
            <a:xfrm>
              <a:off x="5705487" y="3752975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3" name="椭圆 292"/>
            <p:cNvSpPr>
              <a:spLocks noChangeAspect="1"/>
            </p:cNvSpPr>
            <p:nvPr/>
          </p:nvSpPr>
          <p:spPr>
            <a:xfrm>
              <a:off x="5427597" y="3897641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4" name="椭圆 293"/>
            <p:cNvSpPr>
              <a:spLocks noChangeAspect="1"/>
            </p:cNvSpPr>
            <p:nvPr/>
          </p:nvSpPr>
          <p:spPr>
            <a:xfrm>
              <a:off x="5570898" y="3984557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5705486" y="3902030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296" name="直接连接符 295"/>
            <p:cNvCxnSpPr>
              <a:stCxn id="291" idx="7"/>
              <a:endCxn id="290" idx="3"/>
            </p:cNvCxnSpPr>
            <p:nvPr/>
          </p:nvCxnSpPr>
          <p:spPr>
            <a:xfrm flipV="1">
              <a:off x="5492042" y="3696928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>
              <a:stCxn id="293" idx="0"/>
            </p:cNvCxnSpPr>
            <p:nvPr/>
          </p:nvCxnSpPr>
          <p:spPr>
            <a:xfrm flipV="1">
              <a:off x="5464519" y="3817401"/>
              <a:ext cx="0" cy="802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直接连接符 303"/>
            <p:cNvCxnSpPr>
              <a:endCxn id="294" idx="2"/>
            </p:cNvCxnSpPr>
            <p:nvPr/>
          </p:nvCxnSpPr>
          <p:spPr>
            <a:xfrm>
              <a:off x="5481228" y="3968953"/>
              <a:ext cx="89670" cy="525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/>
            <p:cNvCxnSpPr>
              <a:endCxn id="295" idx="3"/>
            </p:cNvCxnSpPr>
            <p:nvPr/>
          </p:nvCxnSpPr>
          <p:spPr>
            <a:xfrm flipV="1">
              <a:off x="5644742" y="3965059"/>
              <a:ext cx="71558" cy="426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/>
            <p:cNvCxnSpPr>
              <a:endCxn id="292" idx="1"/>
            </p:cNvCxnSpPr>
            <p:nvPr/>
          </p:nvCxnSpPr>
          <p:spPr>
            <a:xfrm>
              <a:off x="5640786" y="3695213"/>
              <a:ext cx="75515" cy="685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/>
            <p:cNvCxnSpPr>
              <a:stCxn id="295" idx="0"/>
              <a:endCxn id="292" idx="4"/>
            </p:cNvCxnSpPr>
            <p:nvPr/>
          </p:nvCxnSpPr>
          <p:spPr>
            <a:xfrm flipV="1">
              <a:off x="5742408" y="3826818"/>
              <a:ext cx="1" cy="75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椭圆 313"/>
            <p:cNvSpPr>
              <a:spLocks noChangeAspect="1"/>
            </p:cNvSpPr>
            <p:nvPr/>
          </p:nvSpPr>
          <p:spPr>
            <a:xfrm>
              <a:off x="5286813" y="3649238"/>
              <a:ext cx="73843" cy="7384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5" name="椭圆 314"/>
            <p:cNvSpPr>
              <a:spLocks noChangeAspect="1"/>
            </p:cNvSpPr>
            <p:nvPr/>
          </p:nvSpPr>
          <p:spPr>
            <a:xfrm>
              <a:off x="5151125" y="3763789"/>
              <a:ext cx="73843" cy="73843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6" name="椭圆 315"/>
            <p:cNvSpPr>
              <a:spLocks noChangeAspect="1"/>
            </p:cNvSpPr>
            <p:nvPr/>
          </p:nvSpPr>
          <p:spPr>
            <a:xfrm>
              <a:off x="5142287" y="3934562"/>
              <a:ext cx="73843" cy="7384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7" name="椭圆 316"/>
            <p:cNvSpPr>
              <a:spLocks noChangeAspect="1"/>
            </p:cNvSpPr>
            <p:nvPr/>
          </p:nvSpPr>
          <p:spPr>
            <a:xfrm>
              <a:off x="4970471" y="3686159"/>
              <a:ext cx="73843" cy="7384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8" name="椭圆 317"/>
            <p:cNvSpPr>
              <a:spLocks noChangeAspect="1"/>
            </p:cNvSpPr>
            <p:nvPr/>
          </p:nvSpPr>
          <p:spPr>
            <a:xfrm>
              <a:off x="4835147" y="3810101"/>
              <a:ext cx="73843" cy="73843"/>
            </a:xfrm>
            <a:prstGeom prst="ellipse">
              <a:avLst/>
            </a:prstGeom>
            <a:solidFill>
              <a:srgbClr val="3857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9" name="椭圆 318"/>
            <p:cNvSpPr>
              <a:spLocks noChangeAspect="1"/>
            </p:cNvSpPr>
            <p:nvPr/>
          </p:nvSpPr>
          <p:spPr>
            <a:xfrm>
              <a:off x="4829216" y="3556005"/>
              <a:ext cx="73843" cy="73843"/>
            </a:xfrm>
            <a:prstGeom prst="ellipse">
              <a:avLst/>
            </a:prstGeom>
            <a:solidFill>
              <a:srgbClr val="3857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321" name="直接连接符 320"/>
            <p:cNvCxnSpPr/>
            <p:nvPr/>
          </p:nvCxnSpPr>
          <p:spPr>
            <a:xfrm flipV="1">
              <a:off x="5209628" y="3714939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连接符 321"/>
            <p:cNvCxnSpPr>
              <a:stCxn id="291" idx="1"/>
              <a:endCxn id="314" idx="5"/>
            </p:cNvCxnSpPr>
            <p:nvPr/>
          </p:nvCxnSpPr>
          <p:spPr>
            <a:xfrm flipH="1" flipV="1">
              <a:off x="5349842" y="3712267"/>
              <a:ext cx="89985" cy="423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连接符 324"/>
            <p:cNvCxnSpPr>
              <a:stCxn id="316" idx="0"/>
              <a:endCxn id="315" idx="4"/>
            </p:cNvCxnSpPr>
            <p:nvPr/>
          </p:nvCxnSpPr>
          <p:spPr>
            <a:xfrm flipV="1">
              <a:off x="5179209" y="3837632"/>
              <a:ext cx="8838" cy="96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/>
            <p:cNvCxnSpPr>
              <a:stCxn id="317" idx="6"/>
              <a:endCxn id="315" idx="1"/>
            </p:cNvCxnSpPr>
            <p:nvPr/>
          </p:nvCxnSpPr>
          <p:spPr>
            <a:xfrm>
              <a:off x="5044314" y="3723081"/>
              <a:ext cx="117625" cy="515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连接符 329"/>
            <p:cNvCxnSpPr/>
            <p:nvPr/>
          </p:nvCxnSpPr>
          <p:spPr>
            <a:xfrm flipV="1">
              <a:off x="4895570" y="3753879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/>
            <p:cNvCxnSpPr>
              <a:endCxn id="317" idx="1"/>
            </p:cNvCxnSpPr>
            <p:nvPr/>
          </p:nvCxnSpPr>
          <p:spPr>
            <a:xfrm>
              <a:off x="4895570" y="3611396"/>
              <a:ext cx="85715" cy="855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椭圆 332"/>
            <p:cNvSpPr>
              <a:spLocks noChangeAspect="1"/>
            </p:cNvSpPr>
            <p:nvPr/>
          </p:nvSpPr>
          <p:spPr>
            <a:xfrm>
              <a:off x="5290459" y="4049716"/>
              <a:ext cx="73843" cy="73843"/>
            </a:xfrm>
            <a:prstGeom prst="ellipse">
              <a:avLst/>
            </a:prstGeom>
            <a:solidFill>
              <a:srgbClr val="3857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334" name="直接连接符 333"/>
            <p:cNvCxnSpPr>
              <a:stCxn id="333" idx="1"/>
              <a:endCxn id="316" idx="5"/>
            </p:cNvCxnSpPr>
            <p:nvPr/>
          </p:nvCxnSpPr>
          <p:spPr>
            <a:xfrm flipH="1" flipV="1">
              <a:off x="5205316" y="3997591"/>
              <a:ext cx="95957" cy="62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直接箭头连接符 341"/>
            <p:cNvCxnSpPr>
              <a:stCxn id="333" idx="1"/>
            </p:cNvCxnSpPr>
            <p:nvPr/>
          </p:nvCxnSpPr>
          <p:spPr>
            <a:xfrm flipH="1" flipV="1">
              <a:off x="5200791" y="3991884"/>
              <a:ext cx="100482" cy="68646"/>
            </a:xfrm>
            <a:prstGeom prst="straightConnector1">
              <a:avLst/>
            </a:prstGeom>
            <a:ln w="19050">
              <a:solidFill>
                <a:srgbClr val="385723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直接箭头连接符 357"/>
            <p:cNvCxnSpPr>
              <a:stCxn id="314" idx="3"/>
              <a:endCxn id="315" idx="7"/>
            </p:cNvCxnSpPr>
            <p:nvPr/>
          </p:nvCxnSpPr>
          <p:spPr>
            <a:xfrm flipH="1">
              <a:off x="5214154" y="3712267"/>
              <a:ext cx="83473" cy="62336"/>
            </a:xfrm>
            <a:prstGeom prst="straightConnector1">
              <a:avLst/>
            </a:prstGeom>
            <a:ln w="19050">
              <a:solidFill>
                <a:srgbClr val="0070C0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直接箭头连接符 358"/>
            <p:cNvCxnSpPr>
              <a:stCxn id="316" idx="0"/>
            </p:cNvCxnSpPr>
            <p:nvPr/>
          </p:nvCxnSpPr>
          <p:spPr>
            <a:xfrm flipV="1">
              <a:off x="5179209" y="3838720"/>
              <a:ext cx="4419" cy="95842"/>
            </a:xfrm>
            <a:prstGeom prst="straightConnector1">
              <a:avLst/>
            </a:prstGeom>
            <a:ln w="19050">
              <a:solidFill>
                <a:srgbClr val="0070C0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直接箭头连接符 359"/>
            <p:cNvCxnSpPr>
              <a:endCxn id="315" idx="1"/>
            </p:cNvCxnSpPr>
            <p:nvPr/>
          </p:nvCxnSpPr>
          <p:spPr>
            <a:xfrm>
              <a:off x="5042068" y="3720570"/>
              <a:ext cx="119871" cy="54033"/>
            </a:xfrm>
            <a:prstGeom prst="straightConnector1">
              <a:avLst/>
            </a:prstGeom>
            <a:ln w="19050">
              <a:solidFill>
                <a:srgbClr val="0070C0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0" name="组合 469"/>
          <p:cNvGrpSpPr>
            <a:grpSpLocks noChangeAspect="1"/>
          </p:cNvGrpSpPr>
          <p:nvPr/>
        </p:nvGrpSpPr>
        <p:grpSpPr>
          <a:xfrm>
            <a:off x="4128319" y="3432957"/>
            <a:ext cx="859079" cy="555387"/>
            <a:chOff x="3862395" y="4529139"/>
            <a:chExt cx="1091888" cy="705896"/>
          </a:xfrm>
        </p:grpSpPr>
        <p:sp>
          <p:nvSpPr>
            <p:cNvPr id="404" name="椭圆 403"/>
            <p:cNvSpPr>
              <a:spLocks noChangeAspect="1"/>
            </p:cNvSpPr>
            <p:nvPr/>
          </p:nvSpPr>
          <p:spPr>
            <a:xfrm>
              <a:off x="4745850" y="4696197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05" name="椭圆 404"/>
            <p:cNvSpPr>
              <a:spLocks noChangeAspect="1"/>
            </p:cNvSpPr>
            <p:nvPr/>
          </p:nvSpPr>
          <p:spPr>
            <a:xfrm>
              <a:off x="4603966" y="4806063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06" name="椭圆 405"/>
            <p:cNvSpPr>
              <a:spLocks noChangeAspect="1"/>
            </p:cNvSpPr>
            <p:nvPr/>
          </p:nvSpPr>
          <p:spPr>
            <a:xfrm>
              <a:off x="4880440" y="4815273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07" name="椭圆 406"/>
            <p:cNvSpPr>
              <a:spLocks noChangeAspect="1"/>
            </p:cNvSpPr>
            <p:nvPr/>
          </p:nvSpPr>
          <p:spPr>
            <a:xfrm>
              <a:off x="4602550" y="4959939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08" name="椭圆 407"/>
            <p:cNvSpPr>
              <a:spLocks noChangeAspect="1"/>
            </p:cNvSpPr>
            <p:nvPr/>
          </p:nvSpPr>
          <p:spPr>
            <a:xfrm>
              <a:off x="4745851" y="5046855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09" name="椭圆 408"/>
            <p:cNvSpPr>
              <a:spLocks noChangeAspect="1"/>
            </p:cNvSpPr>
            <p:nvPr/>
          </p:nvSpPr>
          <p:spPr>
            <a:xfrm>
              <a:off x="4880439" y="4964328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410" name="直接连接符 409"/>
            <p:cNvCxnSpPr>
              <a:stCxn id="405" idx="7"/>
              <a:endCxn id="404" idx="3"/>
            </p:cNvCxnSpPr>
            <p:nvPr/>
          </p:nvCxnSpPr>
          <p:spPr>
            <a:xfrm flipV="1">
              <a:off x="4666995" y="4759226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直接连接符 410"/>
            <p:cNvCxnSpPr>
              <a:stCxn id="407" idx="0"/>
            </p:cNvCxnSpPr>
            <p:nvPr/>
          </p:nvCxnSpPr>
          <p:spPr>
            <a:xfrm flipV="1">
              <a:off x="4639472" y="4879699"/>
              <a:ext cx="0" cy="802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/>
            <p:cNvCxnSpPr>
              <a:endCxn id="408" idx="2"/>
            </p:cNvCxnSpPr>
            <p:nvPr/>
          </p:nvCxnSpPr>
          <p:spPr>
            <a:xfrm>
              <a:off x="4656181" y="5031251"/>
              <a:ext cx="89670" cy="525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连接符 412"/>
            <p:cNvCxnSpPr>
              <a:endCxn id="409" idx="3"/>
            </p:cNvCxnSpPr>
            <p:nvPr/>
          </p:nvCxnSpPr>
          <p:spPr>
            <a:xfrm flipV="1">
              <a:off x="4819695" y="5027357"/>
              <a:ext cx="71558" cy="426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直接连接符 413"/>
            <p:cNvCxnSpPr>
              <a:endCxn id="406" idx="1"/>
            </p:cNvCxnSpPr>
            <p:nvPr/>
          </p:nvCxnSpPr>
          <p:spPr>
            <a:xfrm>
              <a:off x="4815739" y="4757511"/>
              <a:ext cx="75515" cy="685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连接符 414"/>
            <p:cNvCxnSpPr>
              <a:stCxn id="409" idx="0"/>
              <a:endCxn id="406" idx="4"/>
            </p:cNvCxnSpPr>
            <p:nvPr/>
          </p:nvCxnSpPr>
          <p:spPr>
            <a:xfrm flipV="1">
              <a:off x="4917361" y="4889116"/>
              <a:ext cx="1" cy="75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" name="椭圆 415"/>
            <p:cNvSpPr>
              <a:spLocks noChangeAspect="1"/>
            </p:cNvSpPr>
            <p:nvPr/>
          </p:nvSpPr>
          <p:spPr>
            <a:xfrm>
              <a:off x="4461766" y="4711536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17" name="椭圆 416"/>
            <p:cNvSpPr>
              <a:spLocks noChangeAspect="1"/>
            </p:cNvSpPr>
            <p:nvPr/>
          </p:nvSpPr>
          <p:spPr>
            <a:xfrm>
              <a:off x="4326078" y="4826087"/>
              <a:ext cx="73843" cy="73843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18" name="椭圆 417"/>
            <p:cNvSpPr>
              <a:spLocks noChangeAspect="1"/>
            </p:cNvSpPr>
            <p:nvPr/>
          </p:nvSpPr>
          <p:spPr>
            <a:xfrm>
              <a:off x="4317240" y="4996860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19" name="椭圆 418"/>
            <p:cNvSpPr>
              <a:spLocks noChangeAspect="1"/>
            </p:cNvSpPr>
            <p:nvPr/>
          </p:nvSpPr>
          <p:spPr>
            <a:xfrm>
              <a:off x="4145424" y="4748457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20" name="椭圆 419"/>
            <p:cNvSpPr>
              <a:spLocks noChangeAspect="1"/>
            </p:cNvSpPr>
            <p:nvPr/>
          </p:nvSpPr>
          <p:spPr>
            <a:xfrm>
              <a:off x="4010100" y="4872399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21" name="椭圆 420"/>
            <p:cNvSpPr>
              <a:spLocks noChangeAspect="1"/>
            </p:cNvSpPr>
            <p:nvPr/>
          </p:nvSpPr>
          <p:spPr>
            <a:xfrm>
              <a:off x="4004169" y="4618303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422" name="直接连接符 421"/>
            <p:cNvCxnSpPr/>
            <p:nvPr/>
          </p:nvCxnSpPr>
          <p:spPr>
            <a:xfrm flipV="1">
              <a:off x="4384581" y="4777237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/>
            <p:cNvCxnSpPr>
              <a:stCxn id="418" idx="0"/>
              <a:endCxn id="417" idx="4"/>
            </p:cNvCxnSpPr>
            <p:nvPr/>
          </p:nvCxnSpPr>
          <p:spPr>
            <a:xfrm flipV="1">
              <a:off x="4354162" y="4899930"/>
              <a:ext cx="8838" cy="96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/>
            <p:cNvCxnSpPr>
              <a:stCxn id="419" idx="6"/>
              <a:endCxn id="417" idx="1"/>
            </p:cNvCxnSpPr>
            <p:nvPr/>
          </p:nvCxnSpPr>
          <p:spPr>
            <a:xfrm>
              <a:off x="4219267" y="4785379"/>
              <a:ext cx="117625" cy="515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8" name="椭圆 427"/>
            <p:cNvSpPr>
              <a:spLocks noChangeAspect="1"/>
            </p:cNvSpPr>
            <p:nvPr/>
          </p:nvSpPr>
          <p:spPr>
            <a:xfrm>
              <a:off x="4465412" y="5112014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429" name="直接连接符 428"/>
            <p:cNvCxnSpPr>
              <a:stCxn id="428" idx="1"/>
              <a:endCxn id="418" idx="5"/>
            </p:cNvCxnSpPr>
            <p:nvPr/>
          </p:nvCxnSpPr>
          <p:spPr>
            <a:xfrm flipH="1" flipV="1">
              <a:off x="4380269" y="5059889"/>
              <a:ext cx="95957" cy="62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直接箭头连接符 433"/>
            <p:cNvCxnSpPr>
              <a:stCxn id="417" idx="1"/>
              <a:endCxn id="419" idx="6"/>
            </p:cNvCxnSpPr>
            <p:nvPr/>
          </p:nvCxnSpPr>
          <p:spPr>
            <a:xfrm flipH="1" flipV="1">
              <a:off x="4219267" y="4785379"/>
              <a:ext cx="117625" cy="51522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直接箭头连接符 438"/>
            <p:cNvCxnSpPr>
              <a:stCxn id="419" idx="1"/>
            </p:cNvCxnSpPr>
            <p:nvPr/>
          </p:nvCxnSpPr>
          <p:spPr>
            <a:xfrm flipH="1" flipV="1">
              <a:off x="4071760" y="4678377"/>
              <a:ext cx="84478" cy="80894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直接箭头连接符 439"/>
            <p:cNvCxnSpPr>
              <a:endCxn id="416" idx="3"/>
            </p:cNvCxnSpPr>
            <p:nvPr/>
          </p:nvCxnSpPr>
          <p:spPr>
            <a:xfrm flipV="1">
              <a:off x="4382911" y="4774565"/>
              <a:ext cx="89669" cy="54638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直接箭头连接符 440"/>
            <p:cNvCxnSpPr/>
            <p:nvPr/>
          </p:nvCxnSpPr>
          <p:spPr>
            <a:xfrm>
              <a:off x="4539525" y="4760231"/>
              <a:ext cx="87450" cy="63136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直接箭头连接符 441"/>
            <p:cNvCxnSpPr>
              <a:endCxn id="418" idx="0"/>
            </p:cNvCxnSpPr>
            <p:nvPr/>
          </p:nvCxnSpPr>
          <p:spPr>
            <a:xfrm flipH="1">
              <a:off x="4354162" y="4907604"/>
              <a:ext cx="7420" cy="89256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直接箭头连接符 442"/>
            <p:cNvCxnSpPr>
              <a:stCxn id="419" idx="3"/>
            </p:cNvCxnSpPr>
            <p:nvPr/>
          </p:nvCxnSpPr>
          <p:spPr>
            <a:xfrm flipH="1">
              <a:off x="4071528" y="4811486"/>
              <a:ext cx="84710" cy="68213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直接连接符 443"/>
            <p:cNvCxnSpPr>
              <a:endCxn id="405" idx="1"/>
            </p:cNvCxnSpPr>
            <p:nvPr/>
          </p:nvCxnSpPr>
          <p:spPr>
            <a:xfrm>
              <a:off x="4534419" y="4760611"/>
              <a:ext cx="80361" cy="562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接连接符 445"/>
            <p:cNvCxnSpPr>
              <a:endCxn id="419" idx="1"/>
            </p:cNvCxnSpPr>
            <p:nvPr/>
          </p:nvCxnSpPr>
          <p:spPr>
            <a:xfrm>
              <a:off x="4066253" y="4679408"/>
              <a:ext cx="89985" cy="798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接连接符 447"/>
            <p:cNvCxnSpPr>
              <a:endCxn id="419" idx="3"/>
            </p:cNvCxnSpPr>
            <p:nvPr/>
          </p:nvCxnSpPr>
          <p:spPr>
            <a:xfrm flipV="1">
              <a:off x="4076274" y="4811486"/>
              <a:ext cx="79964" cy="682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直接箭头连接符 462"/>
            <p:cNvCxnSpPr>
              <a:stCxn id="418" idx="5"/>
              <a:endCxn id="428" idx="1"/>
            </p:cNvCxnSpPr>
            <p:nvPr/>
          </p:nvCxnSpPr>
          <p:spPr>
            <a:xfrm>
              <a:off x="4380269" y="5059889"/>
              <a:ext cx="95957" cy="62939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椭圆 467"/>
            <p:cNvSpPr/>
            <p:nvPr/>
          </p:nvSpPr>
          <p:spPr>
            <a:xfrm>
              <a:off x="4125152" y="4618303"/>
              <a:ext cx="451289" cy="464331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9" name="椭圆 468"/>
            <p:cNvSpPr/>
            <p:nvPr/>
          </p:nvSpPr>
          <p:spPr>
            <a:xfrm>
              <a:off x="3862395" y="4529139"/>
              <a:ext cx="916415" cy="70589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73" name="直接箭头连接符 472"/>
          <p:cNvCxnSpPr/>
          <p:nvPr/>
        </p:nvCxnSpPr>
        <p:spPr>
          <a:xfrm>
            <a:off x="5029520" y="3730040"/>
            <a:ext cx="159579" cy="6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6" name="矩形: 圆角 475"/>
          <p:cNvSpPr/>
          <p:nvPr/>
        </p:nvSpPr>
        <p:spPr>
          <a:xfrm>
            <a:off x="4083677" y="4311550"/>
            <a:ext cx="2004167" cy="657062"/>
          </a:xfrm>
          <a:prstGeom prst="roundRect">
            <a:avLst/>
          </a:prstGeom>
          <a:solidFill>
            <a:srgbClr val="80B1D3">
              <a:alpha val="44706"/>
            </a:srgbClr>
          </a:solidFill>
          <a:ln>
            <a:solidFill>
              <a:srgbClr val="80B1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7" name="组合 476"/>
          <p:cNvGrpSpPr>
            <a:grpSpLocks noChangeAspect="1"/>
          </p:cNvGrpSpPr>
          <p:nvPr/>
        </p:nvGrpSpPr>
        <p:grpSpPr>
          <a:xfrm>
            <a:off x="5254552" y="4434198"/>
            <a:ext cx="742134" cy="443316"/>
            <a:chOff x="4829216" y="3556005"/>
            <a:chExt cx="950114" cy="567554"/>
          </a:xfrm>
        </p:grpSpPr>
        <p:cxnSp>
          <p:nvCxnSpPr>
            <p:cNvPr id="478" name="直接箭头连接符 477"/>
            <p:cNvCxnSpPr/>
            <p:nvPr/>
          </p:nvCxnSpPr>
          <p:spPr>
            <a:xfrm>
              <a:off x="4898434" y="3612785"/>
              <a:ext cx="85143" cy="85357"/>
            </a:xfrm>
            <a:prstGeom prst="straightConnector1">
              <a:avLst/>
            </a:prstGeom>
            <a:ln w="19050">
              <a:solidFill>
                <a:srgbClr val="385723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箭头连接符 478"/>
            <p:cNvCxnSpPr>
              <a:endCxn id="496" idx="3"/>
            </p:cNvCxnSpPr>
            <p:nvPr/>
          </p:nvCxnSpPr>
          <p:spPr>
            <a:xfrm flipV="1">
              <a:off x="4894470" y="3749188"/>
              <a:ext cx="86815" cy="63240"/>
            </a:xfrm>
            <a:prstGeom prst="straightConnector1">
              <a:avLst/>
            </a:prstGeom>
            <a:ln w="19050">
              <a:solidFill>
                <a:srgbClr val="385723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直接箭头连接符 479"/>
            <p:cNvCxnSpPr>
              <a:stCxn id="482" idx="1"/>
            </p:cNvCxnSpPr>
            <p:nvPr/>
          </p:nvCxnSpPr>
          <p:spPr>
            <a:xfrm flipH="1" flipV="1">
              <a:off x="5329089" y="3697823"/>
              <a:ext cx="110738" cy="56756"/>
            </a:xfrm>
            <a:prstGeom prst="straightConnector1">
              <a:avLst/>
            </a:prstGeom>
            <a:ln w="19050">
              <a:solidFill>
                <a:srgbClr val="385723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1" name="椭圆 480"/>
            <p:cNvSpPr>
              <a:spLocks noChangeAspect="1"/>
            </p:cNvSpPr>
            <p:nvPr/>
          </p:nvSpPr>
          <p:spPr>
            <a:xfrm>
              <a:off x="5570897" y="3633899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2" name="椭圆 481"/>
            <p:cNvSpPr>
              <a:spLocks noChangeAspect="1"/>
            </p:cNvSpPr>
            <p:nvPr/>
          </p:nvSpPr>
          <p:spPr>
            <a:xfrm>
              <a:off x="5429013" y="3743765"/>
              <a:ext cx="73843" cy="73843"/>
            </a:xfrm>
            <a:prstGeom prst="ellipse">
              <a:avLst/>
            </a:prstGeom>
            <a:solidFill>
              <a:srgbClr val="3857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3" name="椭圆 482"/>
            <p:cNvSpPr>
              <a:spLocks noChangeAspect="1"/>
            </p:cNvSpPr>
            <p:nvPr/>
          </p:nvSpPr>
          <p:spPr>
            <a:xfrm>
              <a:off x="5705487" y="3752975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4" name="椭圆 483"/>
            <p:cNvSpPr>
              <a:spLocks noChangeAspect="1"/>
            </p:cNvSpPr>
            <p:nvPr/>
          </p:nvSpPr>
          <p:spPr>
            <a:xfrm>
              <a:off x="5427597" y="3897641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5" name="椭圆 484"/>
            <p:cNvSpPr>
              <a:spLocks noChangeAspect="1"/>
            </p:cNvSpPr>
            <p:nvPr/>
          </p:nvSpPr>
          <p:spPr>
            <a:xfrm>
              <a:off x="5570898" y="3984557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6" name="椭圆 485"/>
            <p:cNvSpPr>
              <a:spLocks noChangeAspect="1"/>
            </p:cNvSpPr>
            <p:nvPr/>
          </p:nvSpPr>
          <p:spPr>
            <a:xfrm>
              <a:off x="5705486" y="3902030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487" name="直接连接符 486"/>
            <p:cNvCxnSpPr>
              <a:stCxn id="482" idx="7"/>
              <a:endCxn id="481" idx="3"/>
            </p:cNvCxnSpPr>
            <p:nvPr/>
          </p:nvCxnSpPr>
          <p:spPr>
            <a:xfrm flipV="1">
              <a:off x="5492042" y="3696928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487"/>
            <p:cNvCxnSpPr>
              <a:stCxn id="484" idx="0"/>
            </p:cNvCxnSpPr>
            <p:nvPr/>
          </p:nvCxnSpPr>
          <p:spPr>
            <a:xfrm flipV="1">
              <a:off x="5464519" y="3817401"/>
              <a:ext cx="0" cy="802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连接符 488"/>
            <p:cNvCxnSpPr>
              <a:endCxn id="485" idx="2"/>
            </p:cNvCxnSpPr>
            <p:nvPr/>
          </p:nvCxnSpPr>
          <p:spPr>
            <a:xfrm>
              <a:off x="5481228" y="3968953"/>
              <a:ext cx="89670" cy="525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直接连接符 489"/>
            <p:cNvCxnSpPr>
              <a:endCxn id="486" idx="3"/>
            </p:cNvCxnSpPr>
            <p:nvPr/>
          </p:nvCxnSpPr>
          <p:spPr>
            <a:xfrm flipV="1">
              <a:off x="5644742" y="3965059"/>
              <a:ext cx="71558" cy="426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直接连接符 490"/>
            <p:cNvCxnSpPr>
              <a:endCxn id="483" idx="1"/>
            </p:cNvCxnSpPr>
            <p:nvPr/>
          </p:nvCxnSpPr>
          <p:spPr>
            <a:xfrm>
              <a:off x="5640786" y="3695213"/>
              <a:ext cx="75515" cy="685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直接连接符 491"/>
            <p:cNvCxnSpPr>
              <a:stCxn id="486" idx="0"/>
              <a:endCxn id="483" idx="4"/>
            </p:cNvCxnSpPr>
            <p:nvPr/>
          </p:nvCxnSpPr>
          <p:spPr>
            <a:xfrm flipV="1">
              <a:off x="5742408" y="3826818"/>
              <a:ext cx="1" cy="75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3" name="椭圆 492"/>
            <p:cNvSpPr>
              <a:spLocks noChangeAspect="1"/>
            </p:cNvSpPr>
            <p:nvPr/>
          </p:nvSpPr>
          <p:spPr>
            <a:xfrm>
              <a:off x="5286813" y="3649238"/>
              <a:ext cx="73843" cy="7384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4" name="椭圆 493"/>
            <p:cNvSpPr>
              <a:spLocks noChangeAspect="1"/>
            </p:cNvSpPr>
            <p:nvPr/>
          </p:nvSpPr>
          <p:spPr>
            <a:xfrm>
              <a:off x="5151125" y="3763789"/>
              <a:ext cx="73843" cy="73843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5" name="椭圆 494"/>
            <p:cNvSpPr>
              <a:spLocks noChangeAspect="1"/>
            </p:cNvSpPr>
            <p:nvPr/>
          </p:nvSpPr>
          <p:spPr>
            <a:xfrm>
              <a:off x="5142287" y="3934562"/>
              <a:ext cx="73843" cy="7384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6" name="椭圆 495"/>
            <p:cNvSpPr>
              <a:spLocks noChangeAspect="1"/>
            </p:cNvSpPr>
            <p:nvPr/>
          </p:nvSpPr>
          <p:spPr>
            <a:xfrm>
              <a:off x="4970471" y="3686159"/>
              <a:ext cx="73843" cy="7384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7" name="椭圆 496"/>
            <p:cNvSpPr>
              <a:spLocks noChangeAspect="1"/>
            </p:cNvSpPr>
            <p:nvPr/>
          </p:nvSpPr>
          <p:spPr>
            <a:xfrm>
              <a:off x="4835147" y="3810101"/>
              <a:ext cx="73843" cy="73843"/>
            </a:xfrm>
            <a:prstGeom prst="ellipse">
              <a:avLst/>
            </a:prstGeom>
            <a:solidFill>
              <a:srgbClr val="3857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8" name="椭圆 497"/>
            <p:cNvSpPr>
              <a:spLocks noChangeAspect="1"/>
            </p:cNvSpPr>
            <p:nvPr/>
          </p:nvSpPr>
          <p:spPr>
            <a:xfrm>
              <a:off x="4829216" y="3556005"/>
              <a:ext cx="73843" cy="73843"/>
            </a:xfrm>
            <a:prstGeom prst="ellipse">
              <a:avLst/>
            </a:prstGeom>
            <a:solidFill>
              <a:srgbClr val="3857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499" name="直接连接符 498"/>
            <p:cNvCxnSpPr/>
            <p:nvPr/>
          </p:nvCxnSpPr>
          <p:spPr>
            <a:xfrm flipV="1">
              <a:off x="5209628" y="3714939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直接连接符 499"/>
            <p:cNvCxnSpPr>
              <a:stCxn id="482" idx="1"/>
              <a:endCxn id="493" idx="5"/>
            </p:cNvCxnSpPr>
            <p:nvPr/>
          </p:nvCxnSpPr>
          <p:spPr>
            <a:xfrm flipH="1" flipV="1">
              <a:off x="5349842" y="3712267"/>
              <a:ext cx="89985" cy="423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直接连接符 500"/>
            <p:cNvCxnSpPr>
              <a:stCxn id="495" idx="0"/>
              <a:endCxn id="494" idx="4"/>
            </p:cNvCxnSpPr>
            <p:nvPr/>
          </p:nvCxnSpPr>
          <p:spPr>
            <a:xfrm flipV="1">
              <a:off x="5179209" y="3837632"/>
              <a:ext cx="8838" cy="96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直接连接符 501"/>
            <p:cNvCxnSpPr>
              <a:stCxn id="496" idx="6"/>
              <a:endCxn id="494" idx="1"/>
            </p:cNvCxnSpPr>
            <p:nvPr/>
          </p:nvCxnSpPr>
          <p:spPr>
            <a:xfrm>
              <a:off x="5044314" y="3723081"/>
              <a:ext cx="117625" cy="515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直接连接符 502"/>
            <p:cNvCxnSpPr/>
            <p:nvPr/>
          </p:nvCxnSpPr>
          <p:spPr>
            <a:xfrm flipV="1">
              <a:off x="4895570" y="3753879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直接连接符 503"/>
            <p:cNvCxnSpPr>
              <a:endCxn id="496" idx="1"/>
            </p:cNvCxnSpPr>
            <p:nvPr/>
          </p:nvCxnSpPr>
          <p:spPr>
            <a:xfrm>
              <a:off x="4895570" y="3611396"/>
              <a:ext cx="85715" cy="855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5" name="椭圆 504"/>
            <p:cNvSpPr>
              <a:spLocks noChangeAspect="1"/>
            </p:cNvSpPr>
            <p:nvPr/>
          </p:nvSpPr>
          <p:spPr>
            <a:xfrm>
              <a:off x="5290459" y="4049716"/>
              <a:ext cx="73843" cy="73843"/>
            </a:xfrm>
            <a:prstGeom prst="ellipse">
              <a:avLst/>
            </a:prstGeom>
            <a:solidFill>
              <a:srgbClr val="3857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506" name="直接连接符 505"/>
            <p:cNvCxnSpPr>
              <a:stCxn id="505" idx="1"/>
              <a:endCxn id="495" idx="5"/>
            </p:cNvCxnSpPr>
            <p:nvPr/>
          </p:nvCxnSpPr>
          <p:spPr>
            <a:xfrm flipH="1" flipV="1">
              <a:off x="5205316" y="3997591"/>
              <a:ext cx="95957" cy="62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直接箭头连接符 506"/>
            <p:cNvCxnSpPr>
              <a:stCxn id="505" idx="1"/>
            </p:cNvCxnSpPr>
            <p:nvPr/>
          </p:nvCxnSpPr>
          <p:spPr>
            <a:xfrm flipH="1" flipV="1">
              <a:off x="5200791" y="3991884"/>
              <a:ext cx="100482" cy="68646"/>
            </a:xfrm>
            <a:prstGeom prst="straightConnector1">
              <a:avLst/>
            </a:prstGeom>
            <a:ln w="19050">
              <a:solidFill>
                <a:srgbClr val="385723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直接箭头连接符 507"/>
            <p:cNvCxnSpPr>
              <a:stCxn id="493" idx="3"/>
              <a:endCxn id="494" idx="7"/>
            </p:cNvCxnSpPr>
            <p:nvPr/>
          </p:nvCxnSpPr>
          <p:spPr>
            <a:xfrm flipH="1">
              <a:off x="5214154" y="3712267"/>
              <a:ext cx="83473" cy="62336"/>
            </a:xfrm>
            <a:prstGeom prst="straightConnector1">
              <a:avLst/>
            </a:prstGeom>
            <a:ln w="19050">
              <a:solidFill>
                <a:srgbClr val="0070C0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直接箭头连接符 508"/>
            <p:cNvCxnSpPr>
              <a:stCxn id="495" idx="0"/>
            </p:cNvCxnSpPr>
            <p:nvPr/>
          </p:nvCxnSpPr>
          <p:spPr>
            <a:xfrm flipV="1">
              <a:off x="5179209" y="3838720"/>
              <a:ext cx="4419" cy="95842"/>
            </a:xfrm>
            <a:prstGeom prst="straightConnector1">
              <a:avLst/>
            </a:prstGeom>
            <a:ln w="19050">
              <a:solidFill>
                <a:srgbClr val="0070C0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直接箭头连接符 509"/>
            <p:cNvCxnSpPr>
              <a:endCxn id="494" idx="1"/>
            </p:cNvCxnSpPr>
            <p:nvPr/>
          </p:nvCxnSpPr>
          <p:spPr>
            <a:xfrm>
              <a:off x="5042068" y="3720570"/>
              <a:ext cx="119871" cy="54033"/>
            </a:xfrm>
            <a:prstGeom prst="straightConnector1">
              <a:avLst/>
            </a:prstGeom>
            <a:ln w="19050">
              <a:solidFill>
                <a:srgbClr val="0070C0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1" name="组合 510"/>
          <p:cNvGrpSpPr>
            <a:grpSpLocks noChangeAspect="1"/>
          </p:cNvGrpSpPr>
          <p:nvPr/>
        </p:nvGrpSpPr>
        <p:grpSpPr>
          <a:xfrm>
            <a:off x="4128319" y="4366520"/>
            <a:ext cx="859079" cy="555387"/>
            <a:chOff x="3862395" y="4529139"/>
            <a:chExt cx="1091888" cy="705896"/>
          </a:xfrm>
        </p:grpSpPr>
        <p:sp>
          <p:nvSpPr>
            <p:cNvPr id="512" name="椭圆 511"/>
            <p:cNvSpPr>
              <a:spLocks noChangeAspect="1"/>
            </p:cNvSpPr>
            <p:nvPr/>
          </p:nvSpPr>
          <p:spPr>
            <a:xfrm>
              <a:off x="4745850" y="4696197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13" name="椭圆 512"/>
            <p:cNvSpPr>
              <a:spLocks noChangeAspect="1"/>
            </p:cNvSpPr>
            <p:nvPr/>
          </p:nvSpPr>
          <p:spPr>
            <a:xfrm>
              <a:off x="4603966" y="4806063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14" name="椭圆 513"/>
            <p:cNvSpPr>
              <a:spLocks noChangeAspect="1"/>
            </p:cNvSpPr>
            <p:nvPr/>
          </p:nvSpPr>
          <p:spPr>
            <a:xfrm>
              <a:off x="4880440" y="4815273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15" name="椭圆 514"/>
            <p:cNvSpPr>
              <a:spLocks noChangeAspect="1"/>
            </p:cNvSpPr>
            <p:nvPr/>
          </p:nvSpPr>
          <p:spPr>
            <a:xfrm>
              <a:off x="4602550" y="4959939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16" name="椭圆 515"/>
            <p:cNvSpPr>
              <a:spLocks noChangeAspect="1"/>
            </p:cNvSpPr>
            <p:nvPr/>
          </p:nvSpPr>
          <p:spPr>
            <a:xfrm>
              <a:off x="4745851" y="5046855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17" name="椭圆 516"/>
            <p:cNvSpPr>
              <a:spLocks noChangeAspect="1"/>
            </p:cNvSpPr>
            <p:nvPr/>
          </p:nvSpPr>
          <p:spPr>
            <a:xfrm>
              <a:off x="4880439" y="4964328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518" name="直接连接符 517"/>
            <p:cNvCxnSpPr>
              <a:stCxn id="513" idx="7"/>
              <a:endCxn id="512" idx="3"/>
            </p:cNvCxnSpPr>
            <p:nvPr/>
          </p:nvCxnSpPr>
          <p:spPr>
            <a:xfrm flipV="1">
              <a:off x="4666995" y="4759226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直接连接符 518"/>
            <p:cNvCxnSpPr>
              <a:stCxn id="515" idx="0"/>
            </p:cNvCxnSpPr>
            <p:nvPr/>
          </p:nvCxnSpPr>
          <p:spPr>
            <a:xfrm flipV="1">
              <a:off x="4639472" y="4879699"/>
              <a:ext cx="0" cy="802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直接连接符 519"/>
            <p:cNvCxnSpPr>
              <a:endCxn id="516" idx="2"/>
            </p:cNvCxnSpPr>
            <p:nvPr/>
          </p:nvCxnSpPr>
          <p:spPr>
            <a:xfrm>
              <a:off x="4656181" y="5031251"/>
              <a:ext cx="89670" cy="525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直接连接符 520"/>
            <p:cNvCxnSpPr>
              <a:endCxn id="517" idx="3"/>
            </p:cNvCxnSpPr>
            <p:nvPr/>
          </p:nvCxnSpPr>
          <p:spPr>
            <a:xfrm flipV="1">
              <a:off x="4819695" y="5027357"/>
              <a:ext cx="71558" cy="426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直接连接符 521"/>
            <p:cNvCxnSpPr>
              <a:endCxn id="514" idx="1"/>
            </p:cNvCxnSpPr>
            <p:nvPr/>
          </p:nvCxnSpPr>
          <p:spPr>
            <a:xfrm>
              <a:off x="4815739" y="4757511"/>
              <a:ext cx="75515" cy="685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直接连接符 522"/>
            <p:cNvCxnSpPr>
              <a:stCxn id="517" idx="0"/>
              <a:endCxn id="514" idx="4"/>
            </p:cNvCxnSpPr>
            <p:nvPr/>
          </p:nvCxnSpPr>
          <p:spPr>
            <a:xfrm flipV="1">
              <a:off x="4917361" y="4889116"/>
              <a:ext cx="1" cy="75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4" name="椭圆 523"/>
            <p:cNvSpPr>
              <a:spLocks noChangeAspect="1"/>
            </p:cNvSpPr>
            <p:nvPr/>
          </p:nvSpPr>
          <p:spPr>
            <a:xfrm>
              <a:off x="4461766" y="4711536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25" name="椭圆 524"/>
            <p:cNvSpPr>
              <a:spLocks noChangeAspect="1"/>
            </p:cNvSpPr>
            <p:nvPr/>
          </p:nvSpPr>
          <p:spPr>
            <a:xfrm>
              <a:off x="4326078" y="4826087"/>
              <a:ext cx="73843" cy="73843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26" name="椭圆 525"/>
            <p:cNvSpPr>
              <a:spLocks noChangeAspect="1"/>
            </p:cNvSpPr>
            <p:nvPr/>
          </p:nvSpPr>
          <p:spPr>
            <a:xfrm>
              <a:off x="4317240" y="4996860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27" name="椭圆 526"/>
            <p:cNvSpPr>
              <a:spLocks noChangeAspect="1"/>
            </p:cNvSpPr>
            <p:nvPr/>
          </p:nvSpPr>
          <p:spPr>
            <a:xfrm>
              <a:off x="4145424" y="4748457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28" name="椭圆 527"/>
            <p:cNvSpPr>
              <a:spLocks noChangeAspect="1"/>
            </p:cNvSpPr>
            <p:nvPr/>
          </p:nvSpPr>
          <p:spPr>
            <a:xfrm>
              <a:off x="4010100" y="4872399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29" name="椭圆 528"/>
            <p:cNvSpPr>
              <a:spLocks noChangeAspect="1"/>
            </p:cNvSpPr>
            <p:nvPr/>
          </p:nvSpPr>
          <p:spPr>
            <a:xfrm>
              <a:off x="4004169" y="4618303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530" name="直接连接符 529"/>
            <p:cNvCxnSpPr/>
            <p:nvPr/>
          </p:nvCxnSpPr>
          <p:spPr>
            <a:xfrm flipV="1">
              <a:off x="4384581" y="4777237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/>
            <p:cNvCxnSpPr>
              <a:stCxn id="526" idx="0"/>
              <a:endCxn id="525" idx="4"/>
            </p:cNvCxnSpPr>
            <p:nvPr/>
          </p:nvCxnSpPr>
          <p:spPr>
            <a:xfrm flipV="1">
              <a:off x="4354162" y="4899930"/>
              <a:ext cx="8838" cy="96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直接连接符 531"/>
            <p:cNvCxnSpPr>
              <a:stCxn id="527" idx="6"/>
              <a:endCxn id="525" idx="1"/>
            </p:cNvCxnSpPr>
            <p:nvPr/>
          </p:nvCxnSpPr>
          <p:spPr>
            <a:xfrm>
              <a:off x="4219267" y="4785379"/>
              <a:ext cx="117625" cy="515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3" name="椭圆 532"/>
            <p:cNvSpPr>
              <a:spLocks noChangeAspect="1"/>
            </p:cNvSpPr>
            <p:nvPr/>
          </p:nvSpPr>
          <p:spPr>
            <a:xfrm>
              <a:off x="4465412" y="5112014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534" name="直接连接符 533"/>
            <p:cNvCxnSpPr>
              <a:stCxn id="533" idx="1"/>
              <a:endCxn id="526" idx="5"/>
            </p:cNvCxnSpPr>
            <p:nvPr/>
          </p:nvCxnSpPr>
          <p:spPr>
            <a:xfrm flipH="1" flipV="1">
              <a:off x="4380269" y="5059889"/>
              <a:ext cx="95957" cy="62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直接箭头连接符 534"/>
            <p:cNvCxnSpPr>
              <a:stCxn id="525" idx="1"/>
              <a:endCxn id="527" idx="6"/>
            </p:cNvCxnSpPr>
            <p:nvPr/>
          </p:nvCxnSpPr>
          <p:spPr>
            <a:xfrm flipH="1" flipV="1">
              <a:off x="4219267" y="4785379"/>
              <a:ext cx="117625" cy="51522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接箭头连接符 535"/>
            <p:cNvCxnSpPr>
              <a:stCxn id="527" idx="1"/>
            </p:cNvCxnSpPr>
            <p:nvPr/>
          </p:nvCxnSpPr>
          <p:spPr>
            <a:xfrm flipH="1" flipV="1">
              <a:off x="4071760" y="4678377"/>
              <a:ext cx="84478" cy="80894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接箭头连接符 536"/>
            <p:cNvCxnSpPr>
              <a:endCxn id="524" idx="3"/>
            </p:cNvCxnSpPr>
            <p:nvPr/>
          </p:nvCxnSpPr>
          <p:spPr>
            <a:xfrm flipV="1">
              <a:off x="4382911" y="4774565"/>
              <a:ext cx="89669" cy="54638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直接箭头连接符 537"/>
            <p:cNvCxnSpPr/>
            <p:nvPr/>
          </p:nvCxnSpPr>
          <p:spPr>
            <a:xfrm>
              <a:off x="4539525" y="4760231"/>
              <a:ext cx="87450" cy="63136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接箭头连接符 538"/>
            <p:cNvCxnSpPr>
              <a:endCxn id="526" idx="0"/>
            </p:cNvCxnSpPr>
            <p:nvPr/>
          </p:nvCxnSpPr>
          <p:spPr>
            <a:xfrm flipH="1">
              <a:off x="4354162" y="4907604"/>
              <a:ext cx="7420" cy="89256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直接箭头连接符 539"/>
            <p:cNvCxnSpPr>
              <a:stCxn id="527" idx="3"/>
            </p:cNvCxnSpPr>
            <p:nvPr/>
          </p:nvCxnSpPr>
          <p:spPr>
            <a:xfrm flipH="1">
              <a:off x="4071528" y="4811486"/>
              <a:ext cx="84710" cy="68213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接连接符 540"/>
            <p:cNvCxnSpPr>
              <a:endCxn id="513" idx="1"/>
            </p:cNvCxnSpPr>
            <p:nvPr/>
          </p:nvCxnSpPr>
          <p:spPr>
            <a:xfrm>
              <a:off x="4534419" y="4760611"/>
              <a:ext cx="80361" cy="562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直接连接符 541"/>
            <p:cNvCxnSpPr>
              <a:endCxn id="527" idx="1"/>
            </p:cNvCxnSpPr>
            <p:nvPr/>
          </p:nvCxnSpPr>
          <p:spPr>
            <a:xfrm>
              <a:off x="4066253" y="4679408"/>
              <a:ext cx="89985" cy="798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直接连接符 542"/>
            <p:cNvCxnSpPr>
              <a:endCxn id="527" idx="3"/>
            </p:cNvCxnSpPr>
            <p:nvPr/>
          </p:nvCxnSpPr>
          <p:spPr>
            <a:xfrm flipV="1">
              <a:off x="4076274" y="4811486"/>
              <a:ext cx="79964" cy="682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直接箭头连接符 543"/>
            <p:cNvCxnSpPr>
              <a:stCxn id="526" idx="5"/>
              <a:endCxn id="533" idx="1"/>
            </p:cNvCxnSpPr>
            <p:nvPr/>
          </p:nvCxnSpPr>
          <p:spPr>
            <a:xfrm>
              <a:off x="4380269" y="5059889"/>
              <a:ext cx="95957" cy="62939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5" name="椭圆 544"/>
            <p:cNvSpPr/>
            <p:nvPr/>
          </p:nvSpPr>
          <p:spPr>
            <a:xfrm>
              <a:off x="4125152" y="4618303"/>
              <a:ext cx="451289" cy="464331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6" name="椭圆 545"/>
            <p:cNvSpPr/>
            <p:nvPr/>
          </p:nvSpPr>
          <p:spPr>
            <a:xfrm>
              <a:off x="3862395" y="4529139"/>
              <a:ext cx="916415" cy="70589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47" name="直接箭头连接符 546"/>
          <p:cNvCxnSpPr/>
          <p:nvPr/>
        </p:nvCxnSpPr>
        <p:spPr>
          <a:xfrm>
            <a:off x="5029520" y="4663603"/>
            <a:ext cx="159579" cy="6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8" name="矩形: 圆角 547"/>
          <p:cNvSpPr/>
          <p:nvPr/>
        </p:nvSpPr>
        <p:spPr>
          <a:xfrm>
            <a:off x="4103766" y="5250637"/>
            <a:ext cx="2004167" cy="657062"/>
          </a:xfrm>
          <a:prstGeom prst="roundRect">
            <a:avLst/>
          </a:prstGeom>
          <a:solidFill>
            <a:srgbClr val="80B1D3">
              <a:alpha val="44706"/>
            </a:srgbClr>
          </a:solidFill>
          <a:ln>
            <a:solidFill>
              <a:srgbClr val="80B1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49" name="组合 548"/>
          <p:cNvGrpSpPr>
            <a:grpSpLocks noChangeAspect="1"/>
          </p:cNvGrpSpPr>
          <p:nvPr/>
        </p:nvGrpSpPr>
        <p:grpSpPr>
          <a:xfrm>
            <a:off x="5254552" y="5370617"/>
            <a:ext cx="742134" cy="443316"/>
            <a:chOff x="4829216" y="3556005"/>
            <a:chExt cx="950114" cy="567554"/>
          </a:xfrm>
        </p:grpSpPr>
        <p:cxnSp>
          <p:nvCxnSpPr>
            <p:cNvPr id="550" name="直接箭头连接符 549"/>
            <p:cNvCxnSpPr/>
            <p:nvPr/>
          </p:nvCxnSpPr>
          <p:spPr>
            <a:xfrm>
              <a:off x="4898434" y="3612785"/>
              <a:ext cx="85143" cy="85357"/>
            </a:xfrm>
            <a:prstGeom prst="straightConnector1">
              <a:avLst/>
            </a:prstGeom>
            <a:ln w="19050">
              <a:solidFill>
                <a:srgbClr val="385723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直接箭头连接符 550"/>
            <p:cNvCxnSpPr>
              <a:endCxn id="568" idx="3"/>
            </p:cNvCxnSpPr>
            <p:nvPr/>
          </p:nvCxnSpPr>
          <p:spPr>
            <a:xfrm flipV="1">
              <a:off x="4894470" y="3749188"/>
              <a:ext cx="86815" cy="63240"/>
            </a:xfrm>
            <a:prstGeom prst="straightConnector1">
              <a:avLst/>
            </a:prstGeom>
            <a:ln w="19050">
              <a:solidFill>
                <a:srgbClr val="385723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直接箭头连接符 551"/>
            <p:cNvCxnSpPr>
              <a:stCxn id="554" idx="1"/>
            </p:cNvCxnSpPr>
            <p:nvPr/>
          </p:nvCxnSpPr>
          <p:spPr>
            <a:xfrm flipH="1" flipV="1">
              <a:off x="5329089" y="3697823"/>
              <a:ext cx="110738" cy="56756"/>
            </a:xfrm>
            <a:prstGeom prst="straightConnector1">
              <a:avLst/>
            </a:prstGeom>
            <a:ln w="19050">
              <a:solidFill>
                <a:srgbClr val="385723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3" name="椭圆 552"/>
            <p:cNvSpPr>
              <a:spLocks noChangeAspect="1"/>
            </p:cNvSpPr>
            <p:nvPr/>
          </p:nvSpPr>
          <p:spPr>
            <a:xfrm>
              <a:off x="5570897" y="3633899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54" name="椭圆 553"/>
            <p:cNvSpPr>
              <a:spLocks noChangeAspect="1"/>
            </p:cNvSpPr>
            <p:nvPr/>
          </p:nvSpPr>
          <p:spPr>
            <a:xfrm>
              <a:off x="5429013" y="3743765"/>
              <a:ext cx="73843" cy="73843"/>
            </a:xfrm>
            <a:prstGeom prst="ellipse">
              <a:avLst/>
            </a:prstGeom>
            <a:solidFill>
              <a:srgbClr val="3857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55" name="椭圆 554"/>
            <p:cNvSpPr>
              <a:spLocks noChangeAspect="1"/>
            </p:cNvSpPr>
            <p:nvPr/>
          </p:nvSpPr>
          <p:spPr>
            <a:xfrm>
              <a:off x="5705487" y="3752975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56" name="椭圆 555"/>
            <p:cNvSpPr>
              <a:spLocks noChangeAspect="1"/>
            </p:cNvSpPr>
            <p:nvPr/>
          </p:nvSpPr>
          <p:spPr>
            <a:xfrm>
              <a:off x="5427597" y="3897641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57" name="椭圆 556"/>
            <p:cNvSpPr>
              <a:spLocks noChangeAspect="1"/>
            </p:cNvSpPr>
            <p:nvPr/>
          </p:nvSpPr>
          <p:spPr>
            <a:xfrm>
              <a:off x="5570898" y="3984557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58" name="椭圆 557"/>
            <p:cNvSpPr>
              <a:spLocks noChangeAspect="1"/>
            </p:cNvSpPr>
            <p:nvPr/>
          </p:nvSpPr>
          <p:spPr>
            <a:xfrm>
              <a:off x="5705486" y="3902030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559" name="直接连接符 558"/>
            <p:cNvCxnSpPr>
              <a:stCxn id="554" idx="7"/>
              <a:endCxn id="553" idx="3"/>
            </p:cNvCxnSpPr>
            <p:nvPr/>
          </p:nvCxnSpPr>
          <p:spPr>
            <a:xfrm flipV="1">
              <a:off x="5492042" y="3696928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直接连接符 559"/>
            <p:cNvCxnSpPr>
              <a:stCxn id="556" idx="0"/>
            </p:cNvCxnSpPr>
            <p:nvPr/>
          </p:nvCxnSpPr>
          <p:spPr>
            <a:xfrm flipV="1">
              <a:off x="5464519" y="3817401"/>
              <a:ext cx="0" cy="802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直接连接符 560"/>
            <p:cNvCxnSpPr>
              <a:endCxn id="557" idx="2"/>
            </p:cNvCxnSpPr>
            <p:nvPr/>
          </p:nvCxnSpPr>
          <p:spPr>
            <a:xfrm>
              <a:off x="5481228" y="3968953"/>
              <a:ext cx="89670" cy="525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直接连接符 561"/>
            <p:cNvCxnSpPr>
              <a:endCxn id="558" idx="3"/>
            </p:cNvCxnSpPr>
            <p:nvPr/>
          </p:nvCxnSpPr>
          <p:spPr>
            <a:xfrm flipV="1">
              <a:off x="5644742" y="3965059"/>
              <a:ext cx="71558" cy="426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直接连接符 562"/>
            <p:cNvCxnSpPr>
              <a:endCxn id="555" idx="1"/>
            </p:cNvCxnSpPr>
            <p:nvPr/>
          </p:nvCxnSpPr>
          <p:spPr>
            <a:xfrm>
              <a:off x="5640786" y="3695213"/>
              <a:ext cx="75515" cy="685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直接连接符 563"/>
            <p:cNvCxnSpPr>
              <a:stCxn id="558" idx="0"/>
              <a:endCxn id="555" idx="4"/>
            </p:cNvCxnSpPr>
            <p:nvPr/>
          </p:nvCxnSpPr>
          <p:spPr>
            <a:xfrm flipV="1">
              <a:off x="5742408" y="3826818"/>
              <a:ext cx="1" cy="75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5" name="椭圆 564"/>
            <p:cNvSpPr>
              <a:spLocks noChangeAspect="1"/>
            </p:cNvSpPr>
            <p:nvPr/>
          </p:nvSpPr>
          <p:spPr>
            <a:xfrm>
              <a:off x="5286813" y="3649238"/>
              <a:ext cx="73843" cy="7384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66" name="椭圆 565"/>
            <p:cNvSpPr>
              <a:spLocks noChangeAspect="1"/>
            </p:cNvSpPr>
            <p:nvPr/>
          </p:nvSpPr>
          <p:spPr>
            <a:xfrm>
              <a:off x="5151125" y="3763789"/>
              <a:ext cx="73843" cy="73843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67" name="椭圆 566"/>
            <p:cNvSpPr>
              <a:spLocks noChangeAspect="1"/>
            </p:cNvSpPr>
            <p:nvPr/>
          </p:nvSpPr>
          <p:spPr>
            <a:xfrm>
              <a:off x="5142287" y="3934562"/>
              <a:ext cx="73843" cy="7384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68" name="椭圆 567"/>
            <p:cNvSpPr>
              <a:spLocks noChangeAspect="1"/>
            </p:cNvSpPr>
            <p:nvPr/>
          </p:nvSpPr>
          <p:spPr>
            <a:xfrm>
              <a:off x="4970471" y="3686159"/>
              <a:ext cx="73843" cy="73843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69" name="椭圆 568"/>
            <p:cNvSpPr>
              <a:spLocks noChangeAspect="1"/>
            </p:cNvSpPr>
            <p:nvPr/>
          </p:nvSpPr>
          <p:spPr>
            <a:xfrm>
              <a:off x="4835147" y="3810101"/>
              <a:ext cx="73843" cy="73843"/>
            </a:xfrm>
            <a:prstGeom prst="ellipse">
              <a:avLst/>
            </a:prstGeom>
            <a:solidFill>
              <a:srgbClr val="3857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70" name="椭圆 569"/>
            <p:cNvSpPr>
              <a:spLocks noChangeAspect="1"/>
            </p:cNvSpPr>
            <p:nvPr/>
          </p:nvSpPr>
          <p:spPr>
            <a:xfrm>
              <a:off x="4829216" y="3556005"/>
              <a:ext cx="73843" cy="73843"/>
            </a:xfrm>
            <a:prstGeom prst="ellipse">
              <a:avLst/>
            </a:prstGeom>
            <a:solidFill>
              <a:srgbClr val="3857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571" name="直接连接符 570"/>
            <p:cNvCxnSpPr/>
            <p:nvPr/>
          </p:nvCxnSpPr>
          <p:spPr>
            <a:xfrm flipV="1">
              <a:off x="5209628" y="3714939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直接连接符 571"/>
            <p:cNvCxnSpPr>
              <a:stCxn id="554" idx="1"/>
              <a:endCxn id="565" idx="5"/>
            </p:cNvCxnSpPr>
            <p:nvPr/>
          </p:nvCxnSpPr>
          <p:spPr>
            <a:xfrm flipH="1" flipV="1">
              <a:off x="5349842" y="3712267"/>
              <a:ext cx="89985" cy="423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直接连接符 572"/>
            <p:cNvCxnSpPr>
              <a:stCxn id="567" idx="0"/>
              <a:endCxn id="566" idx="4"/>
            </p:cNvCxnSpPr>
            <p:nvPr/>
          </p:nvCxnSpPr>
          <p:spPr>
            <a:xfrm flipV="1">
              <a:off x="5179209" y="3837632"/>
              <a:ext cx="8838" cy="96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直接连接符 573"/>
            <p:cNvCxnSpPr>
              <a:stCxn id="568" idx="6"/>
              <a:endCxn id="566" idx="1"/>
            </p:cNvCxnSpPr>
            <p:nvPr/>
          </p:nvCxnSpPr>
          <p:spPr>
            <a:xfrm>
              <a:off x="5044314" y="3723081"/>
              <a:ext cx="117625" cy="515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直接连接符 574"/>
            <p:cNvCxnSpPr/>
            <p:nvPr/>
          </p:nvCxnSpPr>
          <p:spPr>
            <a:xfrm flipV="1">
              <a:off x="4895570" y="3753879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直接连接符 575"/>
            <p:cNvCxnSpPr>
              <a:endCxn id="568" idx="1"/>
            </p:cNvCxnSpPr>
            <p:nvPr/>
          </p:nvCxnSpPr>
          <p:spPr>
            <a:xfrm>
              <a:off x="4895570" y="3611396"/>
              <a:ext cx="85715" cy="855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7" name="椭圆 576"/>
            <p:cNvSpPr>
              <a:spLocks noChangeAspect="1"/>
            </p:cNvSpPr>
            <p:nvPr/>
          </p:nvSpPr>
          <p:spPr>
            <a:xfrm>
              <a:off x="5290459" y="4049716"/>
              <a:ext cx="73843" cy="73843"/>
            </a:xfrm>
            <a:prstGeom prst="ellipse">
              <a:avLst/>
            </a:prstGeom>
            <a:solidFill>
              <a:srgbClr val="38572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578" name="直接连接符 577"/>
            <p:cNvCxnSpPr>
              <a:stCxn id="577" idx="1"/>
              <a:endCxn id="567" idx="5"/>
            </p:cNvCxnSpPr>
            <p:nvPr/>
          </p:nvCxnSpPr>
          <p:spPr>
            <a:xfrm flipH="1" flipV="1">
              <a:off x="5205316" y="3997591"/>
              <a:ext cx="95957" cy="62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直接箭头连接符 578"/>
            <p:cNvCxnSpPr>
              <a:stCxn id="577" idx="1"/>
            </p:cNvCxnSpPr>
            <p:nvPr/>
          </p:nvCxnSpPr>
          <p:spPr>
            <a:xfrm flipH="1" flipV="1">
              <a:off x="5200791" y="3991884"/>
              <a:ext cx="100482" cy="68646"/>
            </a:xfrm>
            <a:prstGeom prst="straightConnector1">
              <a:avLst/>
            </a:prstGeom>
            <a:ln w="19050">
              <a:solidFill>
                <a:srgbClr val="385723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直接箭头连接符 579"/>
            <p:cNvCxnSpPr>
              <a:stCxn id="565" idx="3"/>
              <a:endCxn id="566" idx="7"/>
            </p:cNvCxnSpPr>
            <p:nvPr/>
          </p:nvCxnSpPr>
          <p:spPr>
            <a:xfrm flipH="1">
              <a:off x="5214154" y="3712267"/>
              <a:ext cx="83473" cy="62336"/>
            </a:xfrm>
            <a:prstGeom prst="straightConnector1">
              <a:avLst/>
            </a:prstGeom>
            <a:ln w="19050">
              <a:solidFill>
                <a:srgbClr val="0070C0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直接箭头连接符 580"/>
            <p:cNvCxnSpPr>
              <a:stCxn id="567" idx="0"/>
            </p:cNvCxnSpPr>
            <p:nvPr/>
          </p:nvCxnSpPr>
          <p:spPr>
            <a:xfrm flipV="1">
              <a:off x="5179209" y="3838720"/>
              <a:ext cx="4419" cy="95842"/>
            </a:xfrm>
            <a:prstGeom prst="straightConnector1">
              <a:avLst/>
            </a:prstGeom>
            <a:ln w="19050">
              <a:solidFill>
                <a:srgbClr val="0070C0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直接箭头连接符 581"/>
            <p:cNvCxnSpPr>
              <a:endCxn id="566" idx="1"/>
            </p:cNvCxnSpPr>
            <p:nvPr/>
          </p:nvCxnSpPr>
          <p:spPr>
            <a:xfrm>
              <a:off x="5042068" y="3720570"/>
              <a:ext cx="119871" cy="54033"/>
            </a:xfrm>
            <a:prstGeom prst="straightConnector1">
              <a:avLst/>
            </a:prstGeom>
            <a:ln w="19050">
              <a:solidFill>
                <a:srgbClr val="0070C0">
                  <a:alpha val="6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3" name="组合 582"/>
          <p:cNvGrpSpPr>
            <a:grpSpLocks noChangeAspect="1"/>
          </p:cNvGrpSpPr>
          <p:nvPr/>
        </p:nvGrpSpPr>
        <p:grpSpPr>
          <a:xfrm>
            <a:off x="4128319" y="5302939"/>
            <a:ext cx="859079" cy="555387"/>
            <a:chOff x="3862395" y="4529139"/>
            <a:chExt cx="1091888" cy="705896"/>
          </a:xfrm>
        </p:grpSpPr>
        <p:sp>
          <p:nvSpPr>
            <p:cNvPr id="584" name="椭圆 583"/>
            <p:cNvSpPr>
              <a:spLocks noChangeAspect="1"/>
            </p:cNvSpPr>
            <p:nvPr/>
          </p:nvSpPr>
          <p:spPr>
            <a:xfrm>
              <a:off x="4745850" y="4696197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85" name="椭圆 584"/>
            <p:cNvSpPr>
              <a:spLocks noChangeAspect="1"/>
            </p:cNvSpPr>
            <p:nvPr/>
          </p:nvSpPr>
          <p:spPr>
            <a:xfrm>
              <a:off x="4603966" y="4806063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86" name="椭圆 585"/>
            <p:cNvSpPr>
              <a:spLocks noChangeAspect="1"/>
            </p:cNvSpPr>
            <p:nvPr/>
          </p:nvSpPr>
          <p:spPr>
            <a:xfrm>
              <a:off x="4880440" y="4815273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87" name="椭圆 586"/>
            <p:cNvSpPr>
              <a:spLocks noChangeAspect="1"/>
            </p:cNvSpPr>
            <p:nvPr/>
          </p:nvSpPr>
          <p:spPr>
            <a:xfrm>
              <a:off x="4602550" y="4959939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88" name="椭圆 587"/>
            <p:cNvSpPr>
              <a:spLocks noChangeAspect="1"/>
            </p:cNvSpPr>
            <p:nvPr/>
          </p:nvSpPr>
          <p:spPr>
            <a:xfrm>
              <a:off x="4745851" y="5046855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89" name="椭圆 588"/>
            <p:cNvSpPr>
              <a:spLocks noChangeAspect="1"/>
            </p:cNvSpPr>
            <p:nvPr/>
          </p:nvSpPr>
          <p:spPr>
            <a:xfrm>
              <a:off x="4880439" y="4964328"/>
              <a:ext cx="73843" cy="7384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590" name="直接连接符 589"/>
            <p:cNvCxnSpPr>
              <a:stCxn id="585" idx="7"/>
              <a:endCxn id="584" idx="3"/>
            </p:cNvCxnSpPr>
            <p:nvPr/>
          </p:nvCxnSpPr>
          <p:spPr>
            <a:xfrm flipV="1">
              <a:off x="4666995" y="4759226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直接连接符 590"/>
            <p:cNvCxnSpPr>
              <a:stCxn id="587" idx="0"/>
            </p:cNvCxnSpPr>
            <p:nvPr/>
          </p:nvCxnSpPr>
          <p:spPr>
            <a:xfrm flipV="1">
              <a:off x="4639472" y="4879699"/>
              <a:ext cx="0" cy="802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直接连接符 591"/>
            <p:cNvCxnSpPr>
              <a:endCxn id="588" idx="2"/>
            </p:cNvCxnSpPr>
            <p:nvPr/>
          </p:nvCxnSpPr>
          <p:spPr>
            <a:xfrm>
              <a:off x="4656181" y="5031251"/>
              <a:ext cx="89670" cy="525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直接连接符 592"/>
            <p:cNvCxnSpPr>
              <a:endCxn id="589" idx="3"/>
            </p:cNvCxnSpPr>
            <p:nvPr/>
          </p:nvCxnSpPr>
          <p:spPr>
            <a:xfrm flipV="1">
              <a:off x="4819695" y="5027357"/>
              <a:ext cx="71558" cy="426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直接连接符 593"/>
            <p:cNvCxnSpPr>
              <a:endCxn id="586" idx="1"/>
            </p:cNvCxnSpPr>
            <p:nvPr/>
          </p:nvCxnSpPr>
          <p:spPr>
            <a:xfrm>
              <a:off x="4815739" y="4757511"/>
              <a:ext cx="75515" cy="685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直接连接符 594"/>
            <p:cNvCxnSpPr>
              <a:stCxn id="589" idx="0"/>
              <a:endCxn id="586" idx="4"/>
            </p:cNvCxnSpPr>
            <p:nvPr/>
          </p:nvCxnSpPr>
          <p:spPr>
            <a:xfrm flipV="1">
              <a:off x="4917361" y="4889116"/>
              <a:ext cx="1" cy="752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6" name="椭圆 595"/>
            <p:cNvSpPr>
              <a:spLocks noChangeAspect="1"/>
            </p:cNvSpPr>
            <p:nvPr/>
          </p:nvSpPr>
          <p:spPr>
            <a:xfrm>
              <a:off x="4461766" y="4711536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97" name="椭圆 596"/>
            <p:cNvSpPr>
              <a:spLocks noChangeAspect="1"/>
            </p:cNvSpPr>
            <p:nvPr/>
          </p:nvSpPr>
          <p:spPr>
            <a:xfrm>
              <a:off x="4326078" y="4826087"/>
              <a:ext cx="73843" cy="73843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98" name="椭圆 597"/>
            <p:cNvSpPr>
              <a:spLocks noChangeAspect="1"/>
            </p:cNvSpPr>
            <p:nvPr/>
          </p:nvSpPr>
          <p:spPr>
            <a:xfrm>
              <a:off x="4317240" y="4996860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99" name="椭圆 598"/>
            <p:cNvSpPr>
              <a:spLocks noChangeAspect="1"/>
            </p:cNvSpPr>
            <p:nvPr/>
          </p:nvSpPr>
          <p:spPr>
            <a:xfrm>
              <a:off x="4145424" y="4748457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00" name="椭圆 599"/>
            <p:cNvSpPr>
              <a:spLocks noChangeAspect="1"/>
            </p:cNvSpPr>
            <p:nvPr/>
          </p:nvSpPr>
          <p:spPr>
            <a:xfrm>
              <a:off x="4010100" y="4872399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01" name="椭圆 600"/>
            <p:cNvSpPr>
              <a:spLocks noChangeAspect="1"/>
            </p:cNvSpPr>
            <p:nvPr/>
          </p:nvSpPr>
          <p:spPr>
            <a:xfrm>
              <a:off x="4004169" y="4618303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602" name="直接连接符 601"/>
            <p:cNvCxnSpPr/>
            <p:nvPr/>
          </p:nvCxnSpPr>
          <p:spPr>
            <a:xfrm flipV="1">
              <a:off x="4384581" y="4777237"/>
              <a:ext cx="89669" cy="576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直接连接符 602"/>
            <p:cNvCxnSpPr>
              <a:stCxn id="598" idx="0"/>
              <a:endCxn id="597" idx="4"/>
            </p:cNvCxnSpPr>
            <p:nvPr/>
          </p:nvCxnSpPr>
          <p:spPr>
            <a:xfrm flipV="1">
              <a:off x="4354162" y="4899930"/>
              <a:ext cx="8838" cy="96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直接连接符 603"/>
            <p:cNvCxnSpPr>
              <a:stCxn id="599" idx="6"/>
              <a:endCxn id="597" idx="1"/>
            </p:cNvCxnSpPr>
            <p:nvPr/>
          </p:nvCxnSpPr>
          <p:spPr>
            <a:xfrm>
              <a:off x="4219267" y="4785379"/>
              <a:ext cx="117625" cy="5152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椭圆 604"/>
            <p:cNvSpPr>
              <a:spLocks noChangeAspect="1"/>
            </p:cNvSpPr>
            <p:nvPr/>
          </p:nvSpPr>
          <p:spPr>
            <a:xfrm>
              <a:off x="4465412" y="5112014"/>
              <a:ext cx="73843" cy="7384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606" name="直接连接符 605"/>
            <p:cNvCxnSpPr>
              <a:stCxn id="605" idx="1"/>
              <a:endCxn id="598" idx="5"/>
            </p:cNvCxnSpPr>
            <p:nvPr/>
          </p:nvCxnSpPr>
          <p:spPr>
            <a:xfrm flipH="1" flipV="1">
              <a:off x="4380269" y="5059889"/>
              <a:ext cx="95957" cy="62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直接箭头连接符 606"/>
            <p:cNvCxnSpPr>
              <a:stCxn id="597" idx="1"/>
              <a:endCxn id="599" idx="6"/>
            </p:cNvCxnSpPr>
            <p:nvPr/>
          </p:nvCxnSpPr>
          <p:spPr>
            <a:xfrm flipH="1" flipV="1">
              <a:off x="4219267" y="4785379"/>
              <a:ext cx="117625" cy="51522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直接箭头连接符 607"/>
            <p:cNvCxnSpPr>
              <a:stCxn id="599" idx="1"/>
            </p:cNvCxnSpPr>
            <p:nvPr/>
          </p:nvCxnSpPr>
          <p:spPr>
            <a:xfrm flipH="1" flipV="1">
              <a:off x="4071760" y="4678377"/>
              <a:ext cx="84478" cy="80894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直接箭头连接符 608"/>
            <p:cNvCxnSpPr>
              <a:endCxn id="596" idx="3"/>
            </p:cNvCxnSpPr>
            <p:nvPr/>
          </p:nvCxnSpPr>
          <p:spPr>
            <a:xfrm flipV="1">
              <a:off x="4382911" y="4774565"/>
              <a:ext cx="89669" cy="54638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直接箭头连接符 609"/>
            <p:cNvCxnSpPr/>
            <p:nvPr/>
          </p:nvCxnSpPr>
          <p:spPr>
            <a:xfrm>
              <a:off x="4539525" y="4760231"/>
              <a:ext cx="87450" cy="63136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直接箭头连接符 610"/>
            <p:cNvCxnSpPr>
              <a:endCxn id="598" idx="0"/>
            </p:cNvCxnSpPr>
            <p:nvPr/>
          </p:nvCxnSpPr>
          <p:spPr>
            <a:xfrm flipH="1">
              <a:off x="4354162" y="4907604"/>
              <a:ext cx="7420" cy="89256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直接箭头连接符 611"/>
            <p:cNvCxnSpPr>
              <a:stCxn id="599" idx="3"/>
            </p:cNvCxnSpPr>
            <p:nvPr/>
          </p:nvCxnSpPr>
          <p:spPr>
            <a:xfrm flipH="1">
              <a:off x="4071528" y="4811486"/>
              <a:ext cx="84710" cy="68213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直接连接符 612"/>
            <p:cNvCxnSpPr>
              <a:endCxn id="585" idx="1"/>
            </p:cNvCxnSpPr>
            <p:nvPr/>
          </p:nvCxnSpPr>
          <p:spPr>
            <a:xfrm>
              <a:off x="4534419" y="4760611"/>
              <a:ext cx="80361" cy="562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/>
            <p:cNvCxnSpPr>
              <a:endCxn id="599" idx="1"/>
            </p:cNvCxnSpPr>
            <p:nvPr/>
          </p:nvCxnSpPr>
          <p:spPr>
            <a:xfrm>
              <a:off x="4066253" y="4679408"/>
              <a:ext cx="89985" cy="798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/>
            <p:cNvCxnSpPr>
              <a:endCxn id="599" idx="3"/>
            </p:cNvCxnSpPr>
            <p:nvPr/>
          </p:nvCxnSpPr>
          <p:spPr>
            <a:xfrm flipV="1">
              <a:off x="4076274" y="4811486"/>
              <a:ext cx="79964" cy="682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直接箭头连接符 615"/>
            <p:cNvCxnSpPr>
              <a:stCxn id="598" idx="5"/>
              <a:endCxn id="605" idx="1"/>
            </p:cNvCxnSpPr>
            <p:nvPr/>
          </p:nvCxnSpPr>
          <p:spPr>
            <a:xfrm>
              <a:off x="4380269" y="5059889"/>
              <a:ext cx="95957" cy="62939"/>
            </a:xfrm>
            <a:prstGeom prst="straightConnector1">
              <a:avLst/>
            </a:prstGeom>
            <a:ln w="19050">
              <a:solidFill>
                <a:schemeClr val="accent2">
                  <a:lumMod val="60000"/>
                  <a:lumOff val="40000"/>
                  <a:alpha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7" name="椭圆 616"/>
            <p:cNvSpPr/>
            <p:nvPr/>
          </p:nvSpPr>
          <p:spPr>
            <a:xfrm>
              <a:off x="4125152" y="4618303"/>
              <a:ext cx="451289" cy="464331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8" name="椭圆 617"/>
            <p:cNvSpPr/>
            <p:nvPr/>
          </p:nvSpPr>
          <p:spPr>
            <a:xfrm>
              <a:off x="3862395" y="4529139"/>
              <a:ext cx="916415" cy="70589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19" name="直接箭头连接符 618"/>
          <p:cNvCxnSpPr/>
          <p:nvPr/>
        </p:nvCxnSpPr>
        <p:spPr>
          <a:xfrm>
            <a:off x="5029520" y="5600022"/>
            <a:ext cx="159579" cy="6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直接连接符 620"/>
          <p:cNvCxnSpPr/>
          <p:nvPr/>
        </p:nvCxnSpPr>
        <p:spPr>
          <a:xfrm>
            <a:off x="4239864" y="4035049"/>
            <a:ext cx="0" cy="15769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3" name="直接箭头连接符 622"/>
          <p:cNvCxnSpPr/>
          <p:nvPr/>
        </p:nvCxnSpPr>
        <p:spPr>
          <a:xfrm flipV="1">
            <a:off x="4246554" y="4172634"/>
            <a:ext cx="679604" cy="66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4" name="文本框 305"/>
              <p:cNvSpPr txBox="1"/>
              <p:nvPr/>
            </p:nvSpPr>
            <p:spPr>
              <a:xfrm>
                <a:off x="4762613" y="4036336"/>
                <a:ext cx="612775" cy="24511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  <a:sym typeface="+mn-ea"/>
                        </a:rPr>
                        <m:t>𝜎</m:t>
                      </m:r>
                      <m:d>
                        <m:dPr>
                          <m:ctrlPr>
                            <a:rPr lang="en-US" altLang="zh-CN" sz="1000" b="1" i="1" dirty="0"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dPr>
                        <m:e>
                          <m:r>
                            <a:rPr lang="en-US" altLang="zh-CN" sz="10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+mn-ea"/>
                            </a:rPr>
                            <m:t>∙</m:t>
                          </m:r>
                        </m:e>
                      </m:d>
                    </m:oMath>
                  </m:oMathPara>
                </a14:m>
                <a:endParaRPr lang="en-US" altLang="zh-CN" sz="1000" b="1" dirty="0">
                  <a:latin typeface="Arial" panose="020B0604020202020204" pitchFamily="34" charset="0"/>
                  <a:ea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624" name="文本框 3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613" y="4036336"/>
                <a:ext cx="612775" cy="245110"/>
              </a:xfrm>
              <a:prstGeom prst="rect">
                <a:avLst/>
              </a:prstGeom>
              <a:blipFill rotWithShape="1">
                <a:blip r:embed="rId3"/>
                <a:stretch>
                  <a:fillRect l="-18" t="-113" r="18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6" name="直接连接符 625"/>
          <p:cNvCxnSpPr/>
          <p:nvPr/>
        </p:nvCxnSpPr>
        <p:spPr>
          <a:xfrm>
            <a:off x="5208973" y="4172634"/>
            <a:ext cx="5616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直接箭头连接符 627"/>
          <p:cNvCxnSpPr/>
          <p:nvPr/>
        </p:nvCxnSpPr>
        <p:spPr>
          <a:xfrm>
            <a:off x="5763839" y="4161272"/>
            <a:ext cx="0" cy="1500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直接连接符 631"/>
          <p:cNvCxnSpPr/>
          <p:nvPr/>
        </p:nvCxnSpPr>
        <p:spPr>
          <a:xfrm>
            <a:off x="4238616" y="4973125"/>
            <a:ext cx="0" cy="15769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3" name="直接箭头连接符 632"/>
          <p:cNvCxnSpPr/>
          <p:nvPr/>
        </p:nvCxnSpPr>
        <p:spPr>
          <a:xfrm flipV="1">
            <a:off x="4245306" y="5110710"/>
            <a:ext cx="679604" cy="66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4" name="文本框 305"/>
              <p:cNvSpPr txBox="1"/>
              <p:nvPr/>
            </p:nvSpPr>
            <p:spPr>
              <a:xfrm>
                <a:off x="4761365" y="4974412"/>
                <a:ext cx="612775" cy="24511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dirty="0" smtClean="0">
                          <a:latin typeface="Cambria Math" panose="02040503050406030204" pitchFamily="18" charset="0"/>
                          <a:sym typeface="+mn-ea"/>
                        </a:rPr>
                        <m:t>𝜎</m:t>
                      </m:r>
                      <m:d>
                        <m:dPr>
                          <m:ctrlPr>
                            <a:rPr lang="en-US" altLang="zh-CN" sz="1000" b="1" i="1" dirty="0"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dPr>
                        <m:e>
                          <m:r>
                            <a:rPr lang="en-US" altLang="zh-CN" sz="10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+mn-ea"/>
                            </a:rPr>
                            <m:t>∙</m:t>
                          </m:r>
                        </m:e>
                      </m:d>
                    </m:oMath>
                  </m:oMathPara>
                </a14:m>
                <a:endParaRPr lang="en-US" altLang="zh-CN" sz="1000" b="1" dirty="0">
                  <a:latin typeface="Arial" panose="020B0604020202020204" pitchFamily="34" charset="0"/>
                  <a:ea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634" name="文本框 3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365" y="4974412"/>
                <a:ext cx="612775" cy="245110"/>
              </a:xfrm>
              <a:prstGeom prst="rect">
                <a:avLst/>
              </a:prstGeom>
              <a:blipFill rotWithShape="1">
                <a:blip r:embed="rId3"/>
                <a:stretch>
                  <a:fillRect l="-22" t="-186" r="22" b="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5" name="直接连接符 634"/>
          <p:cNvCxnSpPr/>
          <p:nvPr/>
        </p:nvCxnSpPr>
        <p:spPr>
          <a:xfrm>
            <a:off x="5207725" y="5110710"/>
            <a:ext cx="5616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直接箭头连接符 635"/>
          <p:cNvCxnSpPr/>
          <p:nvPr/>
        </p:nvCxnSpPr>
        <p:spPr>
          <a:xfrm>
            <a:off x="5762591" y="5099348"/>
            <a:ext cx="0" cy="1500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直接箭头连接符 636"/>
          <p:cNvCxnSpPr/>
          <p:nvPr/>
        </p:nvCxnSpPr>
        <p:spPr>
          <a:xfrm>
            <a:off x="5062460" y="5952680"/>
            <a:ext cx="0" cy="1800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9" name="矩形: 圆角 648"/>
          <p:cNvSpPr/>
          <p:nvPr/>
        </p:nvSpPr>
        <p:spPr>
          <a:xfrm>
            <a:off x="2522494" y="7158342"/>
            <a:ext cx="1358265" cy="46037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0" name="文本框 649"/>
          <p:cNvSpPr txBox="1"/>
          <p:nvPr/>
        </p:nvSpPr>
        <p:spPr>
          <a:xfrm>
            <a:off x="2740382" y="7155002"/>
            <a:ext cx="922487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Bilinear interaction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652" name="矩形: 圆角 651"/>
          <p:cNvSpPr/>
          <p:nvPr/>
        </p:nvSpPr>
        <p:spPr>
          <a:xfrm>
            <a:off x="2605024" y="8962821"/>
            <a:ext cx="1358265" cy="46037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3" name="矩形: 圆角 652"/>
          <p:cNvSpPr/>
          <p:nvPr/>
        </p:nvSpPr>
        <p:spPr>
          <a:xfrm>
            <a:off x="2513930" y="9062052"/>
            <a:ext cx="1358265" cy="46037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4" name="文本框 653"/>
          <p:cNvSpPr txBox="1"/>
          <p:nvPr/>
        </p:nvSpPr>
        <p:spPr>
          <a:xfrm>
            <a:off x="2731818" y="9058712"/>
            <a:ext cx="922487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Bilinear pooling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683" name="组合 682"/>
          <p:cNvGrpSpPr/>
          <p:nvPr/>
        </p:nvGrpSpPr>
        <p:grpSpPr>
          <a:xfrm>
            <a:off x="2760909" y="7892229"/>
            <a:ext cx="825440" cy="857231"/>
            <a:chOff x="2814295" y="6710397"/>
            <a:chExt cx="825440" cy="857231"/>
          </a:xfrm>
          <a:solidFill>
            <a:schemeClr val="bg1"/>
          </a:solidFill>
        </p:grpSpPr>
        <p:grpSp>
          <p:nvGrpSpPr>
            <p:cNvPr id="655" name="组合 654"/>
            <p:cNvGrpSpPr/>
            <p:nvPr/>
          </p:nvGrpSpPr>
          <p:grpSpPr>
            <a:xfrm rot="5400000">
              <a:off x="2881778" y="6642914"/>
              <a:ext cx="690473" cy="825440"/>
              <a:chOff x="6865" y="6366"/>
              <a:chExt cx="1521" cy="1818"/>
            </a:xfrm>
            <a:grpFill/>
          </p:grpSpPr>
          <p:grpSp>
            <p:nvGrpSpPr>
              <p:cNvPr id="656" name="组合 655"/>
              <p:cNvGrpSpPr/>
              <p:nvPr/>
            </p:nvGrpSpPr>
            <p:grpSpPr>
              <a:xfrm>
                <a:off x="6865" y="6366"/>
                <a:ext cx="1519" cy="1454"/>
                <a:chOff x="6866" y="6368"/>
                <a:chExt cx="2227" cy="2012"/>
              </a:xfrm>
              <a:grpFill/>
            </p:grpSpPr>
            <p:grpSp>
              <p:nvGrpSpPr>
                <p:cNvPr id="661" name="Google Shape;211;p21"/>
                <p:cNvGrpSpPr/>
                <p:nvPr/>
              </p:nvGrpSpPr>
              <p:grpSpPr>
                <a:xfrm>
                  <a:off x="6866" y="6368"/>
                  <a:ext cx="2225" cy="2012"/>
                  <a:chOff x="3435100" y="1168125"/>
                  <a:chExt cx="2324040" cy="2135834"/>
                </a:xfrm>
                <a:grpFill/>
              </p:grpSpPr>
              <p:sp>
                <p:nvSpPr>
                  <p:cNvPr id="663" name="Google Shape;214;p21"/>
                  <p:cNvSpPr/>
                  <p:nvPr/>
                </p:nvSpPr>
                <p:spPr>
                  <a:xfrm flipH="1">
                    <a:off x="3435100" y="1168125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64" name="Google Shape;215;p21"/>
                  <p:cNvSpPr/>
                  <p:nvPr/>
                </p:nvSpPr>
                <p:spPr>
                  <a:xfrm flipH="1">
                    <a:off x="4015900" y="1168125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65" name="Google Shape;216;p21"/>
                  <p:cNvSpPr/>
                  <p:nvPr/>
                </p:nvSpPr>
                <p:spPr>
                  <a:xfrm flipH="1">
                    <a:off x="4596700" y="1168125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66" name="Google Shape;218;p21"/>
                  <p:cNvSpPr/>
                  <p:nvPr/>
                </p:nvSpPr>
                <p:spPr>
                  <a:xfrm flipH="1">
                    <a:off x="4596570" y="2231635"/>
                    <a:ext cx="581500" cy="539100"/>
                  </a:xfrm>
                  <a:prstGeom prst="rect">
                    <a:avLst/>
                  </a:prstGeom>
                  <a:solidFill>
                    <a:srgbClr val="0070C0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67" name="Google Shape;219;p21"/>
                  <p:cNvSpPr/>
                  <p:nvPr/>
                </p:nvSpPr>
                <p:spPr>
                  <a:xfrm flipH="1">
                    <a:off x="3435100" y="1700925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68" name="Google Shape;220;p21"/>
                  <p:cNvSpPr/>
                  <p:nvPr/>
                </p:nvSpPr>
                <p:spPr>
                  <a:xfrm flipH="1">
                    <a:off x="4015900" y="1700925"/>
                    <a:ext cx="580800" cy="5328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69" name="Google Shape;221;p21"/>
                  <p:cNvSpPr/>
                  <p:nvPr/>
                </p:nvSpPr>
                <p:spPr>
                  <a:xfrm flipH="1">
                    <a:off x="4596700" y="1700925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70" name="Google Shape;223;p21"/>
                  <p:cNvSpPr/>
                  <p:nvPr/>
                </p:nvSpPr>
                <p:spPr>
                  <a:xfrm flipH="1">
                    <a:off x="3435940" y="2236437"/>
                    <a:ext cx="580800" cy="532800"/>
                  </a:xfrm>
                  <a:prstGeom prst="rect">
                    <a:avLst/>
                  </a:prstGeom>
                  <a:solidFill>
                    <a:srgbClr val="0070C0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71" name="Google Shape;225;p21"/>
                  <p:cNvSpPr/>
                  <p:nvPr/>
                </p:nvSpPr>
                <p:spPr>
                  <a:xfrm flipH="1">
                    <a:off x="4015900" y="2235375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72" name="Google Shape;229;p21"/>
                  <p:cNvSpPr/>
                  <p:nvPr/>
                </p:nvSpPr>
                <p:spPr>
                  <a:xfrm flipH="1">
                    <a:off x="3435100" y="2769266"/>
                    <a:ext cx="581500" cy="534693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73" name="Google Shape;231;p21"/>
                  <p:cNvSpPr/>
                  <p:nvPr/>
                </p:nvSpPr>
                <p:spPr>
                  <a:xfrm flipH="1">
                    <a:off x="4596570" y="2769266"/>
                    <a:ext cx="581500" cy="534693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74" name="Google Shape;233;p21"/>
                  <p:cNvSpPr/>
                  <p:nvPr/>
                </p:nvSpPr>
                <p:spPr>
                  <a:xfrm flipH="1">
                    <a:off x="4015070" y="2767797"/>
                    <a:ext cx="581500" cy="536162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75" name="Google Shape;234;p21"/>
                  <p:cNvSpPr/>
                  <p:nvPr/>
                </p:nvSpPr>
                <p:spPr>
                  <a:xfrm flipH="1">
                    <a:off x="5177931" y="1168848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76" name="Google Shape;235;p21"/>
                  <p:cNvSpPr/>
                  <p:nvPr/>
                </p:nvSpPr>
                <p:spPr>
                  <a:xfrm flipH="1">
                    <a:off x="5178135" y="1704032"/>
                    <a:ext cx="580800" cy="5328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77" name="Google Shape;236;p21"/>
                  <p:cNvSpPr/>
                  <p:nvPr/>
                </p:nvSpPr>
                <p:spPr>
                  <a:xfrm flipH="1">
                    <a:off x="5178340" y="2237093"/>
                    <a:ext cx="580800" cy="5328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662" name="Google Shape;236;p21"/>
                <p:cNvSpPr/>
                <p:nvPr/>
              </p:nvSpPr>
              <p:spPr>
                <a:xfrm flipH="1">
                  <a:off x="8536" y="7873"/>
                  <a:ext cx="557" cy="50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sp>
            <p:nvSpPr>
              <p:cNvPr id="657" name="Google Shape;234;p21"/>
              <p:cNvSpPr/>
              <p:nvPr/>
            </p:nvSpPr>
            <p:spPr>
              <a:xfrm flipH="1">
                <a:off x="6867" y="7821"/>
                <a:ext cx="378" cy="363"/>
              </a:xfrm>
              <a:prstGeom prst="rect">
                <a:avLst/>
              </a:prstGeom>
              <a:grp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8" name="Google Shape;234;p21"/>
              <p:cNvSpPr/>
              <p:nvPr/>
            </p:nvSpPr>
            <p:spPr>
              <a:xfrm flipH="1">
                <a:off x="7244" y="7821"/>
                <a:ext cx="384" cy="363"/>
              </a:xfrm>
              <a:prstGeom prst="rect">
                <a:avLst/>
              </a:prstGeom>
              <a:solidFill>
                <a:srgbClr val="0070C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9" name="Google Shape;234;p21"/>
              <p:cNvSpPr/>
              <p:nvPr/>
            </p:nvSpPr>
            <p:spPr>
              <a:xfrm flipH="1">
                <a:off x="7628" y="7821"/>
                <a:ext cx="380" cy="363"/>
              </a:xfrm>
              <a:prstGeom prst="rect">
                <a:avLst/>
              </a:prstGeom>
              <a:grp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60" name="Google Shape;234;p21"/>
              <p:cNvSpPr/>
              <p:nvPr/>
            </p:nvSpPr>
            <p:spPr>
              <a:xfrm flipH="1">
                <a:off x="8006" y="7821"/>
                <a:ext cx="380" cy="363"/>
              </a:xfrm>
              <a:prstGeom prst="rect">
                <a:avLst/>
              </a:prstGeom>
              <a:grp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678" name="Google Shape;234;p21"/>
            <p:cNvSpPr/>
            <p:nvPr/>
          </p:nvSpPr>
          <p:spPr>
            <a:xfrm rot="5400000" flipH="1">
              <a:off x="3471082" y="7397550"/>
              <a:ext cx="172174" cy="164684"/>
            </a:xfrm>
            <a:prstGeom prst="rect">
              <a:avLst/>
            </a:prstGeom>
            <a:solidFill>
              <a:srgbClr val="0070C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9" name="Google Shape;235;p21"/>
            <p:cNvSpPr/>
            <p:nvPr/>
          </p:nvSpPr>
          <p:spPr>
            <a:xfrm rot="5400000" flipH="1">
              <a:off x="3305661" y="7397611"/>
              <a:ext cx="172174" cy="164684"/>
            </a:xfrm>
            <a:prstGeom prst="rect">
              <a:avLst/>
            </a:prstGeom>
            <a:grp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236;p21"/>
            <p:cNvSpPr/>
            <p:nvPr/>
          </p:nvSpPr>
          <p:spPr>
            <a:xfrm rot="5400000" flipH="1">
              <a:off x="3140896" y="7397672"/>
              <a:ext cx="172174" cy="164684"/>
            </a:xfrm>
            <a:prstGeom prst="rect">
              <a:avLst/>
            </a:prstGeom>
            <a:grp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236;p21"/>
            <p:cNvSpPr/>
            <p:nvPr/>
          </p:nvSpPr>
          <p:spPr>
            <a:xfrm rot="5400000" flipH="1">
              <a:off x="2976836" y="7397637"/>
              <a:ext cx="172469" cy="165699"/>
            </a:xfrm>
            <a:prstGeom prst="rect">
              <a:avLst/>
            </a:prstGeom>
            <a:grp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234;p21"/>
            <p:cNvSpPr/>
            <p:nvPr/>
          </p:nvSpPr>
          <p:spPr>
            <a:xfrm rot="5400000" flipH="1">
              <a:off x="2810450" y="7398968"/>
              <a:ext cx="172505" cy="1648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713" name="直接箭头连接符 712"/>
          <p:cNvCxnSpPr/>
          <p:nvPr/>
        </p:nvCxnSpPr>
        <p:spPr>
          <a:xfrm>
            <a:off x="3203996" y="7646843"/>
            <a:ext cx="0" cy="13633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5" name="直接箭头连接符 714"/>
          <p:cNvCxnSpPr/>
          <p:nvPr/>
        </p:nvCxnSpPr>
        <p:spPr>
          <a:xfrm>
            <a:off x="3197158" y="8796193"/>
            <a:ext cx="0" cy="13633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6" name="直接箭头连接符 715"/>
          <p:cNvCxnSpPr/>
          <p:nvPr/>
        </p:nvCxnSpPr>
        <p:spPr>
          <a:xfrm flipH="1">
            <a:off x="2207487" y="9577878"/>
            <a:ext cx="988695" cy="1517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0" name="直接连接符 719"/>
          <p:cNvCxnSpPr/>
          <p:nvPr/>
        </p:nvCxnSpPr>
        <p:spPr>
          <a:xfrm>
            <a:off x="1461583" y="6611159"/>
            <a:ext cx="0" cy="2700000"/>
          </a:xfrm>
          <a:prstGeom prst="line">
            <a:avLst/>
          </a:prstGeom>
          <a:ln w="19050">
            <a:solidFill>
              <a:srgbClr val="BEB9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直接箭头连接符 728"/>
          <p:cNvCxnSpPr>
            <a:endCxn id="653" idx="1"/>
          </p:cNvCxnSpPr>
          <p:nvPr/>
        </p:nvCxnSpPr>
        <p:spPr>
          <a:xfrm>
            <a:off x="1473013" y="9290368"/>
            <a:ext cx="1040917" cy="1873"/>
          </a:xfrm>
          <a:prstGeom prst="straightConnector1">
            <a:avLst/>
          </a:prstGeom>
          <a:ln w="19050">
            <a:solidFill>
              <a:srgbClr val="BEB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直接连接符 731"/>
          <p:cNvCxnSpPr/>
          <p:nvPr/>
        </p:nvCxnSpPr>
        <p:spPr>
          <a:xfrm>
            <a:off x="5024395" y="6611140"/>
            <a:ext cx="12065" cy="2700000"/>
          </a:xfrm>
          <a:prstGeom prst="line">
            <a:avLst/>
          </a:prstGeom>
          <a:ln w="19050">
            <a:solidFill>
              <a:srgbClr val="FB80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直接箭头连接符 733"/>
          <p:cNvCxnSpPr/>
          <p:nvPr/>
        </p:nvCxnSpPr>
        <p:spPr>
          <a:xfrm flipH="1">
            <a:off x="3962963" y="9277396"/>
            <a:ext cx="1054305" cy="0"/>
          </a:xfrm>
          <a:prstGeom prst="straightConnector1">
            <a:avLst/>
          </a:prstGeom>
          <a:ln w="19050">
            <a:solidFill>
              <a:srgbClr val="FB80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连接符: 曲线 735"/>
          <p:cNvCxnSpPr/>
          <p:nvPr/>
        </p:nvCxnSpPr>
        <p:spPr>
          <a:xfrm rot="5400000" flipV="1">
            <a:off x="1682085" y="6451888"/>
            <a:ext cx="603250" cy="1044000"/>
          </a:xfrm>
          <a:prstGeom prst="curvedConnector2">
            <a:avLst/>
          </a:prstGeom>
          <a:ln w="19050">
            <a:solidFill>
              <a:srgbClr val="BEB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连接符: 曲线 740"/>
          <p:cNvCxnSpPr/>
          <p:nvPr/>
        </p:nvCxnSpPr>
        <p:spPr>
          <a:xfrm rot="5400000">
            <a:off x="4164781" y="6433513"/>
            <a:ext cx="675002" cy="1030257"/>
          </a:xfrm>
          <a:prstGeom prst="curvedConnector2">
            <a:avLst/>
          </a:prstGeom>
          <a:ln w="19050">
            <a:solidFill>
              <a:srgbClr val="FB80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1" name="椭圆 750"/>
          <p:cNvSpPr>
            <a:spLocks noChangeAspect="1"/>
          </p:cNvSpPr>
          <p:nvPr/>
        </p:nvSpPr>
        <p:spPr>
          <a:xfrm>
            <a:off x="1598858" y="9967469"/>
            <a:ext cx="144780" cy="14478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52" name="椭圆 751"/>
          <p:cNvSpPr>
            <a:spLocks noChangeAspect="1"/>
          </p:cNvSpPr>
          <p:nvPr/>
        </p:nvSpPr>
        <p:spPr>
          <a:xfrm>
            <a:off x="1907443" y="9976807"/>
            <a:ext cx="144780" cy="14478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53" name="椭圆 752"/>
          <p:cNvSpPr>
            <a:spLocks noChangeAspect="1"/>
          </p:cNvSpPr>
          <p:nvPr/>
        </p:nvSpPr>
        <p:spPr>
          <a:xfrm>
            <a:off x="2782535" y="9974725"/>
            <a:ext cx="144780" cy="14478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54" name="椭圆 753"/>
          <p:cNvSpPr>
            <a:spLocks noChangeAspect="1"/>
          </p:cNvSpPr>
          <p:nvPr/>
        </p:nvSpPr>
        <p:spPr>
          <a:xfrm>
            <a:off x="1265025" y="9974725"/>
            <a:ext cx="144780" cy="14478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55" name="椭圆 754"/>
          <p:cNvSpPr>
            <a:spLocks noChangeAspect="1"/>
          </p:cNvSpPr>
          <p:nvPr/>
        </p:nvSpPr>
        <p:spPr>
          <a:xfrm>
            <a:off x="2448702" y="9974725"/>
            <a:ext cx="144780" cy="14478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56" name="文本框 242"/>
          <p:cNvSpPr txBox="1"/>
          <p:nvPr/>
        </p:nvSpPr>
        <p:spPr>
          <a:xfrm>
            <a:off x="2103401" y="9852007"/>
            <a:ext cx="34099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dirty="0">
                <a:latin typeface="Arial" panose="020B0604020202020204" pitchFamily="34" charset="0"/>
                <a:ea typeface="微软雅黑" panose="020B0503020204020204" charset="-122"/>
              </a:rPr>
              <a:t>...</a:t>
            </a:r>
            <a:endParaRPr lang="en-US" altLang="zh-CN" sz="1200" baseline="-25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57" name="椭圆 756"/>
          <p:cNvSpPr>
            <a:spLocks noChangeAspect="1"/>
          </p:cNvSpPr>
          <p:nvPr/>
        </p:nvSpPr>
        <p:spPr>
          <a:xfrm>
            <a:off x="1858104" y="10287665"/>
            <a:ext cx="144780" cy="144780"/>
          </a:xfrm>
          <a:prstGeom prst="ellipse">
            <a:avLst/>
          </a:prstGeom>
          <a:solidFill>
            <a:srgbClr val="FDB46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59" name="椭圆 758"/>
          <p:cNvSpPr>
            <a:spLocks noChangeAspect="1"/>
          </p:cNvSpPr>
          <p:nvPr/>
        </p:nvSpPr>
        <p:spPr>
          <a:xfrm>
            <a:off x="2258654" y="10287665"/>
            <a:ext cx="144780" cy="144780"/>
          </a:xfrm>
          <a:prstGeom prst="ellipse">
            <a:avLst/>
          </a:prstGeom>
          <a:solidFill>
            <a:srgbClr val="B3DE6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761" name="直接连接符 760"/>
          <p:cNvCxnSpPr>
            <a:stCxn id="754" idx="5"/>
            <a:endCxn id="757" idx="0"/>
          </p:cNvCxnSpPr>
          <p:nvPr/>
        </p:nvCxnSpPr>
        <p:spPr>
          <a:xfrm>
            <a:off x="1388602" y="10098302"/>
            <a:ext cx="541892" cy="189363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2" name="直接连接符 761"/>
          <p:cNvCxnSpPr>
            <a:stCxn id="754" idx="5"/>
            <a:endCxn id="759" idx="0"/>
          </p:cNvCxnSpPr>
          <p:nvPr/>
        </p:nvCxnSpPr>
        <p:spPr>
          <a:xfrm>
            <a:off x="1388602" y="10098302"/>
            <a:ext cx="942442" cy="189363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5" name="直接连接符 764"/>
          <p:cNvCxnSpPr>
            <a:stCxn id="751" idx="4"/>
            <a:endCxn id="757" idx="0"/>
          </p:cNvCxnSpPr>
          <p:nvPr/>
        </p:nvCxnSpPr>
        <p:spPr>
          <a:xfrm>
            <a:off x="1671248" y="10112249"/>
            <a:ext cx="259246" cy="175416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8" name="直接连接符 767"/>
          <p:cNvCxnSpPr>
            <a:stCxn id="751" idx="4"/>
            <a:endCxn id="759" idx="0"/>
          </p:cNvCxnSpPr>
          <p:nvPr/>
        </p:nvCxnSpPr>
        <p:spPr>
          <a:xfrm>
            <a:off x="1671248" y="10112249"/>
            <a:ext cx="659796" cy="175416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1" name="直接连接符 770"/>
          <p:cNvCxnSpPr>
            <a:stCxn id="752" idx="4"/>
            <a:endCxn id="757" idx="0"/>
          </p:cNvCxnSpPr>
          <p:nvPr/>
        </p:nvCxnSpPr>
        <p:spPr>
          <a:xfrm flipH="1">
            <a:off x="1930494" y="10121587"/>
            <a:ext cx="49339" cy="166078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4" name="直接连接符 773"/>
          <p:cNvCxnSpPr>
            <a:stCxn id="752" idx="4"/>
            <a:endCxn id="759" idx="0"/>
          </p:cNvCxnSpPr>
          <p:nvPr/>
        </p:nvCxnSpPr>
        <p:spPr>
          <a:xfrm>
            <a:off x="1979833" y="10121587"/>
            <a:ext cx="351211" cy="166078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7" name="直接连接符 776"/>
          <p:cNvCxnSpPr>
            <a:stCxn id="755" idx="4"/>
            <a:endCxn id="757" idx="0"/>
          </p:cNvCxnSpPr>
          <p:nvPr/>
        </p:nvCxnSpPr>
        <p:spPr>
          <a:xfrm flipH="1">
            <a:off x="1930494" y="10119505"/>
            <a:ext cx="590598" cy="16816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0" name="直接连接符 779"/>
          <p:cNvCxnSpPr>
            <a:stCxn id="755" idx="4"/>
            <a:endCxn id="759" idx="0"/>
          </p:cNvCxnSpPr>
          <p:nvPr/>
        </p:nvCxnSpPr>
        <p:spPr>
          <a:xfrm flipH="1">
            <a:off x="2331044" y="10119505"/>
            <a:ext cx="190048" cy="16816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3" name="直接连接符 782"/>
          <p:cNvCxnSpPr>
            <a:stCxn id="753" idx="3"/>
            <a:endCxn id="757" idx="0"/>
          </p:cNvCxnSpPr>
          <p:nvPr/>
        </p:nvCxnSpPr>
        <p:spPr>
          <a:xfrm flipH="1">
            <a:off x="1930494" y="10098302"/>
            <a:ext cx="873244" cy="189363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6" name="直接连接符 785"/>
          <p:cNvCxnSpPr>
            <a:stCxn id="753" idx="3"/>
            <a:endCxn id="759" idx="0"/>
          </p:cNvCxnSpPr>
          <p:nvPr/>
        </p:nvCxnSpPr>
        <p:spPr>
          <a:xfrm flipH="1">
            <a:off x="2331044" y="10098302"/>
            <a:ext cx="472694" cy="189363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9" name="文本框 305"/>
          <p:cNvSpPr txBox="1"/>
          <p:nvPr/>
        </p:nvSpPr>
        <p:spPr>
          <a:xfrm>
            <a:off x="142546" y="10112357"/>
            <a:ext cx="1222329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00" b="1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Fully connected classification</a:t>
            </a:r>
            <a:endParaRPr lang="en-US" altLang="zh-CN" sz="1000" b="1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790" name="文本框 305"/>
          <p:cNvSpPr txBox="1"/>
          <p:nvPr/>
        </p:nvSpPr>
        <p:spPr>
          <a:xfrm>
            <a:off x="1092890" y="10486024"/>
            <a:ext cx="2100665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b="1" dirty="0">
                <a:solidFill>
                  <a:srgbClr val="FDB462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Interaction</a:t>
            </a:r>
            <a:r>
              <a:rPr lang="en-US" altLang="zh-CN" sz="1100" b="1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/ </a:t>
            </a:r>
            <a:r>
              <a:rPr lang="en-US" altLang="zh-CN" sz="1100" b="1" dirty="0">
                <a:solidFill>
                  <a:srgbClr val="B3DE69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Not</a:t>
            </a:r>
            <a:r>
              <a:rPr lang="zh-CN" altLang="en-US" sz="1100" b="1" dirty="0">
                <a:solidFill>
                  <a:srgbClr val="B3DE69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1100" b="1" dirty="0">
                <a:solidFill>
                  <a:srgbClr val="B3DE69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interaction</a:t>
            </a:r>
            <a:endParaRPr lang="en-US" altLang="zh-CN" sz="1100" b="1" dirty="0">
              <a:solidFill>
                <a:srgbClr val="B3DE69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791" name="文本框 264"/>
          <p:cNvSpPr txBox="1"/>
          <p:nvPr/>
        </p:nvSpPr>
        <p:spPr>
          <a:xfrm>
            <a:off x="3472172" y="3491614"/>
            <a:ext cx="6667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GNN </a:t>
            </a:r>
            <a:endParaRPr lang="en-US" altLang="zh-CN" sz="10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en-US" altLang="zh-CN" sz="10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Layer </a:t>
            </a:r>
            <a:endParaRPr lang="en-US" altLang="zh-CN" sz="10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92" name="文本框 264"/>
          <p:cNvSpPr txBox="1"/>
          <p:nvPr/>
        </p:nvSpPr>
        <p:spPr>
          <a:xfrm>
            <a:off x="3483670" y="4459159"/>
            <a:ext cx="6667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GNN </a:t>
            </a:r>
            <a:endParaRPr lang="en-US" altLang="zh-CN" sz="10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en-US" altLang="zh-CN" sz="10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Layer </a:t>
            </a:r>
            <a:endParaRPr lang="en-US" altLang="zh-CN" sz="10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93" name="文本框 264"/>
          <p:cNvSpPr txBox="1"/>
          <p:nvPr/>
        </p:nvSpPr>
        <p:spPr>
          <a:xfrm>
            <a:off x="3470420" y="5407302"/>
            <a:ext cx="6667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GNN </a:t>
            </a:r>
            <a:endParaRPr lang="en-US" altLang="zh-CN" sz="10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en-US" altLang="zh-CN" sz="10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Layer </a:t>
            </a:r>
            <a:endParaRPr lang="en-US" altLang="zh-CN" sz="1000" b="1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94" name="矩形 793"/>
          <p:cNvSpPr/>
          <p:nvPr/>
        </p:nvSpPr>
        <p:spPr>
          <a:xfrm>
            <a:off x="190500" y="1962785"/>
            <a:ext cx="2779395" cy="478345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8" name="矩形 797"/>
          <p:cNvSpPr/>
          <p:nvPr/>
        </p:nvSpPr>
        <p:spPr>
          <a:xfrm>
            <a:off x="3569970" y="1962785"/>
            <a:ext cx="2764790" cy="478345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>
            <a:spLocks noChangeAspect="1"/>
          </p:cNvSpPr>
          <p:nvPr/>
        </p:nvSpPr>
        <p:spPr>
          <a:xfrm>
            <a:off x="3878508" y="9964611"/>
            <a:ext cx="144780" cy="14478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3" name="椭圆 2"/>
          <p:cNvSpPr>
            <a:spLocks noChangeAspect="1"/>
          </p:cNvSpPr>
          <p:nvPr/>
        </p:nvSpPr>
        <p:spPr>
          <a:xfrm>
            <a:off x="4187093" y="9973949"/>
            <a:ext cx="144780" cy="14478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2" name="椭圆 31"/>
          <p:cNvSpPr>
            <a:spLocks noChangeAspect="1"/>
          </p:cNvSpPr>
          <p:nvPr/>
        </p:nvSpPr>
        <p:spPr>
          <a:xfrm>
            <a:off x="5062185" y="9971867"/>
            <a:ext cx="144780" cy="14478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3" name="椭圆 32"/>
          <p:cNvSpPr>
            <a:spLocks noChangeAspect="1"/>
          </p:cNvSpPr>
          <p:nvPr/>
        </p:nvSpPr>
        <p:spPr>
          <a:xfrm>
            <a:off x="3544675" y="9971867"/>
            <a:ext cx="144780" cy="14478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34" name="椭圆 33"/>
          <p:cNvSpPr>
            <a:spLocks noChangeAspect="1"/>
          </p:cNvSpPr>
          <p:nvPr/>
        </p:nvSpPr>
        <p:spPr>
          <a:xfrm>
            <a:off x="4728352" y="9971867"/>
            <a:ext cx="144780" cy="14478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5" name="文本框 242"/>
          <p:cNvSpPr txBox="1"/>
          <p:nvPr/>
        </p:nvSpPr>
        <p:spPr>
          <a:xfrm>
            <a:off x="4383051" y="9864389"/>
            <a:ext cx="34099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dirty="0">
                <a:latin typeface="Arial" panose="020B0604020202020204" pitchFamily="34" charset="0"/>
                <a:ea typeface="微软雅黑" panose="020B0503020204020204" charset="-122"/>
              </a:rPr>
              <a:t>...</a:t>
            </a:r>
            <a:endParaRPr lang="en-US" altLang="zh-CN" sz="1200" baseline="-250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6" name="椭圆 35"/>
          <p:cNvSpPr>
            <a:spLocks noChangeAspect="1"/>
          </p:cNvSpPr>
          <p:nvPr/>
        </p:nvSpPr>
        <p:spPr>
          <a:xfrm>
            <a:off x="3921854" y="10284807"/>
            <a:ext cx="144780" cy="144780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椭圆 39"/>
          <p:cNvSpPr>
            <a:spLocks noChangeAspect="1"/>
          </p:cNvSpPr>
          <p:nvPr/>
        </p:nvSpPr>
        <p:spPr>
          <a:xfrm>
            <a:off x="4693879" y="10284807"/>
            <a:ext cx="144780" cy="14478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42" name="直接连接符 41"/>
          <p:cNvCxnSpPr>
            <a:stCxn id="33" idx="5"/>
            <a:endCxn id="36" idx="0"/>
          </p:cNvCxnSpPr>
          <p:nvPr/>
        </p:nvCxnSpPr>
        <p:spPr>
          <a:xfrm>
            <a:off x="3668252" y="10096079"/>
            <a:ext cx="325755" cy="18923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33" idx="5"/>
            <a:endCxn id="40" idx="0"/>
          </p:cNvCxnSpPr>
          <p:nvPr/>
        </p:nvCxnSpPr>
        <p:spPr>
          <a:xfrm>
            <a:off x="3668252" y="10096079"/>
            <a:ext cx="1097915" cy="18923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直接连接符 190"/>
          <p:cNvCxnSpPr>
            <a:stCxn id="2" idx="4"/>
            <a:endCxn id="36" idx="0"/>
          </p:cNvCxnSpPr>
          <p:nvPr/>
        </p:nvCxnSpPr>
        <p:spPr>
          <a:xfrm>
            <a:off x="3950898" y="10109391"/>
            <a:ext cx="43180" cy="175895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直接连接符 199"/>
          <p:cNvCxnSpPr>
            <a:stCxn id="2" idx="4"/>
            <a:endCxn id="40" idx="0"/>
          </p:cNvCxnSpPr>
          <p:nvPr/>
        </p:nvCxnSpPr>
        <p:spPr>
          <a:xfrm>
            <a:off x="3950898" y="10109391"/>
            <a:ext cx="815340" cy="175895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直接连接符 201"/>
          <p:cNvCxnSpPr>
            <a:stCxn id="3" idx="4"/>
            <a:endCxn id="36" idx="0"/>
          </p:cNvCxnSpPr>
          <p:nvPr/>
        </p:nvCxnSpPr>
        <p:spPr>
          <a:xfrm flipH="1">
            <a:off x="3994053" y="10118729"/>
            <a:ext cx="265430" cy="16637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直接连接符 202"/>
          <p:cNvCxnSpPr>
            <a:stCxn id="3" idx="4"/>
            <a:endCxn id="40" idx="0"/>
          </p:cNvCxnSpPr>
          <p:nvPr/>
        </p:nvCxnSpPr>
        <p:spPr>
          <a:xfrm>
            <a:off x="4259483" y="10118729"/>
            <a:ext cx="506730" cy="16637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接连接符 203"/>
          <p:cNvCxnSpPr>
            <a:stCxn id="34" idx="4"/>
            <a:endCxn id="36" idx="0"/>
          </p:cNvCxnSpPr>
          <p:nvPr/>
        </p:nvCxnSpPr>
        <p:spPr>
          <a:xfrm flipH="1">
            <a:off x="3994292" y="10116647"/>
            <a:ext cx="806450" cy="168275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直接连接符 204"/>
          <p:cNvCxnSpPr>
            <a:stCxn id="34" idx="4"/>
            <a:endCxn id="40" idx="0"/>
          </p:cNvCxnSpPr>
          <p:nvPr/>
        </p:nvCxnSpPr>
        <p:spPr>
          <a:xfrm flipH="1">
            <a:off x="4766452" y="10116647"/>
            <a:ext cx="34290" cy="168275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直接连接符 205"/>
          <p:cNvCxnSpPr>
            <a:stCxn id="32" idx="3"/>
            <a:endCxn id="36" idx="0"/>
          </p:cNvCxnSpPr>
          <p:nvPr/>
        </p:nvCxnSpPr>
        <p:spPr>
          <a:xfrm flipH="1">
            <a:off x="3994363" y="10096079"/>
            <a:ext cx="1089025" cy="18923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直接连接符 206"/>
          <p:cNvCxnSpPr>
            <a:stCxn id="32" idx="3"/>
            <a:endCxn id="40" idx="0"/>
          </p:cNvCxnSpPr>
          <p:nvPr/>
        </p:nvCxnSpPr>
        <p:spPr>
          <a:xfrm flipH="1">
            <a:off x="4766523" y="10096079"/>
            <a:ext cx="316865" cy="18923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" name="文本框 305"/>
          <p:cNvSpPr txBox="1"/>
          <p:nvPr/>
        </p:nvSpPr>
        <p:spPr>
          <a:xfrm>
            <a:off x="5125391" y="10087274"/>
            <a:ext cx="1222329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00" b="1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Fully connected regression</a:t>
            </a:r>
            <a:endParaRPr lang="en-US" altLang="zh-CN" sz="1000" b="1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09" name="文本框 305"/>
          <p:cNvSpPr txBox="1"/>
          <p:nvPr/>
        </p:nvSpPr>
        <p:spPr>
          <a:xfrm>
            <a:off x="3753485" y="10429875"/>
            <a:ext cx="506095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b="1" dirty="0">
                <a:solidFill>
                  <a:srgbClr val="1A4874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pK</a:t>
            </a:r>
            <a:endParaRPr lang="en-US" altLang="zh-CN" sz="1100" b="1" dirty="0">
              <a:solidFill>
                <a:srgbClr val="1A4874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10" name="文本框 305"/>
          <p:cNvSpPr txBox="1"/>
          <p:nvPr/>
        </p:nvSpPr>
        <p:spPr>
          <a:xfrm>
            <a:off x="4476115" y="10429875"/>
            <a:ext cx="64897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pAC50</a:t>
            </a:r>
            <a:endParaRPr lang="en-US" altLang="zh-CN" sz="11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cxnSp>
        <p:nvCxnSpPr>
          <p:cNvPr id="211" name="直接箭头连接符 210"/>
          <p:cNvCxnSpPr/>
          <p:nvPr/>
        </p:nvCxnSpPr>
        <p:spPr>
          <a:xfrm>
            <a:off x="3196182" y="9582958"/>
            <a:ext cx="988695" cy="1517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2" name="矩形 211"/>
          <p:cNvSpPr/>
          <p:nvPr/>
        </p:nvSpPr>
        <p:spPr>
          <a:xfrm>
            <a:off x="189865" y="9851390"/>
            <a:ext cx="2903220" cy="9556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/>
          <p:cNvSpPr/>
          <p:nvPr/>
        </p:nvSpPr>
        <p:spPr>
          <a:xfrm>
            <a:off x="3505200" y="9852025"/>
            <a:ext cx="2829560" cy="9556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文本框 213"/>
          <p:cNvSpPr txBox="1"/>
          <p:nvPr/>
        </p:nvSpPr>
        <p:spPr>
          <a:xfrm>
            <a:off x="350520" y="10848340"/>
            <a:ext cx="249364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 b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Pre-training for Classification</a:t>
            </a:r>
            <a:endParaRPr lang="en-US" altLang="zh-CN" sz="1200" b="1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3483610" y="10848340"/>
            <a:ext cx="29076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 b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Fine-tuning for Multi-task Regression</a:t>
            </a:r>
            <a:endParaRPr lang="en-US" altLang="zh-CN" sz="1200" b="1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217" name="直接箭头连接符 216"/>
          <p:cNvCxnSpPr/>
          <p:nvPr/>
        </p:nvCxnSpPr>
        <p:spPr>
          <a:xfrm>
            <a:off x="5047220" y="3144710"/>
            <a:ext cx="0" cy="1800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4" name="直接箭头连接符 223"/>
          <p:cNvCxnSpPr/>
          <p:nvPr/>
        </p:nvCxnSpPr>
        <p:spPr>
          <a:xfrm>
            <a:off x="1503920" y="5952680"/>
            <a:ext cx="0" cy="1800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5" name="矩形 224"/>
          <p:cNvSpPr/>
          <p:nvPr/>
        </p:nvSpPr>
        <p:spPr>
          <a:xfrm rot="16200000">
            <a:off x="694690" y="6305550"/>
            <a:ext cx="276860" cy="162560"/>
          </a:xfrm>
          <a:prstGeom prst="rect">
            <a:avLst/>
          </a:prstGeom>
          <a:solidFill>
            <a:srgbClr val="BEB9D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/>
          <p:cNvSpPr/>
          <p:nvPr/>
        </p:nvSpPr>
        <p:spPr>
          <a:xfrm rot="16200000">
            <a:off x="952500" y="6305550"/>
            <a:ext cx="276860" cy="162560"/>
          </a:xfrm>
          <a:prstGeom prst="rect">
            <a:avLst/>
          </a:prstGeom>
          <a:solidFill>
            <a:srgbClr val="BEB9D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矩形 226"/>
          <p:cNvSpPr/>
          <p:nvPr/>
        </p:nvSpPr>
        <p:spPr>
          <a:xfrm rot="16200000">
            <a:off x="1231265" y="6305550"/>
            <a:ext cx="276860" cy="162560"/>
          </a:xfrm>
          <a:prstGeom prst="rect">
            <a:avLst/>
          </a:prstGeom>
          <a:solidFill>
            <a:srgbClr val="BEB9D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/>
          <p:cNvSpPr/>
          <p:nvPr/>
        </p:nvSpPr>
        <p:spPr>
          <a:xfrm rot="16200000">
            <a:off x="1728470" y="6305550"/>
            <a:ext cx="276860" cy="162560"/>
          </a:xfrm>
          <a:prstGeom prst="rect">
            <a:avLst/>
          </a:prstGeom>
          <a:solidFill>
            <a:srgbClr val="BEB9D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矩形 228"/>
          <p:cNvSpPr/>
          <p:nvPr/>
        </p:nvSpPr>
        <p:spPr>
          <a:xfrm rot="16200000">
            <a:off x="2063750" y="6305550"/>
            <a:ext cx="276860" cy="162560"/>
          </a:xfrm>
          <a:prstGeom prst="rect">
            <a:avLst/>
          </a:prstGeom>
          <a:solidFill>
            <a:srgbClr val="BEB9D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圆角矩形 237"/>
          <p:cNvSpPr/>
          <p:nvPr/>
        </p:nvSpPr>
        <p:spPr>
          <a:xfrm>
            <a:off x="601980" y="6168390"/>
            <a:ext cx="1842135" cy="44323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文本框 238"/>
          <p:cNvSpPr txBox="1"/>
          <p:nvPr/>
        </p:nvSpPr>
        <p:spPr>
          <a:xfrm>
            <a:off x="1405255" y="6240145"/>
            <a:ext cx="42418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......</a:t>
            </a:r>
            <a:endParaRPr lang="en-US" altLang="zh-CN" sz="120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45" name="矩形 244"/>
          <p:cNvSpPr/>
          <p:nvPr/>
        </p:nvSpPr>
        <p:spPr>
          <a:xfrm rot="16200000">
            <a:off x="4256405" y="6305550"/>
            <a:ext cx="276860" cy="162560"/>
          </a:xfrm>
          <a:prstGeom prst="rect">
            <a:avLst/>
          </a:prstGeom>
          <a:solidFill>
            <a:srgbClr val="FB807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矩形 248"/>
          <p:cNvSpPr/>
          <p:nvPr/>
        </p:nvSpPr>
        <p:spPr>
          <a:xfrm rot="16200000">
            <a:off x="4514215" y="6305550"/>
            <a:ext cx="276860" cy="162560"/>
          </a:xfrm>
          <a:prstGeom prst="rect">
            <a:avLst/>
          </a:prstGeom>
          <a:solidFill>
            <a:srgbClr val="FB807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矩形 249"/>
          <p:cNvSpPr/>
          <p:nvPr/>
        </p:nvSpPr>
        <p:spPr>
          <a:xfrm rot="16200000">
            <a:off x="4789170" y="6309995"/>
            <a:ext cx="285115" cy="162560"/>
          </a:xfrm>
          <a:prstGeom prst="rect">
            <a:avLst/>
          </a:prstGeom>
          <a:solidFill>
            <a:srgbClr val="FB807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矩形 250"/>
          <p:cNvSpPr/>
          <p:nvPr/>
        </p:nvSpPr>
        <p:spPr>
          <a:xfrm rot="16200000">
            <a:off x="5286375" y="6309995"/>
            <a:ext cx="285115" cy="162560"/>
          </a:xfrm>
          <a:prstGeom prst="rect">
            <a:avLst/>
          </a:prstGeom>
          <a:solidFill>
            <a:srgbClr val="FB807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矩形 251"/>
          <p:cNvSpPr/>
          <p:nvPr/>
        </p:nvSpPr>
        <p:spPr>
          <a:xfrm rot="16200000">
            <a:off x="5620385" y="6311265"/>
            <a:ext cx="287655" cy="162560"/>
          </a:xfrm>
          <a:prstGeom prst="rect">
            <a:avLst/>
          </a:prstGeom>
          <a:solidFill>
            <a:srgbClr val="FB807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圆角矩形 252"/>
          <p:cNvSpPr/>
          <p:nvPr/>
        </p:nvSpPr>
        <p:spPr>
          <a:xfrm>
            <a:off x="4163695" y="6168390"/>
            <a:ext cx="1842135" cy="44323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文本框 253"/>
          <p:cNvSpPr txBox="1"/>
          <p:nvPr/>
        </p:nvSpPr>
        <p:spPr>
          <a:xfrm>
            <a:off x="4975225" y="6240145"/>
            <a:ext cx="42418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......</a:t>
            </a:r>
            <a:endParaRPr lang="en-US" altLang="zh-CN" sz="120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102870" y="5952490"/>
            <a:ext cx="14528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protein representation</a:t>
            </a:r>
            <a:endParaRPr lang="en-US" altLang="zh-CN" sz="100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3559810" y="5952490"/>
            <a:ext cx="14528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 dirty="0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drug representation</a:t>
            </a:r>
            <a:endParaRPr lang="en-US" altLang="zh-CN" sz="100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supplementary_figure_2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535" y="3643630"/>
            <a:ext cx="2974340" cy="191262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201930" y="94932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a</a:t>
            </a:r>
            <a:endParaRPr lang="en-US" altLang="zh-CN" sz="1400" b="1">
              <a:latin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3383280" y="949325"/>
            <a:ext cx="304800" cy="2863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b</a:t>
            </a:r>
            <a:endParaRPr lang="en-US" altLang="zh-CN" sz="1400" b="1">
              <a:latin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214630" y="3438525"/>
            <a:ext cx="304800" cy="2990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c</a:t>
            </a:r>
            <a:endParaRPr lang="en-US" altLang="zh-CN" sz="1400" b="1">
              <a:latin typeface="+mn-ea"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5"/>
            </p:custDataLst>
          </p:nvPr>
        </p:nvGraphicFramePr>
        <p:xfrm>
          <a:off x="3425190" y="3851275"/>
          <a:ext cx="3277870" cy="1463040"/>
        </p:xfrm>
        <a:graphic>
          <a:graphicData uri="http://schemas.openxmlformats.org/drawingml/2006/table">
            <a:tbl>
              <a:tblPr firstRow="1">
                <a:tableStyleId>{8CC8FC79-6185-4386-960D-B2C91B0F2FAA}</a:tableStyleId>
              </a:tblPr>
              <a:tblGrid>
                <a:gridCol w="2383790"/>
                <a:gridCol w="894080"/>
              </a:tblGrid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Number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Num of Compound-Protein Pairs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2102767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Num of P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ositive pairs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1105014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Num of N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egative pairs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997753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Num of Proteins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7258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Num of Compounds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1255941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3640455" y="3590925"/>
            <a:ext cx="265366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</a:rPr>
              <a:t>Pretraining Data Collection Overview</a:t>
            </a:r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6"/>
            </p:custDataLst>
          </p:nvPr>
        </p:nvSpPr>
        <p:spPr>
          <a:xfrm>
            <a:off x="3383280" y="3438525"/>
            <a:ext cx="304800" cy="2990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d</a:t>
            </a:r>
            <a:endParaRPr lang="en-US" altLang="zh-CN" sz="1400" b="1">
              <a:latin typeface="+mn-ea"/>
            </a:endParaRPr>
          </a:p>
        </p:txBody>
      </p:sp>
      <p:pic>
        <p:nvPicPr>
          <p:cNvPr id="11" name="图片 10" descr="supplementary_figure_2b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2360" y="1221105"/>
            <a:ext cx="2804160" cy="2200910"/>
          </a:xfrm>
          <a:prstGeom prst="rect">
            <a:avLst/>
          </a:prstGeom>
        </p:spPr>
      </p:pic>
      <p:pic>
        <p:nvPicPr>
          <p:cNvPr id="13" name="图片 12" descr="supplementary_figure_2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215" y="1219835"/>
            <a:ext cx="2971800" cy="22009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supplementary_figure_3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014095"/>
            <a:ext cx="2895600" cy="2170430"/>
          </a:xfrm>
          <a:prstGeom prst="rect">
            <a:avLst/>
          </a:prstGeom>
        </p:spPr>
      </p:pic>
      <p:pic>
        <p:nvPicPr>
          <p:cNvPr id="25" name="图片 24" descr="supplementary_figure_3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254375"/>
            <a:ext cx="2895600" cy="21704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99060" y="843280"/>
            <a:ext cx="304800" cy="2990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a</a:t>
            </a:r>
            <a:endParaRPr lang="en-US" altLang="zh-CN" sz="1400" b="1">
              <a:latin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060" y="3088005"/>
            <a:ext cx="304800" cy="2990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c</a:t>
            </a:r>
            <a:endParaRPr lang="en-US" altLang="zh-CN" sz="1400" b="1">
              <a:latin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3356610" y="843280"/>
            <a:ext cx="304800" cy="2990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b</a:t>
            </a:r>
            <a:endParaRPr lang="en-US" altLang="zh-CN" sz="1400" b="1">
              <a:latin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3356610" y="3055620"/>
            <a:ext cx="304800" cy="2990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d</a:t>
            </a:r>
            <a:endParaRPr lang="en-US" altLang="zh-CN" sz="1400" b="1">
              <a:latin typeface="+mn-ea"/>
            </a:endParaRPr>
          </a:p>
        </p:txBody>
      </p:sp>
      <p:pic>
        <p:nvPicPr>
          <p:cNvPr id="21" name="图片 20" descr="supplementary_figure_3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" y="1014095"/>
            <a:ext cx="2834640" cy="2182495"/>
          </a:xfrm>
          <a:prstGeom prst="rect">
            <a:avLst/>
          </a:prstGeom>
        </p:spPr>
      </p:pic>
      <p:pic>
        <p:nvPicPr>
          <p:cNvPr id="24" name="图片 23" descr="supplementary_figure_3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850" y="3254375"/>
            <a:ext cx="2895600" cy="2170430"/>
          </a:xfrm>
          <a:prstGeom prst="rect">
            <a:avLst/>
          </a:prstGeom>
        </p:spPr>
      </p:pic>
      <p:pic>
        <p:nvPicPr>
          <p:cNvPr id="28" name="图片 27" descr="supplementary_figure_3b-d_legen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4770" y="5363845"/>
            <a:ext cx="3919855" cy="356870"/>
          </a:xfrm>
          <a:prstGeom prst="rect">
            <a:avLst/>
          </a:prstGeom>
        </p:spPr>
      </p:pic>
      <p:pic>
        <p:nvPicPr>
          <p:cNvPr id="29" name="图片 28" descr="supplementary_figure_3a_legend"/>
          <p:cNvPicPr>
            <a:picLocks noChangeAspect="1"/>
          </p:cNvPicPr>
          <p:nvPr/>
        </p:nvPicPr>
        <p:blipFill>
          <a:blip r:embed="rId10"/>
          <a:srcRect l="6016" t="17794" r="5538" b="28826"/>
          <a:stretch>
            <a:fillRect/>
          </a:stretch>
        </p:blipFill>
        <p:spPr>
          <a:xfrm>
            <a:off x="1527810" y="1348740"/>
            <a:ext cx="14097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supplementary_figure_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0" y="23495"/>
            <a:ext cx="4449445" cy="649922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20320" y="17018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lvl="0" algn="l">
              <a:buClrTx/>
              <a:buSzTx/>
              <a:buFontTx/>
            </a:pPr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  <a:sym typeface="+mn-ea"/>
              </a:rPr>
              <a:t>a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2332990" y="15494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lvl="0" algn="l">
              <a:buClrTx/>
              <a:buSzTx/>
              <a:buFontTx/>
            </a:pPr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  <a:sym typeface="+mn-ea"/>
              </a:rPr>
              <a:t>b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2332990" y="218186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lvl="0" algn="l">
              <a:buClrTx/>
              <a:buSzTx/>
              <a:buFontTx/>
            </a:pPr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  <a:sym typeface="+mn-ea"/>
              </a:rPr>
              <a:t>d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20320" y="2181860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lvl="0" algn="l">
              <a:buClrTx/>
              <a:buSzTx/>
              <a:buFontTx/>
            </a:pPr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  <a:sym typeface="+mn-ea"/>
              </a:rPr>
              <a:t>c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6"/>
            </p:custDataLst>
          </p:nvPr>
        </p:nvSpPr>
        <p:spPr>
          <a:xfrm>
            <a:off x="2332990" y="431863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lvl="0" algn="l">
              <a:buClrTx/>
              <a:buSzTx/>
              <a:buFontTx/>
            </a:pPr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  <a:sym typeface="+mn-ea"/>
              </a:rPr>
              <a:t>f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7"/>
            </p:custDataLst>
          </p:nvPr>
        </p:nvSpPr>
        <p:spPr>
          <a:xfrm>
            <a:off x="20320" y="431863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lvl="0" algn="l">
              <a:buClrTx/>
              <a:buSzTx/>
              <a:buFontTx/>
            </a:pPr>
            <a:r>
              <a:rPr lang="en-US" altLang="zh-CN" sz="1400" b="1">
                <a:latin typeface="Segoe UI Semibold" panose="020B0702040204020203" charset="0"/>
                <a:cs typeface="Segoe UI Semibold" panose="020B0702040204020203" charset="0"/>
                <a:sym typeface="+mn-ea"/>
              </a:rPr>
              <a:t>e</a:t>
            </a:r>
            <a:endParaRPr lang="en-US" altLang="zh-CN" sz="1400" b="1">
              <a:latin typeface="Segoe UI Semibold" panose="020B0702040204020203" charset="0"/>
              <a:cs typeface="Segoe UI Semibold" panose="020B0702040204020203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文本框 685"/>
          <p:cNvSpPr txBox="1"/>
          <p:nvPr/>
        </p:nvSpPr>
        <p:spPr>
          <a:xfrm>
            <a:off x="5362575" y="2894330"/>
            <a:ext cx="2705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...</a:t>
            </a:r>
            <a:endParaRPr lang="en-US" altLang="zh-CN" sz="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7" name="矩形 856"/>
          <p:cNvSpPr/>
          <p:nvPr/>
        </p:nvSpPr>
        <p:spPr>
          <a:xfrm>
            <a:off x="2802255" y="3683635"/>
            <a:ext cx="2789555" cy="1178560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2" name="圆角矩形 1221"/>
          <p:cNvSpPr/>
          <p:nvPr/>
        </p:nvSpPr>
        <p:spPr>
          <a:xfrm>
            <a:off x="4539615" y="4537710"/>
            <a:ext cx="259080" cy="1314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0" name="圆角矩形 1219"/>
          <p:cNvSpPr/>
          <p:nvPr/>
        </p:nvSpPr>
        <p:spPr>
          <a:xfrm>
            <a:off x="2598420" y="4550410"/>
            <a:ext cx="172720" cy="1193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9" name="矩形 1218"/>
          <p:cNvSpPr/>
          <p:nvPr/>
        </p:nvSpPr>
        <p:spPr>
          <a:xfrm>
            <a:off x="1732280" y="4184015"/>
            <a:ext cx="357505" cy="187325"/>
          </a:xfrm>
          <a:prstGeom prst="rect">
            <a:avLst/>
          </a:prstGeom>
          <a:solidFill>
            <a:srgbClr val="B6C7EA">
              <a:alpha val="40000"/>
            </a:srgb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8" name="圆角矩形 1217"/>
          <p:cNvSpPr/>
          <p:nvPr/>
        </p:nvSpPr>
        <p:spPr>
          <a:xfrm>
            <a:off x="1817370" y="4543425"/>
            <a:ext cx="172720" cy="1193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7" name="矩形 1216"/>
          <p:cNvSpPr/>
          <p:nvPr/>
        </p:nvSpPr>
        <p:spPr>
          <a:xfrm>
            <a:off x="915670" y="4184015"/>
            <a:ext cx="357505" cy="187325"/>
          </a:xfrm>
          <a:prstGeom prst="rect">
            <a:avLst/>
          </a:prstGeom>
          <a:solidFill>
            <a:srgbClr val="B6C7EA">
              <a:alpha val="40000"/>
            </a:srgb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4" name="圆角矩形 1213"/>
          <p:cNvSpPr/>
          <p:nvPr/>
        </p:nvSpPr>
        <p:spPr>
          <a:xfrm>
            <a:off x="1012190" y="4535805"/>
            <a:ext cx="172720" cy="1193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8" name="矩形 857"/>
          <p:cNvSpPr/>
          <p:nvPr/>
        </p:nvSpPr>
        <p:spPr>
          <a:xfrm>
            <a:off x="5603240" y="3683635"/>
            <a:ext cx="1038860" cy="1178560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6" name="矩形 855"/>
          <p:cNvSpPr/>
          <p:nvPr/>
        </p:nvSpPr>
        <p:spPr>
          <a:xfrm>
            <a:off x="167005" y="3683635"/>
            <a:ext cx="2626360" cy="1177925"/>
          </a:xfrm>
          <a:prstGeom prst="rect">
            <a:avLst/>
          </a:prstGeom>
          <a:solidFill>
            <a:schemeClr val="accent3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51" name="图片 850" descr="化学瓶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68415" y="4295775"/>
            <a:ext cx="194310" cy="194310"/>
          </a:xfrm>
          <a:prstGeom prst="rect">
            <a:avLst/>
          </a:prstGeom>
        </p:spPr>
      </p:pic>
      <p:sp>
        <p:nvSpPr>
          <p:cNvPr id="849" name="圆角矩形 848"/>
          <p:cNvSpPr/>
          <p:nvPr/>
        </p:nvSpPr>
        <p:spPr>
          <a:xfrm>
            <a:off x="5965825" y="4352290"/>
            <a:ext cx="167640" cy="113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0" name="圆角矩形 839"/>
          <p:cNvSpPr/>
          <p:nvPr/>
        </p:nvSpPr>
        <p:spPr>
          <a:xfrm>
            <a:off x="5045710" y="4210685"/>
            <a:ext cx="228600" cy="1143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9" name="圆角矩形 838"/>
          <p:cNvSpPr/>
          <p:nvPr/>
        </p:nvSpPr>
        <p:spPr>
          <a:xfrm>
            <a:off x="4218305" y="4210685"/>
            <a:ext cx="167005" cy="11938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8" name="圆角矩形 837"/>
          <p:cNvSpPr/>
          <p:nvPr/>
        </p:nvSpPr>
        <p:spPr>
          <a:xfrm>
            <a:off x="3489960" y="4218940"/>
            <a:ext cx="147320" cy="11176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7" name="圆角矩形 836"/>
          <p:cNvSpPr/>
          <p:nvPr/>
        </p:nvSpPr>
        <p:spPr>
          <a:xfrm>
            <a:off x="2237740" y="4215765"/>
            <a:ext cx="173355" cy="11493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6" name="圆角矩形 835"/>
          <p:cNvSpPr/>
          <p:nvPr/>
        </p:nvSpPr>
        <p:spPr>
          <a:xfrm>
            <a:off x="1407160" y="4210685"/>
            <a:ext cx="147320" cy="11176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4" name="圆角矩形 833"/>
          <p:cNvSpPr/>
          <p:nvPr/>
        </p:nvSpPr>
        <p:spPr>
          <a:xfrm>
            <a:off x="680720" y="4223385"/>
            <a:ext cx="147320" cy="11176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1" name="圆角矩形 830"/>
          <p:cNvSpPr/>
          <p:nvPr/>
        </p:nvSpPr>
        <p:spPr>
          <a:xfrm>
            <a:off x="3811905" y="4537710"/>
            <a:ext cx="186055" cy="127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7" name="圆角矩形 826"/>
          <p:cNvSpPr/>
          <p:nvPr/>
        </p:nvSpPr>
        <p:spPr>
          <a:xfrm>
            <a:off x="2884805" y="4542790"/>
            <a:ext cx="214630" cy="1193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6" name="圆角矩形 825"/>
          <p:cNvSpPr/>
          <p:nvPr/>
        </p:nvSpPr>
        <p:spPr>
          <a:xfrm>
            <a:off x="262255" y="4540250"/>
            <a:ext cx="172720" cy="1193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5" name="圆角矩形 694"/>
          <p:cNvSpPr/>
          <p:nvPr/>
        </p:nvSpPr>
        <p:spPr>
          <a:xfrm>
            <a:off x="5648325" y="2762250"/>
            <a:ext cx="1009650" cy="850900"/>
          </a:xfrm>
          <a:prstGeom prst="roundRect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4" name="圆角矩形 693"/>
          <p:cNvSpPr/>
          <p:nvPr/>
        </p:nvSpPr>
        <p:spPr>
          <a:xfrm>
            <a:off x="5648325" y="2393315"/>
            <a:ext cx="1009650" cy="340360"/>
          </a:xfrm>
          <a:prstGeom prst="roundRect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59" name="图片 658" descr="药物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2230" y="2426970"/>
            <a:ext cx="167005" cy="167005"/>
          </a:xfrm>
          <a:prstGeom prst="rect">
            <a:avLst/>
          </a:prstGeom>
        </p:spPr>
      </p:pic>
      <p:pic>
        <p:nvPicPr>
          <p:cNvPr id="672" name="图片 671" descr="折线图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3655" y="3269615"/>
            <a:ext cx="232410" cy="232410"/>
          </a:xfrm>
          <a:prstGeom prst="rect">
            <a:avLst/>
          </a:prstGeom>
        </p:spPr>
      </p:pic>
      <p:sp>
        <p:nvSpPr>
          <p:cNvPr id="678" name="圆角矩形 677"/>
          <p:cNvSpPr/>
          <p:nvPr/>
        </p:nvSpPr>
        <p:spPr>
          <a:xfrm>
            <a:off x="5647690" y="3098800"/>
            <a:ext cx="584200" cy="11176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73" name="图片 672" descr="人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8555" y="2760345"/>
            <a:ext cx="313690" cy="3136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" y="2559685"/>
            <a:ext cx="780415" cy="952500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285750" y="3111500"/>
            <a:ext cx="355600" cy="351790"/>
          </a:xfrm>
          <a:prstGeom prst="ellipse">
            <a:avLst/>
          </a:prstGeom>
          <a:solidFill>
            <a:schemeClr val="accent2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z="31750"/>
          </a:bodyPr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20370" y="2926080"/>
            <a:ext cx="317500" cy="292100"/>
          </a:xfrm>
          <a:prstGeom prst="ellipse">
            <a:avLst/>
          </a:prstGeom>
          <a:solidFill>
            <a:schemeClr val="accent3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z="31750"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可选过程 5"/>
          <p:cNvSpPr/>
          <p:nvPr/>
        </p:nvSpPr>
        <p:spPr>
          <a:xfrm rot="900000">
            <a:off x="717550" y="3079750"/>
            <a:ext cx="227330" cy="95885"/>
          </a:xfrm>
          <a:prstGeom prst="flowChartAlternateProcess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可选过程 6"/>
          <p:cNvSpPr/>
          <p:nvPr/>
        </p:nvSpPr>
        <p:spPr>
          <a:xfrm rot="17820000">
            <a:off x="601345" y="2846705"/>
            <a:ext cx="196850" cy="95885"/>
          </a:xfrm>
          <a:prstGeom prst="flowChartAlternateProcess">
            <a:avLst/>
          </a:prstGeom>
          <a:solidFill>
            <a:schemeClr val="tx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可选过程 7"/>
          <p:cNvSpPr/>
          <p:nvPr/>
        </p:nvSpPr>
        <p:spPr>
          <a:xfrm rot="3360000">
            <a:off x="570865" y="2699385"/>
            <a:ext cx="227330" cy="95885"/>
          </a:xfrm>
          <a:prstGeom prst="flowChartAlternateProcess">
            <a:avLst/>
          </a:prstGeom>
          <a:solidFill>
            <a:schemeClr val="accent6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流程图: 可选过程 8"/>
          <p:cNvSpPr/>
          <p:nvPr/>
        </p:nvSpPr>
        <p:spPr>
          <a:xfrm>
            <a:off x="725805" y="2785110"/>
            <a:ext cx="227330" cy="95885"/>
          </a:xfrm>
          <a:prstGeom prst="flowChartAlternateProcess">
            <a:avLst/>
          </a:prstGeom>
          <a:solidFill>
            <a:schemeClr val="accent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/>
        </p:nvSpPr>
        <p:spPr>
          <a:xfrm rot="18120000">
            <a:off x="822325" y="2715260"/>
            <a:ext cx="227330" cy="95885"/>
          </a:xfrm>
          <a:prstGeom prst="flowChartAlternateProcess">
            <a:avLst/>
          </a:prstGeom>
          <a:solidFill>
            <a:schemeClr val="accent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6" name="组合 155"/>
          <p:cNvGrpSpPr/>
          <p:nvPr/>
        </p:nvGrpSpPr>
        <p:grpSpPr>
          <a:xfrm>
            <a:off x="1097915" y="2609215"/>
            <a:ext cx="749300" cy="842010"/>
            <a:chOff x="3291" y="1541"/>
            <a:chExt cx="1180" cy="1326"/>
          </a:xfrm>
          <a:scene3d>
            <a:camera prst="orthographicFront">
              <a:rot lat="1200000" lon="18300000" rev="0"/>
            </a:camera>
            <a:lightRig rig="threePt" dir="t"/>
          </a:scene3d>
        </p:grpSpPr>
        <p:sp>
          <p:nvSpPr>
            <p:cNvPr id="27" name="椭圆 26"/>
            <p:cNvSpPr>
              <a:spLocks noChangeAspect="1"/>
            </p:cNvSpPr>
            <p:nvPr/>
          </p:nvSpPr>
          <p:spPr>
            <a:xfrm>
              <a:off x="3606" y="2279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>
              <a:spLocks noChangeAspect="1"/>
            </p:cNvSpPr>
            <p:nvPr/>
          </p:nvSpPr>
          <p:spPr>
            <a:xfrm>
              <a:off x="3428" y="2380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>
              <a:spLocks noChangeAspect="1"/>
            </p:cNvSpPr>
            <p:nvPr/>
          </p:nvSpPr>
          <p:spPr>
            <a:xfrm>
              <a:off x="3778" y="2368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>
              <a:spLocks noChangeAspect="1"/>
            </p:cNvSpPr>
            <p:nvPr/>
          </p:nvSpPr>
          <p:spPr>
            <a:xfrm>
              <a:off x="3431" y="2560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>
              <a:spLocks noChangeAspect="1"/>
            </p:cNvSpPr>
            <p:nvPr/>
          </p:nvSpPr>
          <p:spPr>
            <a:xfrm>
              <a:off x="3781" y="2560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>
              <a:spLocks noChangeAspect="1"/>
            </p:cNvSpPr>
            <p:nvPr/>
          </p:nvSpPr>
          <p:spPr>
            <a:xfrm>
              <a:off x="3607" y="2652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/>
            <p:cNvCxnSpPr>
              <a:stCxn id="27" idx="2"/>
              <a:endCxn id="28" idx="7"/>
            </p:cNvCxnSpPr>
            <p:nvPr/>
          </p:nvCxnSpPr>
          <p:spPr>
            <a:xfrm flipH="1">
              <a:off x="3489" y="2315"/>
              <a:ext cx="117" cy="76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27" idx="6"/>
              <a:endCxn id="29" idx="1"/>
            </p:cNvCxnSpPr>
            <p:nvPr/>
          </p:nvCxnSpPr>
          <p:spPr>
            <a:xfrm>
              <a:off x="3678" y="2315"/>
              <a:ext cx="111" cy="64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28" idx="4"/>
              <a:endCxn id="30" idx="0"/>
            </p:cNvCxnSpPr>
            <p:nvPr/>
          </p:nvCxnSpPr>
          <p:spPr>
            <a:xfrm>
              <a:off x="3464" y="2452"/>
              <a:ext cx="3" cy="108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>
              <a:stCxn id="30" idx="5"/>
              <a:endCxn id="32" idx="2"/>
            </p:cNvCxnSpPr>
            <p:nvPr/>
          </p:nvCxnSpPr>
          <p:spPr>
            <a:xfrm>
              <a:off x="3492" y="2621"/>
              <a:ext cx="115" cy="67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>
              <a:stCxn id="32" idx="6"/>
              <a:endCxn id="31" idx="3"/>
            </p:cNvCxnSpPr>
            <p:nvPr/>
          </p:nvCxnSpPr>
          <p:spPr>
            <a:xfrm flipV="1">
              <a:off x="3679" y="2621"/>
              <a:ext cx="113" cy="67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3814" y="2440"/>
              <a:ext cx="3" cy="120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3810" y="2055"/>
              <a:ext cx="72" cy="72"/>
            </a:xfrm>
            <a:prstGeom prst="ellipse">
              <a:avLst/>
            </a:prstGeom>
            <a:solidFill>
              <a:srgbClr val="2E54A1"/>
            </a:solidFill>
            <a:ln w="6350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>
              <a:spLocks noChangeAspect="1"/>
            </p:cNvSpPr>
            <p:nvPr/>
          </p:nvSpPr>
          <p:spPr>
            <a:xfrm>
              <a:off x="3898" y="2210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>
              <a:spLocks noChangeAspect="1"/>
            </p:cNvSpPr>
            <p:nvPr/>
          </p:nvSpPr>
          <p:spPr>
            <a:xfrm>
              <a:off x="3631" y="2099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/>
            <p:cNvCxnSpPr>
              <a:endCxn id="27" idx="0"/>
            </p:cNvCxnSpPr>
            <p:nvPr/>
          </p:nvCxnSpPr>
          <p:spPr>
            <a:xfrm flipH="1">
              <a:off x="3642" y="2166"/>
              <a:ext cx="13" cy="113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41" idx="7"/>
              <a:endCxn id="39" idx="2"/>
            </p:cNvCxnSpPr>
            <p:nvPr/>
          </p:nvCxnSpPr>
          <p:spPr>
            <a:xfrm flipV="1">
              <a:off x="3692" y="2091"/>
              <a:ext cx="118" cy="19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39" idx="5"/>
              <a:endCxn id="40" idx="0"/>
            </p:cNvCxnSpPr>
            <p:nvPr/>
          </p:nvCxnSpPr>
          <p:spPr>
            <a:xfrm>
              <a:off x="3871" y="2116"/>
              <a:ext cx="63" cy="94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29" idx="7"/>
              <a:endCxn id="40" idx="4"/>
            </p:cNvCxnSpPr>
            <p:nvPr/>
          </p:nvCxnSpPr>
          <p:spPr>
            <a:xfrm flipV="1">
              <a:off x="3839" y="2282"/>
              <a:ext cx="95" cy="97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6" name="椭圆 45"/>
            <p:cNvSpPr>
              <a:spLocks noChangeAspect="1"/>
            </p:cNvSpPr>
            <p:nvPr/>
          </p:nvSpPr>
          <p:spPr>
            <a:xfrm>
              <a:off x="3922" y="1906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>
              <a:spLocks noChangeAspect="1"/>
            </p:cNvSpPr>
            <p:nvPr/>
          </p:nvSpPr>
          <p:spPr>
            <a:xfrm>
              <a:off x="4083" y="2243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>
              <a:spLocks noChangeAspect="1"/>
            </p:cNvSpPr>
            <p:nvPr/>
          </p:nvSpPr>
          <p:spPr>
            <a:xfrm>
              <a:off x="4095" y="1897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>
              <a:spLocks noChangeAspect="1"/>
            </p:cNvSpPr>
            <p:nvPr/>
          </p:nvSpPr>
          <p:spPr>
            <a:xfrm>
              <a:off x="4250" y="1799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>
              <a:spLocks noChangeAspect="1"/>
            </p:cNvSpPr>
            <p:nvPr/>
          </p:nvSpPr>
          <p:spPr>
            <a:xfrm>
              <a:off x="3820" y="1774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1" name="直接连接符 50"/>
            <p:cNvCxnSpPr>
              <a:stCxn id="46" idx="3"/>
              <a:endCxn id="39" idx="7"/>
            </p:cNvCxnSpPr>
            <p:nvPr/>
          </p:nvCxnSpPr>
          <p:spPr>
            <a:xfrm flipH="1">
              <a:off x="3871" y="1967"/>
              <a:ext cx="62" cy="99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50" idx="5"/>
              <a:endCxn id="46" idx="1"/>
            </p:cNvCxnSpPr>
            <p:nvPr/>
          </p:nvCxnSpPr>
          <p:spPr>
            <a:xfrm>
              <a:off x="3881" y="1835"/>
              <a:ext cx="52" cy="82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>
              <a:stCxn id="40" idx="6"/>
            </p:cNvCxnSpPr>
            <p:nvPr/>
          </p:nvCxnSpPr>
          <p:spPr>
            <a:xfrm>
              <a:off x="3970" y="2246"/>
              <a:ext cx="114" cy="31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>
              <a:stCxn id="46" idx="6"/>
              <a:endCxn id="48" idx="2"/>
            </p:cNvCxnSpPr>
            <p:nvPr/>
          </p:nvCxnSpPr>
          <p:spPr>
            <a:xfrm flipV="1">
              <a:off x="3994" y="1933"/>
              <a:ext cx="101" cy="9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>
              <a:stCxn id="48" idx="7"/>
              <a:endCxn id="49" idx="2"/>
            </p:cNvCxnSpPr>
            <p:nvPr/>
          </p:nvCxnSpPr>
          <p:spPr>
            <a:xfrm flipV="1">
              <a:off x="4156" y="1835"/>
              <a:ext cx="94" cy="73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0" name="矩形 119"/>
            <p:cNvSpPr/>
            <p:nvPr/>
          </p:nvSpPr>
          <p:spPr>
            <a:xfrm>
              <a:off x="3291" y="1541"/>
              <a:ext cx="1181" cy="1327"/>
            </a:xfrm>
            <a:prstGeom prst="rect">
              <a:avLst/>
            </a:prstGeom>
            <a:solidFill>
              <a:schemeClr val="accent1">
                <a:lumMod val="75000"/>
                <a:alpha val="10000"/>
              </a:schemeClr>
            </a:solidFill>
            <a:ln w="28575" cmpd="thickThin">
              <a:noFill/>
              <a:prstDash val="solid"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1496060" y="2611120"/>
            <a:ext cx="749300" cy="842010"/>
            <a:chOff x="4727" y="1559"/>
            <a:chExt cx="1180" cy="1326"/>
          </a:xfrm>
          <a:scene3d>
            <a:camera prst="orthographicFront">
              <a:rot lat="1200000" lon="18300000" rev="0"/>
            </a:camera>
            <a:lightRig rig="threePt" dir="t"/>
          </a:scene3d>
        </p:grpSpPr>
        <p:sp>
          <p:nvSpPr>
            <p:cNvPr id="58" name="椭圆 57"/>
            <p:cNvSpPr>
              <a:spLocks noChangeAspect="1"/>
            </p:cNvSpPr>
            <p:nvPr/>
          </p:nvSpPr>
          <p:spPr>
            <a:xfrm>
              <a:off x="5078" y="2328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>
              <a:spLocks noChangeAspect="1"/>
            </p:cNvSpPr>
            <p:nvPr/>
          </p:nvSpPr>
          <p:spPr>
            <a:xfrm>
              <a:off x="4900" y="2429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>
              <a:spLocks noChangeAspect="1"/>
            </p:cNvSpPr>
            <p:nvPr/>
          </p:nvSpPr>
          <p:spPr>
            <a:xfrm>
              <a:off x="5250" y="2417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>
              <a:spLocks noChangeAspect="1"/>
            </p:cNvSpPr>
            <p:nvPr/>
          </p:nvSpPr>
          <p:spPr>
            <a:xfrm>
              <a:off x="4903" y="2609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>
              <a:spLocks noChangeAspect="1"/>
            </p:cNvSpPr>
            <p:nvPr/>
          </p:nvSpPr>
          <p:spPr>
            <a:xfrm>
              <a:off x="5253" y="2609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>
              <a:spLocks noChangeAspect="1"/>
            </p:cNvSpPr>
            <p:nvPr/>
          </p:nvSpPr>
          <p:spPr>
            <a:xfrm>
              <a:off x="5079" y="2701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4" name="直接连接符 63"/>
            <p:cNvCxnSpPr>
              <a:stCxn id="58" idx="2"/>
              <a:endCxn id="59" idx="7"/>
            </p:cNvCxnSpPr>
            <p:nvPr/>
          </p:nvCxnSpPr>
          <p:spPr>
            <a:xfrm flipH="1">
              <a:off x="4961" y="2364"/>
              <a:ext cx="117" cy="76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>
              <a:stCxn id="58" idx="6"/>
              <a:endCxn id="60" idx="1"/>
            </p:cNvCxnSpPr>
            <p:nvPr/>
          </p:nvCxnSpPr>
          <p:spPr>
            <a:xfrm>
              <a:off x="5150" y="2364"/>
              <a:ext cx="111" cy="64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>
              <a:stCxn id="59" idx="4"/>
              <a:endCxn id="61" idx="0"/>
            </p:cNvCxnSpPr>
            <p:nvPr/>
          </p:nvCxnSpPr>
          <p:spPr>
            <a:xfrm>
              <a:off x="4936" y="2501"/>
              <a:ext cx="3" cy="108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>
              <a:stCxn id="61" idx="5"/>
              <a:endCxn id="63" idx="2"/>
            </p:cNvCxnSpPr>
            <p:nvPr/>
          </p:nvCxnSpPr>
          <p:spPr>
            <a:xfrm>
              <a:off x="4964" y="2670"/>
              <a:ext cx="115" cy="67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>
              <a:stCxn id="63" idx="6"/>
              <a:endCxn id="62" idx="3"/>
            </p:cNvCxnSpPr>
            <p:nvPr/>
          </p:nvCxnSpPr>
          <p:spPr>
            <a:xfrm flipV="1">
              <a:off x="5151" y="2670"/>
              <a:ext cx="113" cy="67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>
              <a:off x="5286" y="2489"/>
              <a:ext cx="3" cy="120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0" name="椭圆 69"/>
            <p:cNvSpPr>
              <a:spLocks noChangeAspect="1"/>
            </p:cNvSpPr>
            <p:nvPr/>
          </p:nvSpPr>
          <p:spPr>
            <a:xfrm>
              <a:off x="5282" y="2104"/>
              <a:ext cx="72" cy="72"/>
            </a:xfrm>
            <a:prstGeom prst="ellipse">
              <a:avLst/>
            </a:prstGeom>
            <a:solidFill>
              <a:srgbClr val="2E54A1"/>
            </a:solidFill>
            <a:ln w="6350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>
              <a:spLocks noChangeAspect="1"/>
            </p:cNvSpPr>
            <p:nvPr/>
          </p:nvSpPr>
          <p:spPr>
            <a:xfrm>
              <a:off x="5370" y="2259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>
              <a:spLocks noChangeAspect="1"/>
            </p:cNvSpPr>
            <p:nvPr/>
          </p:nvSpPr>
          <p:spPr>
            <a:xfrm>
              <a:off x="5103" y="2148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3" name="直接连接符 72"/>
            <p:cNvCxnSpPr>
              <a:endCxn id="58" idx="0"/>
            </p:cNvCxnSpPr>
            <p:nvPr/>
          </p:nvCxnSpPr>
          <p:spPr>
            <a:xfrm flipH="1">
              <a:off x="5114" y="2215"/>
              <a:ext cx="13" cy="113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>
              <a:stCxn id="72" idx="7"/>
              <a:endCxn id="70" idx="2"/>
            </p:cNvCxnSpPr>
            <p:nvPr/>
          </p:nvCxnSpPr>
          <p:spPr>
            <a:xfrm flipV="1">
              <a:off x="5164" y="2140"/>
              <a:ext cx="118" cy="19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>
              <a:stCxn id="70" idx="5"/>
              <a:endCxn id="71" idx="0"/>
            </p:cNvCxnSpPr>
            <p:nvPr/>
          </p:nvCxnSpPr>
          <p:spPr>
            <a:xfrm>
              <a:off x="5343" y="2165"/>
              <a:ext cx="63" cy="94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>
              <a:stCxn id="60" idx="7"/>
              <a:endCxn id="71" idx="4"/>
            </p:cNvCxnSpPr>
            <p:nvPr/>
          </p:nvCxnSpPr>
          <p:spPr>
            <a:xfrm flipV="1">
              <a:off x="5311" y="2331"/>
              <a:ext cx="95" cy="97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7" name="椭圆 76"/>
            <p:cNvSpPr>
              <a:spLocks noChangeAspect="1"/>
            </p:cNvSpPr>
            <p:nvPr/>
          </p:nvSpPr>
          <p:spPr>
            <a:xfrm>
              <a:off x="5394" y="1955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>
              <a:spLocks noChangeAspect="1"/>
            </p:cNvSpPr>
            <p:nvPr/>
          </p:nvSpPr>
          <p:spPr>
            <a:xfrm>
              <a:off x="5555" y="2292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>
              <a:spLocks noChangeAspect="1"/>
            </p:cNvSpPr>
            <p:nvPr/>
          </p:nvSpPr>
          <p:spPr>
            <a:xfrm>
              <a:off x="5567" y="1946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/>
            <p:cNvSpPr>
              <a:spLocks noChangeAspect="1"/>
            </p:cNvSpPr>
            <p:nvPr/>
          </p:nvSpPr>
          <p:spPr>
            <a:xfrm>
              <a:off x="5722" y="1848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>
              <a:spLocks noChangeAspect="1"/>
            </p:cNvSpPr>
            <p:nvPr/>
          </p:nvSpPr>
          <p:spPr>
            <a:xfrm>
              <a:off x="5292" y="1823"/>
              <a:ext cx="72" cy="72"/>
            </a:xfrm>
            <a:prstGeom prst="ellipse">
              <a:avLst/>
            </a:prstGeom>
            <a:noFill/>
            <a:ln w="63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/>
            <p:cNvCxnSpPr>
              <a:stCxn id="77" idx="3"/>
              <a:endCxn id="70" idx="7"/>
            </p:cNvCxnSpPr>
            <p:nvPr/>
          </p:nvCxnSpPr>
          <p:spPr>
            <a:xfrm flipH="1">
              <a:off x="5343" y="2016"/>
              <a:ext cx="62" cy="99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>
              <a:stCxn id="81" idx="5"/>
              <a:endCxn id="77" idx="1"/>
            </p:cNvCxnSpPr>
            <p:nvPr/>
          </p:nvCxnSpPr>
          <p:spPr>
            <a:xfrm>
              <a:off x="5353" y="1884"/>
              <a:ext cx="52" cy="82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>
              <a:stCxn id="71" idx="6"/>
            </p:cNvCxnSpPr>
            <p:nvPr/>
          </p:nvCxnSpPr>
          <p:spPr>
            <a:xfrm>
              <a:off x="5442" y="2295"/>
              <a:ext cx="114" cy="31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>
              <a:stCxn id="77" idx="6"/>
              <a:endCxn id="79" idx="2"/>
            </p:cNvCxnSpPr>
            <p:nvPr/>
          </p:nvCxnSpPr>
          <p:spPr>
            <a:xfrm flipV="1">
              <a:off x="5466" y="1982"/>
              <a:ext cx="101" cy="9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>
              <a:stCxn id="79" idx="7"/>
              <a:endCxn id="80" idx="2"/>
            </p:cNvCxnSpPr>
            <p:nvPr/>
          </p:nvCxnSpPr>
          <p:spPr>
            <a:xfrm flipV="1">
              <a:off x="5628" y="1884"/>
              <a:ext cx="94" cy="73"/>
            </a:xfrm>
            <a:prstGeom prst="line">
              <a:avLst/>
            </a:prstGeom>
            <a:ln w="6350">
              <a:solidFill>
                <a:srgbClr val="2E54A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7" name="椭圆 86"/>
            <p:cNvSpPr>
              <a:spLocks noChangeAspect="1"/>
            </p:cNvSpPr>
            <p:nvPr/>
          </p:nvSpPr>
          <p:spPr>
            <a:xfrm flipV="1">
              <a:off x="5103" y="1918"/>
              <a:ext cx="446" cy="446"/>
            </a:xfrm>
            <a:prstGeom prst="ellipse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矩形 153"/>
            <p:cNvSpPr/>
            <p:nvPr/>
          </p:nvSpPr>
          <p:spPr>
            <a:xfrm>
              <a:off x="4727" y="1559"/>
              <a:ext cx="1181" cy="1327"/>
            </a:xfrm>
            <a:prstGeom prst="rect">
              <a:avLst/>
            </a:prstGeom>
            <a:solidFill>
              <a:schemeClr val="accent1">
                <a:lumMod val="75000"/>
                <a:alpha val="10000"/>
              </a:schemeClr>
            </a:solidFill>
            <a:ln w="28575" cmpd="thickThin">
              <a:noFill/>
              <a:prstDash val="solid"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59" name="直接连接符 158"/>
          <p:cNvCxnSpPr/>
          <p:nvPr/>
        </p:nvCxnSpPr>
        <p:spPr>
          <a:xfrm flipV="1">
            <a:off x="1466215" y="2875915"/>
            <a:ext cx="444500" cy="98425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>
            <a:off x="1470660" y="2974975"/>
            <a:ext cx="346710" cy="6477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>
            <a:off x="1468755" y="2971165"/>
            <a:ext cx="432435" cy="6477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 flipV="1">
            <a:off x="1875790" y="2811780"/>
            <a:ext cx="399415" cy="17145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3" name="直接连接符 162"/>
          <p:cNvCxnSpPr/>
          <p:nvPr/>
        </p:nvCxnSpPr>
        <p:spPr>
          <a:xfrm flipV="1">
            <a:off x="1875790" y="2822575"/>
            <a:ext cx="488315" cy="156845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4" name="直接连接符 163"/>
          <p:cNvCxnSpPr/>
          <p:nvPr/>
        </p:nvCxnSpPr>
        <p:spPr>
          <a:xfrm>
            <a:off x="1875790" y="2979420"/>
            <a:ext cx="488315" cy="52705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5" name="直接连接符 164"/>
          <p:cNvCxnSpPr/>
          <p:nvPr/>
        </p:nvCxnSpPr>
        <p:spPr>
          <a:xfrm>
            <a:off x="1887220" y="2983230"/>
            <a:ext cx="332105" cy="163195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6" name="直接连接符 165"/>
          <p:cNvCxnSpPr/>
          <p:nvPr/>
        </p:nvCxnSpPr>
        <p:spPr>
          <a:xfrm>
            <a:off x="1887220" y="2983230"/>
            <a:ext cx="377190" cy="167005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4" name="矩形 203"/>
          <p:cNvSpPr/>
          <p:nvPr/>
        </p:nvSpPr>
        <p:spPr>
          <a:xfrm>
            <a:off x="6099175" y="2435860"/>
            <a:ext cx="172085" cy="278765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 w="6350" cmpd="sng">
            <a:solidFill>
              <a:schemeClr val="bg1">
                <a:lumMod val="85000"/>
              </a:schemeClr>
            </a:solidFill>
            <a:prstDash val="solid"/>
          </a:ln>
          <a:effectLst/>
          <a:scene3d>
            <a:camera prst="orthographicFront">
              <a:rot lat="1200000" lon="1830000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五边形 207"/>
          <p:cNvSpPr/>
          <p:nvPr/>
        </p:nvSpPr>
        <p:spPr>
          <a:xfrm>
            <a:off x="184150" y="2032000"/>
            <a:ext cx="1002030" cy="287655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燕尾形 208"/>
          <p:cNvSpPr/>
          <p:nvPr/>
        </p:nvSpPr>
        <p:spPr>
          <a:xfrm>
            <a:off x="1071880" y="2032000"/>
            <a:ext cx="1146175" cy="287655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文本框 209"/>
          <p:cNvSpPr txBox="1"/>
          <p:nvPr/>
        </p:nvSpPr>
        <p:spPr>
          <a:xfrm>
            <a:off x="121285" y="2002790"/>
            <a:ext cx="1016000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Molecular Graph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1105535" y="2006600"/>
            <a:ext cx="1052830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Atom-level Message Passing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燕尾形 211"/>
          <p:cNvSpPr/>
          <p:nvPr/>
        </p:nvSpPr>
        <p:spPr>
          <a:xfrm>
            <a:off x="2104390" y="2031365"/>
            <a:ext cx="1032510" cy="288925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文本框 212"/>
          <p:cNvSpPr txBox="1"/>
          <p:nvPr/>
        </p:nvSpPr>
        <p:spPr>
          <a:xfrm>
            <a:off x="2119630" y="2010410"/>
            <a:ext cx="975995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Tree Decomposition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1891030" y="2613025"/>
            <a:ext cx="749300" cy="842010"/>
            <a:chOff x="608" y="2666"/>
            <a:chExt cx="1180" cy="1326"/>
          </a:xfrm>
          <a:scene3d>
            <a:camera prst="orthographicFront">
              <a:rot lat="1200000" lon="18300000" rev="0"/>
            </a:camera>
            <a:lightRig rig="threePt" dir="t"/>
          </a:scene3d>
        </p:grpSpPr>
        <p:grpSp>
          <p:nvGrpSpPr>
            <p:cNvPr id="158" name="组合 157"/>
            <p:cNvGrpSpPr/>
            <p:nvPr/>
          </p:nvGrpSpPr>
          <p:grpSpPr>
            <a:xfrm>
              <a:off x="608" y="2666"/>
              <a:ext cx="1180" cy="1326"/>
              <a:chOff x="1625" y="2220"/>
              <a:chExt cx="1180" cy="1326"/>
            </a:xfrm>
          </p:grpSpPr>
          <p:sp>
            <p:nvSpPr>
              <p:cNvPr id="89" name="椭圆 88"/>
              <p:cNvSpPr>
                <a:spLocks noChangeAspect="1"/>
              </p:cNvSpPr>
              <p:nvPr/>
            </p:nvSpPr>
            <p:spPr>
              <a:xfrm>
                <a:off x="1988" y="2976"/>
                <a:ext cx="72" cy="72"/>
              </a:xfrm>
              <a:prstGeom prst="ellipse">
                <a:avLst/>
              </a:prstGeom>
              <a:noFill/>
              <a:ln w="635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椭圆 89"/>
              <p:cNvSpPr>
                <a:spLocks noChangeAspect="1"/>
              </p:cNvSpPr>
              <p:nvPr/>
            </p:nvSpPr>
            <p:spPr>
              <a:xfrm>
                <a:off x="1810" y="3077"/>
                <a:ext cx="72" cy="72"/>
              </a:xfrm>
              <a:prstGeom prst="ellipse">
                <a:avLst/>
              </a:prstGeom>
              <a:noFill/>
              <a:ln w="635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/>
              <p:cNvSpPr>
                <a:spLocks noChangeAspect="1"/>
              </p:cNvSpPr>
              <p:nvPr/>
            </p:nvSpPr>
            <p:spPr>
              <a:xfrm>
                <a:off x="2160" y="3065"/>
                <a:ext cx="72" cy="72"/>
              </a:xfrm>
              <a:prstGeom prst="ellipse">
                <a:avLst/>
              </a:prstGeom>
              <a:noFill/>
              <a:ln w="635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/>
              <p:cNvSpPr>
                <a:spLocks noChangeAspect="1"/>
              </p:cNvSpPr>
              <p:nvPr/>
            </p:nvSpPr>
            <p:spPr>
              <a:xfrm>
                <a:off x="1813" y="3257"/>
                <a:ext cx="72" cy="72"/>
              </a:xfrm>
              <a:prstGeom prst="ellipse">
                <a:avLst/>
              </a:prstGeom>
              <a:noFill/>
              <a:ln w="635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/>
              <p:cNvSpPr>
                <a:spLocks noChangeAspect="1"/>
              </p:cNvSpPr>
              <p:nvPr/>
            </p:nvSpPr>
            <p:spPr>
              <a:xfrm>
                <a:off x="2163" y="3257"/>
                <a:ext cx="72" cy="72"/>
              </a:xfrm>
              <a:prstGeom prst="ellipse">
                <a:avLst/>
              </a:prstGeom>
              <a:noFill/>
              <a:ln w="635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椭圆 93"/>
              <p:cNvSpPr>
                <a:spLocks noChangeAspect="1"/>
              </p:cNvSpPr>
              <p:nvPr/>
            </p:nvSpPr>
            <p:spPr>
              <a:xfrm>
                <a:off x="1989" y="3349"/>
                <a:ext cx="72" cy="72"/>
              </a:xfrm>
              <a:prstGeom prst="ellipse">
                <a:avLst/>
              </a:prstGeom>
              <a:noFill/>
              <a:ln w="635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5" name="直接连接符 94"/>
              <p:cNvCxnSpPr>
                <a:stCxn id="89" idx="2"/>
                <a:endCxn id="90" idx="7"/>
              </p:cNvCxnSpPr>
              <p:nvPr/>
            </p:nvCxnSpPr>
            <p:spPr>
              <a:xfrm flipH="1">
                <a:off x="1871" y="3012"/>
                <a:ext cx="117" cy="76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6" name="直接连接符 95"/>
              <p:cNvCxnSpPr>
                <a:stCxn id="89" idx="6"/>
                <a:endCxn id="91" idx="1"/>
              </p:cNvCxnSpPr>
              <p:nvPr/>
            </p:nvCxnSpPr>
            <p:spPr>
              <a:xfrm>
                <a:off x="2060" y="3012"/>
                <a:ext cx="111" cy="64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>
                <a:stCxn id="90" idx="4"/>
                <a:endCxn id="92" idx="0"/>
              </p:cNvCxnSpPr>
              <p:nvPr/>
            </p:nvCxnSpPr>
            <p:spPr>
              <a:xfrm>
                <a:off x="1846" y="3149"/>
                <a:ext cx="3" cy="108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/>
              <p:cNvCxnSpPr>
                <a:stCxn id="92" idx="5"/>
                <a:endCxn id="94" idx="2"/>
              </p:cNvCxnSpPr>
              <p:nvPr/>
            </p:nvCxnSpPr>
            <p:spPr>
              <a:xfrm>
                <a:off x="1874" y="3318"/>
                <a:ext cx="115" cy="67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>
                <a:stCxn id="94" idx="6"/>
                <a:endCxn id="93" idx="3"/>
              </p:cNvCxnSpPr>
              <p:nvPr/>
            </p:nvCxnSpPr>
            <p:spPr>
              <a:xfrm flipV="1">
                <a:off x="2061" y="3318"/>
                <a:ext cx="113" cy="67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>
                <a:off x="2196" y="3137"/>
                <a:ext cx="3" cy="120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1" name="椭圆 100"/>
              <p:cNvSpPr>
                <a:spLocks noChangeAspect="1"/>
              </p:cNvSpPr>
              <p:nvPr/>
            </p:nvSpPr>
            <p:spPr>
              <a:xfrm>
                <a:off x="2192" y="2752"/>
                <a:ext cx="72" cy="72"/>
              </a:xfrm>
              <a:prstGeom prst="ellipse">
                <a:avLst/>
              </a:prstGeom>
              <a:solidFill>
                <a:srgbClr val="2E54A1"/>
              </a:solidFill>
              <a:ln w="6350"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/>
              <p:cNvSpPr>
                <a:spLocks noChangeAspect="1"/>
              </p:cNvSpPr>
              <p:nvPr/>
            </p:nvSpPr>
            <p:spPr>
              <a:xfrm>
                <a:off x="2280" y="2907"/>
                <a:ext cx="72" cy="72"/>
              </a:xfrm>
              <a:prstGeom prst="ellipse">
                <a:avLst/>
              </a:prstGeom>
              <a:noFill/>
              <a:ln w="635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椭圆 102"/>
              <p:cNvSpPr>
                <a:spLocks noChangeAspect="1"/>
              </p:cNvSpPr>
              <p:nvPr/>
            </p:nvSpPr>
            <p:spPr>
              <a:xfrm>
                <a:off x="2013" y="2796"/>
                <a:ext cx="72" cy="72"/>
              </a:xfrm>
              <a:prstGeom prst="ellipse">
                <a:avLst/>
              </a:prstGeom>
              <a:noFill/>
              <a:ln w="635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4" name="直接连接符 103"/>
              <p:cNvCxnSpPr>
                <a:endCxn id="89" idx="0"/>
              </p:cNvCxnSpPr>
              <p:nvPr/>
            </p:nvCxnSpPr>
            <p:spPr>
              <a:xfrm flipH="1">
                <a:off x="2024" y="2863"/>
                <a:ext cx="13" cy="113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>
                <a:stCxn id="103" idx="7"/>
                <a:endCxn id="101" idx="2"/>
              </p:cNvCxnSpPr>
              <p:nvPr/>
            </p:nvCxnSpPr>
            <p:spPr>
              <a:xfrm flipV="1">
                <a:off x="2074" y="2788"/>
                <a:ext cx="118" cy="19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>
                <a:stCxn id="101" idx="5"/>
                <a:endCxn id="102" idx="0"/>
              </p:cNvCxnSpPr>
              <p:nvPr/>
            </p:nvCxnSpPr>
            <p:spPr>
              <a:xfrm>
                <a:off x="2253" y="2813"/>
                <a:ext cx="63" cy="94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7" name="直接连接符 106"/>
              <p:cNvCxnSpPr>
                <a:stCxn id="91" idx="7"/>
                <a:endCxn id="102" idx="4"/>
              </p:cNvCxnSpPr>
              <p:nvPr/>
            </p:nvCxnSpPr>
            <p:spPr>
              <a:xfrm flipV="1">
                <a:off x="2221" y="2979"/>
                <a:ext cx="95" cy="97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8" name="椭圆 107"/>
              <p:cNvSpPr>
                <a:spLocks noChangeAspect="1"/>
              </p:cNvSpPr>
              <p:nvPr/>
            </p:nvSpPr>
            <p:spPr>
              <a:xfrm>
                <a:off x="2304" y="2603"/>
                <a:ext cx="72" cy="72"/>
              </a:xfrm>
              <a:prstGeom prst="ellipse">
                <a:avLst/>
              </a:prstGeom>
              <a:noFill/>
              <a:ln w="635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椭圆 108"/>
              <p:cNvSpPr>
                <a:spLocks noChangeAspect="1"/>
              </p:cNvSpPr>
              <p:nvPr/>
            </p:nvSpPr>
            <p:spPr>
              <a:xfrm>
                <a:off x="2465" y="2940"/>
                <a:ext cx="72" cy="72"/>
              </a:xfrm>
              <a:prstGeom prst="ellipse">
                <a:avLst/>
              </a:prstGeom>
              <a:noFill/>
              <a:ln w="635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椭圆 109"/>
              <p:cNvSpPr>
                <a:spLocks noChangeAspect="1"/>
              </p:cNvSpPr>
              <p:nvPr/>
            </p:nvSpPr>
            <p:spPr>
              <a:xfrm>
                <a:off x="2477" y="2594"/>
                <a:ext cx="72" cy="72"/>
              </a:xfrm>
              <a:prstGeom prst="ellipse">
                <a:avLst/>
              </a:prstGeom>
              <a:noFill/>
              <a:ln w="635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椭圆 110"/>
              <p:cNvSpPr>
                <a:spLocks noChangeAspect="1"/>
              </p:cNvSpPr>
              <p:nvPr/>
            </p:nvSpPr>
            <p:spPr>
              <a:xfrm>
                <a:off x="2632" y="2496"/>
                <a:ext cx="72" cy="72"/>
              </a:xfrm>
              <a:prstGeom prst="ellipse">
                <a:avLst/>
              </a:prstGeom>
              <a:noFill/>
              <a:ln w="635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/>
              <p:cNvSpPr>
                <a:spLocks noChangeAspect="1"/>
              </p:cNvSpPr>
              <p:nvPr/>
            </p:nvSpPr>
            <p:spPr>
              <a:xfrm>
                <a:off x="2202" y="2471"/>
                <a:ext cx="72" cy="72"/>
              </a:xfrm>
              <a:prstGeom prst="ellipse">
                <a:avLst/>
              </a:prstGeom>
              <a:noFill/>
              <a:ln w="6350"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3" name="直接连接符 112"/>
              <p:cNvCxnSpPr>
                <a:stCxn id="108" idx="3"/>
                <a:endCxn id="101" idx="7"/>
              </p:cNvCxnSpPr>
              <p:nvPr/>
            </p:nvCxnSpPr>
            <p:spPr>
              <a:xfrm flipH="1">
                <a:off x="2253" y="2664"/>
                <a:ext cx="62" cy="99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>
                <a:stCxn id="112" idx="5"/>
                <a:endCxn id="108" idx="1"/>
              </p:cNvCxnSpPr>
              <p:nvPr/>
            </p:nvCxnSpPr>
            <p:spPr>
              <a:xfrm>
                <a:off x="2263" y="2532"/>
                <a:ext cx="52" cy="82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>
                <a:stCxn id="102" idx="6"/>
              </p:cNvCxnSpPr>
              <p:nvPr/>
            </p:nvCxnSpPr>
            <p:spPr>
              <a:xfrm>
                <a:off x="2352" y="2943"/>
                <a:ext cx="114" cy="31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>
                <a:stCxn id="108" idx="6"/>
                <a:endCxn id="110" idx="2"/>
              </p:cNvCxnSpPr>
              <p:nvPr/>
            </p:nvCxnSpPr>
            <p:spPr>
              <a:xfrm flipV="1">
                <a:off x="2376" y="2630"/>
                <a:ext cx="101" cy="9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>
                <a:stCxn id="110" idx="7"/>
                <a:endCxn id="111" idx="2"/>
              </p:cNvCxnSpPr>
              <p:nvPr/>
            </p:nvCxnSpPr>
            <p:spPr>
              <a:xfrm flipV="1">
                <a:off x="2538" y="2532"/>
                <a:ext cx="94" cy="73"/>
              </a:xfrm>
              <a:prstGeom prst="line">
                <a:avLst/>
              </a:prstGeom>
              <a:ln w="6350">
                <a:solidFill>
                  <a:srgbClr val="2E54A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8" name="椭圆 117"/>
              <p:cNvSpPr>
                <a:spLocks noChangeAspect="1"/>
              </p:cNvSpPr>
              <p:nvPr/>
            </p:nvSpPr>
            <p:spPr>
              <a:xfrm flipV="1">
                <a:off x="2013" y="2566"/>
                <a:ext cx="446" cy="446"/>
              </a:xfrm>
              <a:prstGeom prst="ellipse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椭圆 118"/>
              <p:cNvSpPr>
                <a:spLocks noChangeAspect="1"/>
              </p:cNvSpPr>
              <p:nvPr/>
            </p:nvSpPr>
            <p:spPr>
              <a:xfrm flipV="1">
                <a:off x="1858" y="2410"/>
                <a:ext cx="753" cy="753"/>
              </a:xfrm>
              <a:prstGeom prst="ellipse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矩形 154"/>
              <p:cNvSpPr/>
              <p:nvPr/>
            </p:nvSpPr>
            <p:spPr>
              <a:xfrm>
                <a:off x="1625" y="2220"/>
                <a:ext cx="1181" cy="1327"/>
              </a:xfrm>
              <a:prstGeom prst="rect">
                <a:avLst/>
              </a:prstGeom>
              <a:solidFill>
                <a:schemeClr val="accent1">
                  <a:lumMod val="75000"/>
                  <a:alpha val="10000"/>
                </a:schemeClr>
              </a:solidFill>
              <a:ln w="28575" cmpd="thickThin">
                <a:noFill/>
                <a:prstDash val="solid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14" name="椭圆 213"/>
            <p:cNvSpPr/>
            <p:nvPr/>
          </p:nvSpPr>
          <p:spPr>
            <a:xfrm>
              <a:off x="772" y="3420"/>
              <a:ext cx="485" cy="47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sp3d z="3175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5" name="椭圆 214"/>
            <p:cNvSpPr/>
            <p:nvPr/>
          </p:nvSpPr>
          <p:spPr>
            <a:xfrm>
              <a:off x="926" y="3160"/>
              <a:ext cx="434" cy="423"/>
            </a:xfrm>
            <a:prstGeom prst="ellipse">
              <a:avLst/>
            </a:prstGeom>
            <a:solidFill>
              <a:schemeClr val="accent3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sp3d z="31750"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6" name="流程图: 可选过程 215"/>
            <p:cNvSpPr/>
            <p:nvPr/>
          </p:nvSpPr>
          <p:spPr>
            <a:xfrm rot="900000">
              <a:off x="1309" y="3353"/>
              <a:ext cx="258" cy="123"/>
            </a:xfrm>
            <a:prstGeom prst="flowChartAlternateProcess">
              <a:avLst/>
            </a:prstGeom>
            <a:solidFill>
              <a:schemeClr val="accent4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流程图: 可选过程 216"/>
            <p:cNvSpPr/>
            <p:nvPr/>
          </p:nvSpPr>
          <p:spPr>
            <a:xfrm rot="17820000">
              <a:off x="1115" y="3092"/>
              <a:ext cx="310" cy="127"/>
            </a:xfrm>
            <a:prstGeom prst="flowChartAlternateProcess">
              <a:avLst/>
            </a:prstGeom>
            <a:solidFill>
              <a:schemeClr val="tx2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流程图: 可选过程 217"/>
            <p:cNvSpPr/>
            <p:nvPr/>
          </p:nvSpPr>
          <p:spPr>
            <a:xfrm rot="3360000">
              <a:off x="1121" y="2941"/>
              <a:ext cx="278" cy="145"/>
            </a:xfrm>
            <a:prstGeom prst="flowChartAlternateProcess">
              <a:avLst/>
            </a:prstGeom>
            <a:solidFill>
              <a:schemeClr val="accent6">
                <a:lumMod val="40000"/>
                <a:lumOff val="6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流程图: 可选过程 218"/>
            <p:cNvSpPr/>
            <p:nvPr/>
          </p:nvSpPr>
          <p:spPr>
            <a:xfrm rot="19380000">
              <a:off x="1438" y="2959"/>
              <a:ext cx="280" cy="120"/>
            </a:xfrm>
            <a:prstGeom prst="flowChartAlternateProcess">
              <a:avLst/>
            </a:prstGeom>
            <a:solidFill>
              <a:schemeClr val="accent1">
                <a:lumMod val="7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流程图: 可选过程 219"/>
            <p:cNvSpPr/>
            <p:nvPr/>
          </p:nvSpPr>
          <p:spPr>
            <a:xfrm>
              <a:off x="1335" y="3023"/>
              <a:ext cx="244" cy="120"/>
            </a:xfrm>
            <a:prstGeom prst="flowChartAlternateProcess">
              <a:avLst/>
            </a:prstGeom>
            <a:solidFill>
              <a:schemeClr val="accent1">
                <a:lumMod val="7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2600960" y="2626360"/>
            <a:ext cx="749300" cy="842010"/>
            <a:chOff x="1063" y="3003"/>
            <a:chExt cx="1180" cy="1326"/>
          </a:xfrm>
          <a:scene3d>
            <a:camera prst="orthographicFront">
              <a:rot lat="1200000" lon="18300000" rev="0"/>
            </a:camera>
            <a:lightRig rig="threePt" dir="t"/>
          </a:scene3d>
        </p:grpSpPr>
        <p:sp>
          <p:nvSpPr>
            <p:cNvPr id="251" name="矩形 250"/>
            <p:cNvSpPr/>
            <p:nvPr/>
          </p:nvSpPr>
          <p:spPr>
            <a:xfrm>
              <a:off x="1063" y="3003"/>
              <a:ext cx="1181" cy="132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40000"/>
              </a:schemeClr>
            </a:solidFill>
            <a:ln w="12700" cmpd="sng">
              <a:noFill/>
              <a:prstDash val="solid"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8" name="组合 267"/>
            <p:cNvGrpSpPr/>
            <p:nvPr/>
          </p:nvGrpSpPr>
          <p:grpSpPr>
            <a:xfrm>
              <a:off x="1179" y="3195"/>
              <a:ext cx="951" cy="981"/>
              <a:chOff x="1179" y="3195"/>
              <a:chExt cx="951" cy="981"/>
            </a:xfrm>
          </p:grpSpPr>
          <p:sp>
            <p:nvSpPr>
              <p:cNvPr id="253" name="椭圆 252"/>
              <p:cNvSpPr>
                <a:spLocks noChangeAspect="1"/>
              </p:cNvSpPr>
              <p:nvPr/>
            </p:nvSpPr>
            <p:spPr>
              <a:xfrm>
                <a:off x="1179" y="4078"/>
                <a:ext cx="104" cy="9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" name="椭圆 253"/>
              <p:cNvSpPr/>
              <p:nvPr/>
            </p:nvSpPr>
            <p:spPr>
              <a:xfrm>
                <a:off x="1357" y="3852"/>
                <a:ext cx="104" cy="9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椭圆 254"/>
              <p:cNvSpPr/>
              <p:nvPr/>
            </p:nvSpPr>
            <p:spPr>
              <a:xfrm>
                <a:off x="1592" y="3937"/>
                <a:ext cx="104" cy="9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" name="椭圆 255"/>
              <p:cNvSpPr>
                <a:spLocks noChangeAspect="1"/>
              </p:cNvSpPr>
              <p:nvPr/>
            </p:nvSpPr>
            <p:spPr>
              <a:xfrm>
                <a:off x="1460" y="3617"/>
                <a:ext cx="104" cy="99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" name="椭圆 256"/>
              <p:cNvSpPr>
                <a:spLocks noChangeAspect="1"/>
              </p:cNvSpPr>
              <p:nvPr/>
            </p:nvSpPr>
            <p:spPr>
              <a:xfrm>
                <a:off x="1625" y="3395"/>
                <a:ext cx="104" cy="9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" name="椭圆 257"/>
              <p:cNvSpPr/>
              <p:nvPr/>
            </p:nvSpPr>
            <p:spPr>
              <a:xfrm>
                <a:off x="1513" y="3199"/>
                <a:ext cx="104" cy="9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" name="椭圆 258"/>
              <p:cNvSpPr>
                <a:spLocks noChangeAspect="1"/>
              </p:cNvSpPr>
              <p:nvPr/>
            </p:nvSpPr>
            <p:spPr>
              <a:xfrm>
                <a:off x="1873" y="3381"/>
                <a:ext cx="104" cy="9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" name="椭圆 259"/>
              <p:cNvSpPr>
                <a:spLocks noChangeAspect="1"/>
              </p:cNvSpPr>
              <p:nvPr/>
            </p:nvSpPr>
            <p:spPr>
              <a:xfrm>
                <a:off x="2026" y="3195"/>
                <a:ext cx="104" cy="9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61" name="直接连接符 260"/>
              <p:cNvCxnSpPr>
                <a:stCxn id="253" idx="7"/>
                <a:endCxn id="254" idx="3"/>
              </p:cNvCxnSpPr>
              <p:nvPr/>
            </p:nvCxnSpPr>
            <p:spPr>
              <a:xfrm flipV="1">
                <a:off x="1268" y="3937"/>
                <a:ext cx="104" cy="15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/>
              <p:cNvCxnSpPr/>
              <p:nvPr/>
            </p:nvCxnSpPr>
            <p:spPr>
              <a:xfrm>
                <a:off x="1456" y="3923"/>
                <a:ext cx="146" cy="3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3" name="直接连接符 262"/>
              <p:cNvCxnSpPr/>
              <p:nvPr/>
            </p:nvCxnSpPr>
            <p:spPr>
              <a:xfrm flipV="1">
                <a:off x="1434" y="3708"/>
                <a:ext cx="60" cy="15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/>
              <p:cNvCxnSpPr>
                <a:stCxn id="256" idx="7"/>
                <a:endCxn id="257" idx="3"/>
              </p:cNvCxnSpPr>
              <p:nvPr/>
            </p:nvCxnSpPr>
            <p:spPr>
              <a:xfrm flipV="1">
                <a:off x="1549" y="3480"/>
                <a:ext cx="91" cy="151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5" name="直接连接符 264"/>
              <p:cNvCxnSpPr>
                <a:endCxn id="257" idx="1"/>
              </p:cNvCxnSpPr>
              <p:nvPr/>
            </p:nvCxnSpPr>
            <p:spPr>
              <a:xfrm>
                <a:off x="1590" y="3294"/>
                <a:ext cx="50" cy="11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 265"/>
              <p:cNvCxnSpPr>
                <a:stCxn id="257" idx="6"/>
                <a:endCxn id="259" idx="2"/>
              </p:cNvCxnSpPr>
              <p:nvPr/>
            </p:nvCxnSpPr>
            <p:spPr>
              <a:xfrm flipV="1">
                <a:off x="1729" y="3431"/>
                <a:ext cx="144" cy="14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/>
              <p:cNvCxnSpPr>
                <a:stCxn id="259" idx="7"/>
                <a:endCxn id="260" idx="3"/>
              </p:cNvCxnSpPr>
              <p:nvPr/>
            </p:nvCxnSpPr>
            <p:spPr>
              <a:xfrm flipV="1">
                <a:off x="1962" y="3280"/>
                <a:ext cx="79" cy="11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06" name="直接连接符 305"/>
          <p:cNvCxnSpPr/>
          <p:nvPr/>
        </p:nvCxnSpPr>
        <p:spPr>
          <a:xfrm>
            <a:off x="2199005" y="3371215"/>
            <a:ext cx="616585" cy="19050"/>
          </a:xfrm>
          <a:prstGeom prst="line">
            <a:avLst/>
          </a:prstGeom>
          <a:ln w="6350">
            <a:solidFill>
              <a:schemeClr val="accent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7" name="直接连接符 306"/>
          <p:cNvCxnSpPr/>
          <p:nvPr/>
        </p:nvCxnSpPr>
        <p:spPr>
          <a:xfrm>
            <a:off x="2132965" y="3339465"/>
            <a:ext cx="697865" cy="50800"/>
          </a:xfrm>
          <a:prstGeom prst="line">
            <a:avLst/>
          </a:prstGeom>
          <a:ln w="6350">
            <a:solidFill>
              <a:schemeClr val="accent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8" name="直接连接符 307"/>
          <p:cNvCxnSpPr/>
          <p:nvPr/>
        </p:nvCxnSpPr>
        <p:spPr>
          <a:xfrm>
            <a:off x="2263140" y="3282950"/>
            <a:ext cx="569595" cy="105410"/>
          </a:xfrm>
          <a:prstGeom prst="line">
            <a:avLst/>
          </a:prstGeom>
          <a:ln w="6350">
            <a:solidFill>
              <a:schemeClr val="accent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9" name="直接连接符 308"/>
          <p:cNvCxnSpPr/>
          <p:nvPr/>
        </p:nvCxnSpPr>
        <p:spPr>
          <a:xfrm>
            <a:off x="2137410" y="3232785"/>
            <a:ext cx="699135" cy="157480"/>
          </a:xfrm>
          <a:prstGeom prst="line">
            <a:avLst/>
          </a:prstGeom>
          <a:ln w="6350">
            <a:solidFill>
              <a:schemeClr val="accent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0" name="直接连接符 309"/>
          <p:cNvCxnSpPr/>
          <p:nvPr/>
        </p:nvCxnSpPr>
        <p:spPr>
          <a:xfrm>
            <a:off x="2202180" y="3154680"/>
            <a:ext cx="630555" cy="241300"/>
          </a:xfrm>
          <a:prstGeom prst="line">
            <a:avLst/>
          </a:prstGeom>
          <a:ln w="6350">
            <a:solidFill>
              <a:schemeClr val="accent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1" name="直接连接符 310"/>
          <p:cNvCxnSpPr/>
          <p:nvPr/>
        </p:nvCxnSpPr>
        <p:spPr>
          <a:xfrm>
            <a:off x="2263775" y="3164840"/>
            <a:ext cx="568960" cy="215900"/>
          </a:xfrm>
          <a:prstGeom prst="line">
            <a:avLst/>
          </a:prstGeom>
          <a:ln w="6350">
            <a:solidFill>
              <a:schemeClr val="accent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2" name="直接连接符 311"/>
          <p:cNvCxnSpPr/>
          <p:nvPr/>
        </p:nvCxnSpPr>
        <p:spPr>
          <a:xfrm>
            <a:off x="2373630" y="3047365"/>
            <a:ext cx="598170" cy="192405"/>
          </a:xfrm>
          <a:prstGeom prst="line">
            <a:avLst/>
          </a:prstGeom>
          <a:ln w="6350">
            <a:solidFill>
              <a:schemeClr val="accent4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3" name="直接连接符 312"/>
          <p:cNvCxnSpPr/>
          <p:nvPr/>
        </p:nvCxnSpPr>
        <p:spPr>
          <a:xfrm>
            <a:off x="2260600" y="3168650"/>
            <a:ext cx="631190" cy="61595"/>
          </a:xfrm>
          <a:prstGeom prst="line">
            <a:avLst/>
          </a:prstGeom>
          <a:ln w="6350">
            <a:solidFill>
              <a:schemeClr val="accent3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4" name="直接连接符 313"/>
          <p:cNvCxnSpPr/>
          <p:nvPr/>
        </p:nvCxnSpPr>
        <p:spPr>
          <a:xfrm>
            <a:off x="2185035" y="3138805"/>
            <a:ext cx="710565" cy="91440"/>
          </a:xfrm>
          <a:prstGeom prst="line">
            <a:avLst/>
          </a:prstGeom>
          <a:ln w="6350">
            <a:solidFill>
              <a:schemeClr val="accent3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5" name="直接连接符 314"/>
          <p:cNvCxnSpPr/>
          <p:nvPr/>
        </p:nvCxnSpPr>
        <p:spPr>
          <a:xfrm>
            <a:off x="2303145" y="3049270"/>
            <a:ext cx="590550" cy="177165"/>
          </a:xfrm>
          <a:prstGeom prst="line">
            <a:avLst/>
          </a:prstGeom>
          <a:ln w="6350">
            <a:solidFill>
              <a:schemeClr val="accent3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6" name="直接连接符 315"/>
          <p:cNvCxnSpPr/>
          <p:nvPr/>
        </p:nvCxnSpPr>
        <p:spPr>
          <a:xfrm>
            <a:off x="2197735" y="3032125"/>
            <a:ext cx="701675" cy="196215"/>
          </a:xfrm>
          <a:prstGeom prst="line">
            <a:avLst/>
          </a:prstGeom>
          <a:ln w="6350">
            <a:solidFill>
              <a:schemeClr val="accent3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7" name="直接连接符 316"/>
          <p:cNvCxnSpPr/>
          <p:nvPr/>
        </p:nvCxnSpPr>
        <p:spPr>
          <a:xfrm>
            <a:off x="2270125" y="2978785"/>
            <a:ext cx="631190" cy="253365"/>
          </a:xfrm>
          <a:prstGeom prst="line">
            <a:avLst/>
          </a:prstGeom>
          <a:ln w="6350">
            <a:solidFill>
              <a:schemeClr val="accent3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8" name="直接连接符 317"/>
          <p:cNvCxnSpPr/>
          <p:nvPr/>
        </p:nvCxnSpPr>
        <p:spPr>
          <a:xfrm>
            <a:off x="2275205" y="2978785"/>
            <a:ext cx="634365" cy="91440"/>
          </a:xfrm>
          <a:prstGeom prst="line">
            <a:avLst/>
          </a:prstGeom>
          <a:ln w="6350">
            <a:solidFill>
              <a:srgbClr val="495A7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9" name="直接连接符 318"/>
          <p:cNvCxnSpPr/>
          <p:nvPr/>
        </p:nvCxnSpPr>
        <p:spPr>
          <a:xfrm>
            <a:off x="2307590" y="2869565"/>
            <a:ext cx="601980" cy="200660"/>
          </a:xfrm>
          <a:prstGeom prst="line">
            <a:avLst/>
          </a:prstGeom>
          <a:ln w="6350">
            <a:solidFill>
              <a:srgbClr val="495A7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0" name="直接连接符 319"/>
          <p:cNvCxnSpPr/>
          <p:nvPr/>
        </p:nvCxnSpPr>
        <p:spPr>
          <a:xfrm>
            <a:off x="2307590" y="2866390"/>
            <a:ext cx="681355" cy="51435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1" name="直接连接符 320"/>
          <p:cNvCxnSpPr/>
          <p:nvPr/>
        </p:nvCxnSpPr>
        <p:spPr>
          <a:xfrm>
            <a:off x="2268855" y="2799715"/>
            <a:ext cx="674370" cy="5080"/>
          </a:xfrm>
          <a:prstGeom prst="line">
            <a:avLst/>
          </a:prstGeom>
          <a:ln w="6350"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2" name="直接连接符 321"/>
          <p:cNvCxnSpPr/>
          <p:nvPr/>
        </p:nvCxnSpPr>
        <p:spPr>
          <a:xfrm flipV="1">
            <a:off x="2314575" y="2804795"/>
            <a:ext cx="628650" cy="59055"/>
          </a:xfrm>
          <a:prstGeom prst="line">
            <a:avLst/>
          </a:prstGeom>
          <a:ln w="6350"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3" name="直接连接符 322"/>
          <p:cNvCxnSpPr/>
          <p:nvPr/>
        </p:nvCxnSpPr>
        <p:spPr>
          <a:xfrm flipV="1">
            <a:off x="2433320" y="2721610"/>
            <a:ext cx="702310" cy="18415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4" name="直接连接符 323"/>
          <p:cNvCxnSpPr/>
          <p:nvPr/>
        </p:nvCxnSpPr>
        <p:spPr>
          <a:xfrm flipV="1">
            <a:off x="2375535" y="2723515"/>
            <a:ext cx="750570" cy="100965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5" name="直接连接符 324"/>
          <p:cNvCxnSpPr/>
          <p:nvPr/>
        </p:nvCxnSpPr>
        <p:spPr>
          <a:xfrm>
            <a:off x="2373630" y="2831465"/>
            <a:ext cx="706755" cy="31115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6" name="直接连接符 325"/>
          <p:cNvCxnSpPr/>
          <p:nvPr/>
        </p:nvCxnSpPr>
        <p:spPr>
          <a:xfrm flipV="1">
            <a:off x="2303145" y="2862580"/>
            <a:ext cx="769620" cy="5715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66" name="组合 365"/>
          <p:cNvGrpSpPr/>
          <p:nvPr/>
        </p:nvGrpSpPr>
        <p:grpSpPr>
          <a:xfrm>
            <a:off x="3354070" y="2626360"/>
            <a:ext cx="739775" cy="842010"/>
            <a:chOff x="234" y="2987"/>
            <a:chExt cx="1180" cy="1326"/>
          </a:xfrm>
          <a:scene3d>
            <a:camera prst="orthographicFront">
              <a:rot lat="1200000" lon="18300000" rev="0"/>
            </a:camera>
            <a:lightRig rig="threePt" dir="t"/>
          </a:scene3d>
        </p:grpSpPr>
        <p:sp>
          <p:nvSpPr>
            <p:cNvPr id="271" name="矩形 270"/>
            <p:cNvSpPr/>
            <p:nvPr/>
          </p:nvSpPr>
          <p:spPr>
            <a:xfrm>
              <a:off x="234" y="2987"/>
              <a:ext cx="1181" cy="132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40000"/>
              </a:schemeClr>
            </a:solidFill>
            <a:ln w="12700" cmpd="sng">
              <a:noFill/>
              <a:prstDash val="solid"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2" name="组合 271"/>
            <p:cNvGrpSpPr/>
            <p:nvPr/>
          </p:nvGrpSpPr>
          <p:grpSpPr>
            <a:xfrm>
              <a:off x="439" y="3187"/>
              <a:ext cx="951" cy="981"/>
              <a:chOff x="1179" y="3195"/>
              <a:chExt cx="951" cy="981"/>
            </a:xfrm>
          </p:grpSpPr>
          <p:sp>
            <p:nvSpPr>
              <p:cNvPr id="273" name="椭圆 272"/>
              <p:cNvSpPr>
                <a:spLocks noChangeAspect="1"/>
              </p:cNvSpPr>
              <p:nvPr/>
            </p:nvSpPr>
            <p:spPr>
              <a:xfrm>
                <a:off x="1179" y="4078"/>
                <a:ext cx="104" cy="9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" name="椭圆 273"/>
              <p:cNvSpPr/>
              <p:nvPr/>
            </p:nvSpPr>
            <p:spPr>
              <a:xfrm>
                <a:off x="1357" y="3852"/>
                <a:ext cx="104" cy="9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" name="椭圆 274"/>
              <p:cNvSpPr/>
              <p:nvPr/>
            </p:nvSpPr>
            <p:spPr>
              <a:xfrm>
                <a:off x="1592" y="3937"/>
                <a:ext cx="104" cy="9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" name="椭圆 275"/>
              <p:cNvSpPr>
                <a:spLocks noChangeAspect="1"/>
              </p:cNvSpPr>
              <p:nvPr/>
            </p:nvSpPr>
            <p:spPr>
              <a:xfrm>
                <a:off x="1460" y="3617"/>
                <a:ext cx="104" cy="99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" name="椭圆 276"/>
              <p:cNvSpPr>
                <a:spLocks noChangeAspect="1"/>
              </p:cNvSpPr>
              <p:nvPr/>
            </p:nvSpPr>
            <p:spPr>
              <a:xfrm>
                <a:off x="1625" y="3395"/>
                <a:ext cx="104" cy="9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" name="椭圆 277"/>
              <p:cNvSpPr/>
              <p:nvPr/>
            </p:nvSpPr>
            <p:spPr>
              <a:xfrm>
                <a:off x="1513" y="3199"/>
                <a:ext cx="104" cy="9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" name="椭圆 278"/>
              <p:cNvSpPr>
                <a:spLocks noChangeAspect="1"/>
              </p:cNvSpPr>
              <p:nvPr/>
            </p:nvSpPr>
            <p:spPr>
              <a:xfrm>
                <a:off x="1873" y="3381"/>
                <a:ext cx="104" cy="9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" name="椭圆 279"/>
              <p:cNvSpPr>
                <a:spLocks noChangeAspect="1"/>
              </p:cNvSpPr>
              <p:nvPr/>
            </p:nvSpPr>
            <p:spPr>
              <a:xfrm>
                <a:off x="2026" y="3195"/>
                <a:ext cx="104" cy="9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81" name="直接连接符 280"/>
              <p:cNvCxnSpPr>
                <a:stCxn id="273" idx="7"/>
                <a:endCxn id="274" idx="3"/>
              </p:cNvCxnSpPr>
              <p:nvPr/>
            </p:nvCxnSpPr>
            <p:spPr>
              <a:xfrm flipV="1">
                <a:off x="1268" y="3937"/>
                <a:ext cx="104" cy="15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2" name="直接连接符 281"/>
              <p:cNvCxnSpPr/>
              <p:nvPr/>
            </p:nvCxnSpPr>
            <p:spPr>
              <a:xfrm>
                <a:off x="1456" y="3923"/>
                <a:ext cx="146" cy="3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3" name="直接连接符 282"/>
              <p:cNvCxnSpPr/>
              <p:nvPr/>
            </p:nvCxnSpPr>
            <p:spPr>
              <a:xfrm flipV="1">
                <a:off x="1434" y="3708"/>
                <a:ext cx="60" cy="15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4" name="直接连接符 283"/>
              <p:cNvCxnSpPr>
                <a:stCxn id="276" idx="7"/>
                <a:endCxn id="277" idx="3"/>
              </p:cNvCxnSpPr>
              <p:nvPr/>
            </p:nvCxnSpPr>
            <p:spPr>
              <a:xfrm flipV="1">
                <a:off x="1549" y="3480"/>
                <a:ext cx="91" cy="151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5" name="直接连接符 284"/>
              <p:cNvCxnSpPr>
                <a:endCxn id="277" idx="1"/>
              </p:cNvCxnSpPr>
              <p:nvPr/>
            </p:nvCxnSpPr>
            <p:spPr>
              <a:xfrm>
                <a:off x="1590" y="3294"/>
                <a:ext cx="50" cy="11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6" name="直接连接符 285"/>
              <p:cNvCxnSpPr>
                <a:stCxn id="277" idx="6"/>
                <a:endCxn id="279" idx="2"/>
              </p:cNvCxnSpPr>
              <p:nvPr/>
            </p:nvCxnSpPr>
            <p:spPr>
              <a:xfrm flipV="1">
                <a:off x="1729" y="3431"/>
                <a:ext cx="144" cy="14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7" name="直接连接符 286"/>
              <p:cNvCxnSpPr>
                <a:stCxn id="279" idx="7"/>
                <a:endCxn id="280" idx="3"/>
              </p:cNvCxnSpPr>
              <p:nvPr/>
            </p:nvCxnSpPr>
            <p:spPr>
              <a:xfrm flipV="1">
                <a:off x="1962" y="3280"/>
                <a:ext cx="79" cy="11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45" name="椭圆 344"/>
            <p:cNvSpPr>
              <a:spLocks noChangeAspect="1"/>
            </p:cNvSpPr>
            <p:nvPr/>
          </p:nvSpPr>
          <p:spPr>
            <a:xfrm>
              <a:off x="473" y="3365"/>
              <a:ext cx="590" cy="585"/>
            </a:xfrm>
            <a:prstGeom prst="ellipse">
              <a:avLst/>
            </a:prstGeom>
            <a:noFill/>
            <a:ln w="6350">
              <a:solidFill>
                <a:schemeClr val="bg1">
                  <a:lumMod val="85000"/>
                </a:scheme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椭圆 364"/>
            <p:cNvSpPr>
              <a:spLocks noChangeAspect="1"/>
            </p:cNvSpPr>
            <p:nvPr/>
          </p:nvSpPr>
          <p:spPr>
            <a:xfrm>
              <a:off x="253" y="3167"/>
              <a:ext cx="1079" cy="1064"/>
            </a:xfrm>
            <a:prstGeom prst="ellipse">
              <a:avLst/>
            </a:prstGeom>
            <a:noFill/>
            <a:ln w="6350">
              <a:solidFill>
                <a:schemeClr val="bg1">
                  <a:lumMod val="85000"/>
                </a:scheme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7" name="组合 386"/>
          <p:cNvGrpSpPr/>
          <p:nvPr/>
        </p:nvGrpSpPr>
        <p:grpSpPr>
          <a:xfrm>
            <a:off x="2966085" y="2629535"/>
            <a:ext cx="749300" cy="842010"/>
            <a:chOff x="1965" y="2944"/>
            <a:chExt cx="1180" cy="1326"/>
          </a:xfrm>
          <a:scene3d>
            <a:camera prst="orthographicFront">
              <a:rot lat="1200000" lon="18300000" rev="0"/>
            </a:camera>
            <a:lightRig rig="threePt" dir="t"/>
          </a:scene3d>
        </p:grpSpPr>
        <p:sp>
          <p:nvSpPr>
            <p:cNvPr id="368" name="矩形 367"/>
            <p:cNvSpPr/>
            <p:nvPr/>
          </p:nvSpPr>
          <p:spPr>
            <a:xfrm>
              <a:off x="1965" y="2944"/>
              <a:ext cx="1181" cy="1327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40000"/>
              </a:schemeClr>
            </a:solidFill>
            <a:ln w="12700" cmpd="sng">
              <a:noFill/>
              <a:prstDash val="solid"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9" name="组合 368"/>
            <p:cNvGrpSpPr/>
            <p:nvPr/>
          </p:nvGrpSpPr>
          <p:grpSpPr>
            <a:xfrm>
              <a:off x="2170" y="3144"/>
              <a:ext cx="951" cy="981"/>
              <a:chOff x="1179" y="3195"/>
              <a:chExt cx="951" cy="981"/>
            </a:xfrm>
          </p:grpSpPr>
          <p:sp>
            <p:nvSpPr>
              <p:cNvPr id="370" name="椭圆 369"/>
              <p:cNvSpPr>
                <a:spLocks noChangeAspect="1"/>
              </p:cNvSpPr>
              <p:nvPr/>
            </p:nvSpPr>
            <p:spPr>
              <a:xfrm>
                <a:off x="1179" y="4078"/>
                <a:ext cx="104" cy="9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1" name="椭圆 370"/>
              <p:cNvSpPr/>
              <p:nvPr/>
            </p:nvSpPr>
            <p:spPr>
              <a:xfrm>
                <a:off x="1357" y="3852"/>
                <a:ext cx="104" cy="9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" name="椭圆 371"/>
              <p:cNvSpPr/>
              <p:nvPr/>
            </p:nvSpPr>
            <p:spPr>
              <a:xfrm>
                <a:off x="1592" y="3937"/>
                <a:ext cx="104" cy="99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" name="椭圆 372"/>
              <p:cNvSpPr>
                <a:spLocks noChangeAspect="1"/>
              </p:cNvSpPr>
              <p:nvPr/>
            </p:nvSpPr>
            <p:spPr>
              <a:xfrm>
                <a:off x="1460" y="3617"/>
                <a:ext cx="104" cy="99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" name="椭圆 373"/>
              <p:cNvSpPr>
                <a:spLocks noChangeAspect="1"/>
              </p:cNvSpPr>
              <p:nvPr/>
            </p:nvSpPr>
            <p:spPr>
              <a:xfrm>
                <a:off x="1625" y="3395"/>
                <a:ext cx="104" cy="9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" name="椭圆 374"/>
              <p:cNvSpPr/>
              <p:nvPr/>
            </p:nvSpPr>
            <p:spPr>
              <a:xfrm>
                <a:off x="1513" y="3199"/>
                <a:ext cx="104" cy="9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" name="椭圆 375"/>
              <p:cNvSpPr>
                <a:spLocks noChangeAspect="1"/>
              </p:cNvSpPr>
              <p:nvPr/>
            </p:nvSpPr>
            <p:spPr>
              <a:xfrm>
                <a:off x="1873" y="3381"/>
                <a:ext cx="104" cy="9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" name="椭圆 376"/>
              <p:cNvSpPr>
                <a:spLocks noChangeAspect="1"/>
              </p:cNvSpPr>
              <p:nvPr/>
            </p:nvSpPr>
            <p:spPr>
              <a:xfrm>
                <a:off x="2026" y="3195"/>
                <a:ext cx="104" cy="9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8" name="直接连接符 377"/>
              <p:cNvCxnSpPr>
                <a:stCxn id="370" idx="7"/>
                <a:endCxn id="371" idx="3"/>
              </p:cNvCxnSpPr>
              <p:nvPr/>
            </p:nvCxnSpPr>
            <p:spPr>
              <a:xfrm flipV="1">
                <a:off x="1268" y="3937"/>
                <a:ext cx="104" cy="15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/>
              <p:cNvCxnSpPr/>
              <p:nvPr/>
            </p:nvCxnSpPr>
            <p:spPr>
              <a:xfrm>
                <a:off x="1456" y="3923"/>
                <a:ext cx="146" cy="3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0" name="直接连接符 379"/>
              <p:cNvCxnSpPr/>
              <p:nvPr/>
            </p:nvCxnSpPr>
            <p:spPr>
              <a:xfrm flipV="1">
                <a:off x="1434" y="3708"/>
                <a:ext cx="60" cy="15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/>
              <p:cNvCxnSpPr>
                <a:stCxn id="373" idx="7"/>
                <a:endCxn id="374" idx="3"/>
              </p:cNvCxnSpPr>
              <p:nvPr/>
            </p:nvCxnSpPr>
            <p:spPr>
              <a:xfrm flipV="1">
                <a:off x="1549" y="3480"/>
                <a:ext cx="91" cy="151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/>
              <p:cNvCxnSpPr>
                <a:endCxn id="374" idx="1"/>
              </p:cNvCxnSpPr>
              <p:nvPr/>
            </p:nvCxnSpPr>
            <p:spPr>
              <a:xfrm>
                <a:off x="1590" y="3294"/>
                <a:ext cx="50" cy="11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3" name="直接连接符 382"/>
              <p:cNvCxnSpPr>
                <a:stCxn id="374" idx="6"/>
                <a:endCxn id="376" idx="2"/>
              </p:cNvCxnSpPr>
              <p:nvPr/>
            </p:nvCxnSpPr>
            <p:spPr>
              <a:xfrm flipV="1">
                <a:off x="1729" y="3431"/>
                <a:ext cx="144" cy="14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4" name="直接连接符 383"/>
              <p:cNvCxnSpPr>
                <a:stCxn id="376" idx="7"/>
                <a:endCxn id="377" idx="3"/>
              </p:cNvCxnSpPr>
              <p:nvPr/>
            </p:nvCxnSpPr>
            <p:spPr>
              <a:xfrm flipV="1">
                <a:off x="1962" y="3280"/>
                <a:ext cx="79" cy="115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385" name="椭圆 384"/>
            <p:cNvSpPr>
              <a:spLocks noChangeAspect="1"/>
            </p:cNvSpPr>
            <p:nvPr/>
          </p:nvSpPr>
          <p:spPr>
            <a:xfrm>
              <a:off x="2204" y="3322"/>
              <a:ext cx="590" cy="585"/>
            </a:xfrm>
            <a:prstGeom prst="ellipse">
              <a:avLst/>
            </a:prstGeom>
            <a:noFill/>
            <a:ln w="6350">
              <a:solidFill>
                <a:schemeClr val="bg1">
                  <a:lumMod val="85000"/>
                </a:scheme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8" name="燕尾形 407"/>
          <p:cNvSpPr/>
          <p:nvPr/>
        </p:nvSpPr>
        <p:spPr>
          <a:xfrm>
            <a:off x="3022600" y="2031365"/>
            <a:ext cx="1122680" cy="288925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文本框 408"/>
          <p:cNvSpPr txBox="1"/>
          <p:nvPr/>
        </p:nvSpPr>
        <p:spPr>
          <a:xfrm>
            <a:off x="3020060" y="2007870"/>
            <a:ext cx="1141095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Motif-level Message Passing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11" name="直接连接符 410"/>
          <p:cNvCxnSpPr/>
          <p:nvPr/>
        </p:nvCxnSpPr>
        <p:spPr>
          <a:xfrm flipV="1">
            <a:off x="2913380" y="2915285"/>
            <a:ext cx="466090" cy="153670"/>
          </a:xfrm>
          <a:prstGeom prst="line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2" name="直接连接符 411"/>
          <p:cNvCxnSpPr/>
          <p:nvPr/>
        </p:nvCxnSpPr>
        <p:spPr>
          <a:xfrm>
            <a:off x="2919095" y="3074035"/>
            <a:ext cx="373380" cy="160020"/>
          </a:xfrm>
          <a:prstGeom prst="line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3" name="直接连接符 412"/>
          <p:cNvCxnSpPr/>
          <p:nvPr/>
        </p:nvCxnSpPr>
        <p:spPr>
          <a:xfrm>
            <a:off x="3314700" y="3061970"/>
            <a:ext cx="447675" cy="165735"/>
          </a:xfrm>
          <a:prstGeom prst="line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4" name="直接连接符 413"/>
          <p:cNvCxnSpPr/>
          <p:nvPr/>
        </p:nvCxnSpPr>
        <p:spPr>
          <a:xfrm>
            <a:off x="3319780" y="3065780"/>
            <a:ext cx="292735" cy="324485"/>
          </a:xfrm>
          <a:prstGeom prst="line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6" name="直接连接符 415"/>
          <p:cNvCxnSpPr/>
          <p:nvPr/>
        </p:nvCxnSpPr>
        <p:spPr>
          <a:xfrm flipV="1">
            <a:off x="3308350" y="2837815"/>
            <a:ext cx="557530" cy="227965"/>
          </a:xfrm>
          <a:prstGeom prst="line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7" name="直接连接符 416"/>
          <p:cNvCxnSpPr/>
          <p:nvPr/>
        </p:nvCxnSpPr>
        <p:spPr>
          <a:xfrm flipV="1">
            <a:off x="3319780" y="2818765"/>
            <a:ext cx="409575" cy="239395"/>
          </a:xfrm>
          <a:prstGeom prst="line">
            <a:avLst/>
          </a:prstGeom>
          <a:ln w="6350">
            <a:solidFill>
              <a:schemeClr val="tx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9" name="燕尾形 418"/>
          <p:cNvSpPr/>
          <p:nvPr/>
        </p:nvSpPr>
        <p:spPr>
          <a:xfrm>
            <a:off x="4027805" y="2029460"/>
            <a:ext cx="1001395" cy="290830"/>
          </a:xfrm>
          <a:prstGeom prst="chevron">
            <a:avLst/>
          </a:prstGeom>
          <a:solidFill>
            <a:srgbClr val="B6C7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文本框 417"/>
          <p:cNvSpPr txBox="1"/>
          <p:nvPr/>
        </p:nvSpPr>
        <p:spPr>
          <a:xfrm>
            <a:off x="4048125" y="2010410"/>
            <a:ext cx="971550" cy="3257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Set 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Representation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2" name="右箭头 421"/>
          <p:cNvSpPr/>
          <p:nvPr/>
        </p:nvSpPr>
        <p:spPr>
          <a:xfrm>
            <a:off x="3955415" y="2788285"/>
            <a:ext cx="76200" cy="50736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/>
          <p:cNvSpPr>
            <a:spLocks noChangeAspect="1"/>
          </p:cNvSpPr>
          <p:nvPr/>
        </p:nvSpPr>
        <p:spPr>
          <a:xfrm flipV="1">
            <a:off x="4144645" y="270129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/>
          <p:cNvSpPr>
            <a:spLocks noChangeAspect="1"/>
          </p:cNvSpPr>
          <p:nvPr/>
        </p:nvSpPr>
        <p:spPr>
          <a:xfrm flipV="1">
            <a:off x="4190365" y="270129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/>
          <p:cNvSpPr>
            <a:spLocks noChangeAspect="1"/>
          </p:cNvSpPr>
          <p:nvPr/>
        </p:nvSpPr>
        <p:spPr>
          <a:xfrm flipV="1">
            <a:off x="4236085" y="270129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矩形 427"/>
          <p:cNvSpPr>
            <a:spLocks noChangeAspect="1"/>
          </p:cNvSpPr>
          <p:nvPr/>
        </p:nvSpPr>
        <p:spPr>
          <a:xfrm flipV="1">
            <a:off x="4281805" y="270129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矩形 429"/>
          <p:cNvSpPr>
            <a:spLocks noChangeAspect="1"/>
          </p:cNvSpPr>
          <p:nvPr/>
        </p:nvSpPr>
        <p:spPr>
          <a:xfrm flipV="1">
            <a:off x="4408805" y="270129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矩形 430"/>
          <p:cNvSpPr>
            <a:spLocks noChangeAspect="1"/>
          </p:cNvSpPr>
          <p:nvPr/>
        </p:nvSpPr>
        <p:spPr>
          <a:xfrm flipV="1">
            <a:off x="4454525" y="270129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矩形 431"/>
          <p:cNvSpPr>
            <a:spLocks noChangeAspect="1"/>
          </p:cNvSpPr>
          <p:nvPr/>
        </p:nvSpPr>
        <p:spPr>
          <a:xfrm flipV="1">
            <a:off x="4144645" y="2828925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矩形 432"/>
          <p:cNvSpPr>
            <a:spLocks noChangeAspect="1"/>
          </p:cNvSpPr>
          <p:nvPr/>
        </p:nvSpPr>
        <p:spPr>
          <a:xfrm flipV="1">
            <a:off x="4190365" y="2828925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矩形 433"/>
          <p:cNvSpPr>
            <a:spLocks noChangeAspect="1"/>
          </p:cNvSpPr>
          <p:nvPr/>
        </p:nvSpPr>
        <p:spPr>
          <a:xfrm flipV="1">
            <a:off x="4236085" y="2828925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矩形 434"/>
          <p:cNvSpPr>
            <a:spLocks noChangeAspect="1"/>
          </p:cNvSpPr>
          <p:nvPr/>
        </p:nvSpPr>
        <p:spPr>
          <a:xfrm flipV="1">
            <a:off x="4281805" y="2828925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/>
          <p:cNvSpPr>
            <a:spLocks noChangeAspect="1"/>
          </p:cNvSpPr>
          <p:nvPr/>
        </p:nvSpPr>
        <p:spPr>
          <a:xfrm flipV="1">
            <a:off x="4408805" y="2828925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/>
          <p:cNvSpPr>
            <a:spLocks noChangeAspect="1"/>
          </p:cNvSpPr>
          <p:nvPr/>
        </p:nvSpPr>
        <p:spPr>
          <a:xfrm flipV="1">
            <a:off x="4454525" y="2828925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/>
          <p:cNvSpPr>
            <a:spLocks noChangeAspect="1"/>
          </p:cNvSpPr>
          <p:nvPr/>
        </p:nvSpPr>
        <p:spPr>
          <a:xfrm flipV="1">
            <a:off x="4144645" y="297243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/>
          <p:cNvSpPr>
            <a:spLocks noChangeAspect="1"/>
          </p:cNvSpPr>
          <p:nvPr/>
        </p:nvSpPr>
        <p:spPr>
          <a:xfrm flipV="1">
            <a:off x="4190365" y="297243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/>
          <p:cNvSpPr>
            <a:spLocks noChangeAspect="1"/>
          </p:cNvSpPr>
          <p:nvPr/>
        </p:nvSpPr>
        <p:spPr>
          <a:xfrm flipV="1">
            <a:off x="4236085" y="297243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7" name="矩形 446"/>
          <p:cNvSpPr>
            <a:spLocks noChangeAspect="1"/>
          </p:cNvSpPr>
          <p:nvPr/>
        </p:nvSpPr>
        <p:spPr>
          <a:xfrm flipV="1">
            <a:off x="4408805" y="3267075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/>
          <p:cNvSpPr>
            <a:spLocks noChangeAspect="1"/>
          </p:cNvSpPr>
          <p:nvPr/>
        </p:nvSpPr>
        <p:spPr>
          <a:xfrm flipV="1">
            <a:off x="4408805" y="297243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矩形 448"/>
          <p:cNvSpPr>
            <a:spLocks noChangeAspect="1"/>
          </p:cNvSpPr>
          <p:nvPr/>
        </p:nvSpPr>
        <p:spPr>
          <a:xfrm flipV="1">
            <a:off x="4454525" y="297243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0" name="矩形 449"/>
          <p:cNvSpPr>
            <a:spLocks noChangeAspect="1"/>
          </p:cNvSpPr>
          <p:nvPr/>
        </p:nvSpPr>
        <p:spPr>
          <a:xfrm flipV="1">
            <a:off x="4144645" y="3267075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矩形 450"/>
          <p:cNvSpPr>
            <a:spLocks noChangeAspect="1"/>
          </p:cNvSpPr>
          <p:nvPr/>
        </p:nvSpPr>
        <p:spPr>
          <a:xfrm flipV="1">
            <a:off x="4190365" y="3267075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2" name="矩形 451"/>
          <p:cNvSpPr>
            <a:spLocks noChangeAspect="1"/>
          </p:cNvSpPr>
          <p:nvPr/>
        </p:nvSpPr>
        <p:spPr>
          <a:xfrm flipV="1">
            <a:off x="4236085" y="3267075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3" name="矩形 452"/>
          <p:cNvSpPr>
            <a:spLocks noChangeAspect="1"/>
          </p:cNvSpPr>
          <p:nvPr/>
        </p:nvSpPr>
        <p:spPr>
          <a:xfrm flipV="1">
            <a:off x="4281805" y="3267075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4" name="矩形 453"/>
          <p:cNvSpPr>
            <a:spLocks noChangeAspect="1"/>
          </p:cNvSpPr>
          <p:nvPr/>
        </p:nvSpPr>
        <p:spPr>
          <a:xfrm flipV="1">
            <a:off x="4408805" y="3267075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5" name="矩形 454"/>
          <p:cNvSpPr>
            <a:spLocks noChangeAspect="1"/>
          </p:cNvSpPr>
          <p:nvPr/>
        </p:nvSpPr>
        <p:spPr>
          <a:xfrm flipV="1">
            <a:off x="4454525" y="3267075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" name="矩形 455"/>
          <p:cNvSpPr>
            <a:spLocks noChangeAspect="1"/>
          </p:cNvSpPr>
          <p:nvPr/>
        </p:nvSpPr>
        <p:spPr>
          <a:xfrm flipV="1">
            <a:off x="4281805" y="297243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文本框 456"/>
          <p:cNvSpPr txBox="1"/>
          <p:nvPr/>
        </p:nvSpPr>
        <p:spPr>
          <a:xfrm>
            <a:off x="4230370" y="2907665"/>
            <a:ext cx="2705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400" b="1">
                <a:latin typeface="微软雅黑" panose="020B0503020204020204" charset="-122"/>
                <a:ea typeface="微软雅黑" panose="020B0503020204020204" charset="-122"/>
              </a:rPr>
              <a:t>...</a:t>
            </a:r>
            <a:endParaRPr lang="en-US" altLang="zh-CN" sz="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8" name="文本框 457"/>
          <p:cNvSpPr txBox="1"/>
          <p:nvPr/>
        </p:nvSpPr>
        <p:spPr>
          <a:xfrm>
            <a:off x="4236085" y="2628900"/>
            <a:ext cx="2705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...</a:t>
            </a:r>
            <a:endParaRPr lang="en-US" altLang="zh-CN" sz="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9" name="文本框 458"/>
          <p:cNvSpPr txBox="1"/>
          <p:nvPr/>
        </p:nvSpPr>
        <p:spPr>
          <a:xfrm>
            <a:off x="4234180" y="3193415"/>
            <a:ext cx="2705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...</a:t>
            </a:r>
            <a:endParaRPr lang="en-US" altLang="zh-CN" sz="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0" name="文本框 459"/>
          <p:cNvSpPr txBox="1"/>
          <p:nvPr/>
        </p:nvSpPr>
        <p:spPr>
          <a:xfrm>
            <a:off x="4234180" y="2757805"/>
            <a:ext cx="2705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...</a:t>
            </a:r>
            <a:endParaRPr lang="en-US" altLang="zh-CN" sz="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1" name="文本框 460"/>
          <p:cNvSpPr txBox="1"/>
          <p:nvPr/>
        </p:nvSpPr>
        <p:spPr>
          <a:xfrm>
            <a:off x="4172585" y="3048635"/>
            <a:ext cx="3340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........</a:t>
            </a:r>
            <a:endParaRPr lang="en-US" altLang="zh-CN" sz="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2" name="文本框 461"/>
          <p:cNvSpPr txBox="1"/>
          <p:nvPr/>
        </p:nvSpPr>
        <p:spPr>
          <a:xfrm>
            <a:off x="3932555" y="2651760"/>
            <a:ext cx="28575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zh-CN" sz="500" b="1" baseline="-2500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500" b="1" baseline="-25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3" name="文本框 462"/>
          <p:cNvSpPr txBox="1"/>
          <p:nvPr/>
        </p:nvSpPr>
        <p:spPr>
          <a:xfrm>
            <a:off x="3936365" y="2779395"/>
            <a:ext cx="27813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zh-CN" sz="500" b="1" baseline="-2500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500" b="1" baseline="-25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4" name="文本框 463"/>
          <p:cNvSpPr txBox="1"/>
          <p:nvPr/>
        </p:nvSpPr>
        <p:spPr>
          <a:xfrm>
            <a:off x="3935730" y="2921635"/>
            <a:ext cx="2832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zh-CN" sz="500" b="1" baseline="-2500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500" b="1" baseline="-25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5" name="文本框 464"/>
          <p:cNvSpPr txBox="1"/>
          <p:nvPr/>
        </p:nvSpPr>
        <p:spPr>
          <a:xfrm>
            <a:off x="3919220" y="3221355"/>
            <a:ext cx="320675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zh-CN" sz="500" b="1" baseline="-25000">
                <a:latin typeface="微软雅黑" panose="020B0503020204020204" charset="-122"/>
                <a:ea typeface="微软雅黑" panose="020B0503020204020204" charset="-122"/>
              </a:rPr>
              <a:t>m</a:t>
            </a:r>
            <a:endParaRPr lang="en-US" altLang="zh-CN" sz="500" b="1" baseline="-25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矩形 469"/>
          <p:cNvSpPr>
            <a:spLocks noChangeAspect="1"/>
          </p:cNvSpPr>
          <p:nvPr/>
        </p:nvSpPr>
        <p:spPr>
          <a:xfrm flipV="1">
            <a:off x="4585970" y="2653665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/>
          <p:cNvSpPr>
            <a:spLocks noChangeAspect="1"/>
          </p:cNvSpPr>
          <p:nvPr/>
        </p:nvSpPr>
        <p:spPr>
          <a:xfrm flipV="1">
            <a:off x="4631690" y="2654300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矩形 471"/>
          <p:cNvSpPr>
            <a:spLocks noChangeAspect="1"/>
          </p:cNvSpPr>
          <p:nvPr/>
        </p:nvSpPr>
        <p:spPr>
          <a:xfrm flipV="1">
            <a:off x="4677410" y="2654300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/>
          <p:cNvSpPr>
            <a:spLocks noChangeAspect="1"/>
          </p:cNvSpPr>
          <p:nvPr/>
        </p:nvSpPr>
        <p:spPr>
          <a:xfrm flipV="1">
            <a:off x="4723130" y="2653665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4" name="矩形 483"/>
          <p:cNvSpPr>
            <a:spLocks noChangeAspect="1"/>
          </p:cNvSpPr>
          <p:nvPr/>
        </p:nvSpPr>
        <p:spPr>
          <a:xfrm flipV="1">
            <a:off x="4768850" y="2653665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矩形 473"/>
          <p:cNvSpPr>
            <a:spLocks noChangeAspect="1"/>
          </p:cNvSpPr>
          <p:nvPr/>
        </p:nvSpPr>
        <p:spPr>
          <a:xfrm flipV="1">
            <a:off x="4585970" y="293052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5" name="矩形 474"/>
          <p:cNvSpPr>
            <a:spLocks noChangeAspect="1"/>
          </p:cNvSpPr>
          <p:nvPr/>
        </p:nvSpPr>
        <p:spPr>
          <a:xfrm flipV="1">
            <a:off x="4631690" y="293052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6" name="矩形 475"/>
          <p:cNvSpPr>
            <a:spLocks noChangeAspect="1"/>
          </p:cNvSpPr>
          <p:nvPr/>
        </p:nvSpPr>
        <p:spPr>
          <a:xfrm flipV="1">
            <a:off x="4677410" y="293052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7" name="矩形 476"/>
          <p:cNvSpPr>
            <a:spLocks noChangeAspect="1"/>
          </p:cNvSpPr>
          <p:nvPr/>
        </p:nvSpPr>
        <p:spPr>
          <a:xfrm flipV="1">
            <a:off x="4723130" y="293052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5" name="矩形 484"/>
          <p:cNvSpPr>
            <a:spLocks noChangeAspect="1"/>
          </p:cNvSpPr>
          <p:nvPr/>
        </p:nvSpPr>
        <p:spPr>
          <a:xfrm flipV="1">
            <a:off x="4768850" y="293052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8" name="矩形 477"/>
          <p:cNvSpPr>
            <a:spLocks noChangeAspect="1"/>
          </p:cNvSpPr>
          <p:nvPr/>
        </p:nvSpPr>
        <p:spPr>
          <a:xfrm flipV="1">
            <a:off x="4585970" y="332898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9" name="矩形 478"/>
          <p:cNvSpPr>
            <a:spLocks noChangeAspect="1"/>
          </p:cNvSpPr>
          <p:nvPr/>
        </p:nvSpPr>
        <p:spPr>
          <a:xfrm flipV="1">
            <a:off x="4631690" y="332898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0" name="矩形 479"/>
          <p:cNvSpPr>
            <a:spLocks noChangeAspect="1"/>
          </p:cNvSpPr>
          <p:nvPr/>
        </p:nvSpPr>
        <p:spPr>
          <a:xfrm flipV="1">
            <a:off x="4677410" y="332898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矩形 480"/>
          <p:cNvSpPr>
            <a:spLocks noChangeAspect="1"/>
          </p:cNvSpPr>
          <p:nvPr/>
        </p:nvSpPr>
        <p:spPr>
          <a:xfrm flipV="1">
            <a:off x="4723130" y="332898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矩形 485"/>
          <p:cNvSpPr>
            <a:spLocks noChangeAspect="1"/>
          </p:cNvSpPr>
          <p:nvPr/>
        </p:nvSpPr>
        <p:spPr>
          <a:xfrm flipV="1">
            <a:off x="4768850" y="332898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矩形 465"/>
          <p:cNvSpPr>
            <a:spLocks noChangeAspect="1"/>
          </p:cNvSpPr>
          <p:nvPr/>
        </p:nvSpPr>
        <p:spPr>
          <a:xfrm flipV="1">
            <a:off x="4585970" y="236855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7" name="矩形 466"/>
          <p:cNvSpPr>
            <a:spLocks noChangeAspect="1"/>
          </p:cNvSpPr>
          <p:nvPr/>
        </p:nvSpPr>
        <p:spPr>
          <a:xfrm flipV="1">
            <a:off x="4631690" y="236855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/>
          <p:cNvSpPr>
            <a:spLocks noChangeAspect="1"/>
          </p:cNvSpPr>
          <p:nvPr/>
        </p:nvSpPr>
        <p:spPr>
          <a:xfrm flipV="1">
            <a:off x="4677410" y="236855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矩形 481"/>
          <p:cNvSpPr>
            <a:spLocks noChangeAspect="1"/>
          </p:cNvSpPr>
          <p:nvPr/>
        </p:nvSpPr>
        <p:spPr>
          <a:xfrm flipV="1">
            <a:off x="4723130" y="236855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矩形 482"/>
          <p:cNvSpPr>
            <a:spLocks noChangeAspect="1"/>
          </p:cNvSpPr>
          <p:nvPr/>
        </p:nvSpPr>
        <p:spPr>
          <a:xfrm flipV="1">
            <a:off x="4768850" y="236855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2" name="矩形 491"/>
          <p:cNvSpPr>
            <a:spLocks noChangeAspect="1"/>
          </p:cNvSpPr>
          <p:nvPr/>
        </p:nvSpPr>
        <p:spPr>
          <a:xfrm flipV="1">
            <a:off x="4585970" y="2422208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3" name="矩形 492"/>
          <p:cNvSpPr>
            <a:spLocks noChangeAspect="1"/>
          </p:cNvSpPr>
          <p:nvPr/>
        </p:nvSpPr>
        <p:spPr>
          <a:xfrm flipV="1">
            <a:off x="4631690" y="2422208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4" name="矩形 493"/>
          <p:cNvSpPr>
            <a:spLocks noChangeAspect="1"/>
          </p:cNvSpPr>
          <p:nvPr/>
        </p:nvSpPr>
        <p:spPr>
          <a:xfrm flipV="1">
            <a:off x="4677410" y="2422208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5" name="矩形 494"/>
          <p:cNvSpPr>
            <a:spLocks noChangeAspect="1"/>
          </p:cNvSpPr>
          <p:nvPr/>
        </p:nvSpPr>
        <p:spPr>
          <a:xfrm flipV="1">
            <a:off x="4723130" y="2422208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6" name="矩形 495"/>
          <p:cNvSpPr>
            <a:spLocks noChangeAspect="1"/>
          </p:cNvSpPr>
          <p:nvPr/>
        </p:nvSpPr>
        <p:spPr>
          <a:xfrm flipV="1">
            <a:off x="4768850" y="2422208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8" name="矩形 497"/>
          <p:cNvSpPr>
            <a:spLocks noChangeAspect="1"/>
          </p:cNvSpPr>
          <p:nvPr/>
        </p:nvSpPr>
        <p:spPr>
          <a:xfrm flipV="1">
            <a:off x="4585970" y="247523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9" name="矩形 498"/>
          <p:cNvSpPr>
            <a:spLocks noChangeAspect="1"/>
          </p:cNvSpPr>
          <p:nvPr/>
        </p:nvSpPr>
        <p:spPr>
          <a:xfrm flipV="1">
            <a:off x="4631690" y="247523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0" name="矩形 499"/>
          <p:cNvSpPr>
            <a:spLocks noChangeAspect="1"/>
          </p:cNvSpPr>
          <p:nvPr/>
        </p:nvSpPr>
        <p:spPr>
          <a:xfrm flipV="1">
            <a:off x="4677410" y="247523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1" name="矩形 500"/>
          <p:cNvSpPr>
            <a:spLocks noChangeAspect="1"/>
          </p:cNvSpPr>
          <p:nvPr/>
        </p:nvSpPr>
        <p:spPr>
          <a:xfrm flipV="1">
            <a:off x="4723130" y="247523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矩形 501"/>
          <p:cNvSpPr>
            <a:spLocks noChangeAspect="1"/>
          </p:cNvSpPr>
          <p:nvPr/>
        </p:nvSpPr>
        <p:spPr>
          <a:xfrm flipV="1">
            <a:off x="4768850" y="2475230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矩形 503"/>
          <p:cNvSpPr>
            <a:spLocks noChangeAspect="1"/>
          </p:cNvSpPr>
          <p:nvPr/>
        </p:nvSpPr>
        <p:spPr>
          <a:xfrm flipV="1">
            <a:off x="4585970" y="2528888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矩形 504"/>
          <p:cNvSpPr>
            <a:spLocks noChangeAspect="1"/>
          </p:cNvSpPr>
          <p:nvPr/>
        </p:nvSpPr>
        <p:spPr>
          <a:xfrm flipV="1">
            <a:off x="4631690" y="2528888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6" name="矩形 505"/>
          <p:cNvSpPr>
            <a:spLocks noChangeAspect="1"/>
          </p:cNvSpPr>
          <p:nvPr/>
        </p:nvSpPr>
        <p:spPr>
          <a:xfrm flipV="1">
            <a:off x="4677410" y="2528888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7" name="矩形 506"/>
          <p:cNvSpPr>
            <a:spLocks noChangeAspect="1"/>
          </p:cNvSpPr>
          <p:nvPr/>
        </p:nvSpPr>
        <p:spPr>
          <a:xfrm flipV="1">
            <a:off x="4723130" y="2528888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8" name="矩形 507"/>
          <p:cNvSpPr>
            <a:spLocks noChangeAspect="1"/>
          </p:cNvSpPr>
          <p:nvPr/>
        </p:nvSpPr>
        <p:spPr>
          <a:xfrm flipV="1">
            <a:off x="4768850" y="2528888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矩形 517"/>
          <p:cNvSpPr>
            <a:spLocks noChangeAspect="1"/>
          </p:cNvSpPr>
          <p:nvPr/>
        </p:nvSpPr>
        <p:spPr>
          <a:xfrm flipV="1">
            <a:off x="4585970" y="2707958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矩形 518"/>
          <p:cNvSpPr>
            <a:spLocks noChangeAspect="1"/>
          </p:cNvSpPr>
          <p:nvPr/>
        </p:nvSpPr>
        <p:spPr>
          <a:xfrm flipV="1">
            <a:off x="4631690" y="2707958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0" name="矩形 519"/>
          <p:cNvSpPr>
            <a:spLocks noChangeAspect="1"/>
          </p:cNvSpPr>
          <p:nvPr/>
        </p:nvSpPr>
        <p:spPr>
          <a:xfrm flipV="1">
            <a:off x="4677410" y="2707958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1" name="矩形 520"/>
          <p:cNvSpPr>
            <a:spLocks noChangeAspect="1"/>
          </p:cNvSpPr>
          <p:nvPr/>
        </p:nvSpPr>
        <p:spPr>
          <a:xfrm flipV="1">
            <a:off x="4723130" y="2707958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矩形 521"/>
          <p:cNvSpPr>
            <a:spLocks noChangeAspect="1"/>
          </p:cNvSpPr>
          <p:nvPr/>
        </p:nvSpPr>
        <p:spPr>
          <a:xfrm flipV="1">
            <a:off x="4768850" y="2707958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4" name="矩形 523"/>
          <p:cNvSpPr>
            <a:spLocks noChangeAspect="1"/>
          </p:cNvSpPr>
          <p:nvPr/>
        </p:nvSpPr>
        <p:spPr>
          <a:xfrm flipV="1">
            <a:off x="4585970" y="2760980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5" name="矩形 524"/>
          <p:cNvSpPr>
            <a:spLocks noChangeAspect="1"/>
          </p:cNvSpPr>
          <p:nvPr/>
        </p:nvSpPr>
        <p:spPr>
          <a:xfrm flipV="1">
            <a:off x="4631690" y="2760980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6" name="矩形 525"/>
          <p:cNvSpPr>
            <a:spLocks noChangeAspect="1"/>
          </p:cNvSpPr>
          <p:nvPr/>
        </p:nvSpPr>
        <p:spPr>
          <a:xfrm flipV="1">
            <a:off x="4677410" y="2760980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矩形 526"/>
          <p:cNvSpPr>
            <a:spLocks noChangeAspect="1"/>
          </p:cNvSpPr>
          <p:nvPr/>
        </p:nvSpPr>
        <p:spPr>
          <a:xfrm flipV="1">
            <a:off x="4723130" y="2760980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8" name="矩形 527"/>
          <p:cNvSpPr>
            <a:spLocks noChangeAspect="1"/>
          </p:cNvSpPr>
          <p:nvPr/>
        </p:nvSpPr>
        <p:spPr>
          <a:xfrm flipV="1">
            <a:off x="4768850" y="2760980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矩形 529"/>
          <p:cNvSpPr>
            <a:spLocks noChangeAspect="1"/>
          </p:cNvSpPr>
          <p:nvPr/>
        </p:nvSpPr>
        <p:spPr>
          <a:xfrm flipV="1">
            <a:off x="4585970" y="2815590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矩形 530"/>
          <p:cNvSpPr>
            <a:spLocks noChangeAspect="1"/>
          </p:cNvSpPr>
          <p:nvPr/>
        </p:nvSpPr>
        <p:spPr>
          <a:xfrm flipV="1">
            <a:off x="4631690" y="2816225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矩形 531"/>
          <p:cNvSpPr>
            <a:spLocks noChangeAspect="1"/>
          </p:cNvSpPr>
          <p:nvPr/>
        </p:nvSpPr>
        <p:spPr>
          <a:xfrm flipV="1">
            <a:off x="4677410" y="2816225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矩形 532"/>
          <p:cNvSpPr>
            <a:spLocks noChangeAspect="1"/>
          </p:cNvSpPr>
          <p:nvPr/>
        </p:nvSpPr>
        <p:spPr>
          <a:xfrm flipV="1">
            <a:off x="4723130" y="2815590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矩形 533"/>
          <p:cNvSpPr>
            <a:spLocks noChangeAspect="1"/>
          </p:cNvSpPr>
          <p:nvPr/>
        </p:nvSpPr>
        <p:spPr>
          <a:xfrm flipV="1">
            <a:off x="4768850" y="2815590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6" name="矩形 535"/>
          <p:cNvSpPr>
            <a:spLocks noChangeAspect="1"/>
          </p:cNvSpPr>
          <p:nvPr/>
        </p:nvSpPr>
        <p:spPr>
          <a:xfrm flipV="1">
            <a:off x="4585970" y="2983230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7" name="矩形 536"/>
          <p:cNvSpPr>
            <a:spLocks noChangeAspect="1"/>
          </p:cNvSpPr>
          <p:nvPr/>
        </p:nvSpPr>
        <p:spPr>
          <a:xfrm flipV="1">
            <a:off x="4631690" y="298386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8" name="矩形 537"/>
          <p:cNvSpPr>
            <a:spLocks noChangeAspect="1"/>
          </p:cNvSpPr>
          <p:nvPr/>
        </p:nvSpPr>
        <p:spPr>
          <a:xfrm flipV="1">
            <a:off x="4677410" y="298386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矩形 538"/>
          <p:cNvSpPr>
            <a:spLocks noChangeAspect="1"/>
          </p:cNvSpPr>
          <p:nvPr/>
        </p:nvSpPr>
        <p:spPr>
          <a:xfrm flipV="1">
            <a:off x="4723130" y="2983230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0" name="矩形 539"/>
          <p:cNvSpPr>
            <a:spLocks noChangeAspect="1"/>
          </p:cNvSpPr>
          <p:nvPr/>
        </p:nvSpPr>
        <p:spPr>
          <a:xfrm flipV="1">
            <a:off x="4768850" y="298386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4" name="矩形 553"/>
          <p:cNvSpPr>
            <a:spLocks noChangeAspect="1"/>
          </p:cNvSpPr>
          <p:nvPr/>
        </p:nvSpPr>
        <p:spPr>
          <a:xfrm flipV="1">
            <a:off x="4585970" y="3036570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5" name="矩形 554"/>
          <p:cNvSpPr>
            <a:spLocks noChangeAspect="1"/>
          </p:cNvSpPr>
          <p:nvPr/>
        </p:nvSpPr>
        <p:spPr>
          <a:xfrm flipV="1">
            <a:off x="4631690" y="303720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6" name="矩形 555"/>
          <p:cNvSpPr>
            <a:spLocks noChangeAspect="1"/>
          </p:cNvSpPr>
          <p:nvPr/>
        </p:nvSpPr>
        <p:spPr>
          <a:xfrm flipV="1">
            <a:off x="4677410" y="303720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7" name="矩形 556"/>
          <p:cNvSpPr>
            <a:spLocks noChangeAspect="1"/>
          </p:cNvSpPr>
          <p:nvPr/>
        </p:nvSpPr>
        <p:spPr>
          <a:xfrm flipV="1">
            <a:off x="4723130" y="3036570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8" name="矩形 557"/>
          <p:cNvSpPr>
            <a:spLocks noChangeAspect="1"/>
          </p:cNvSpPr>
          <p:nvPr/>
        </p:nvSpPr>
        <p:spPr>
          <a:xfrm flipV="1">
            <a:off x="4768850" y="303720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矩形 559"/>
          <p:cNvSpPr>
            <a:spLocks noChangeAspect="1"/>
          </p:cNvSpPr>
          <p:nvPr/>
        </p:nvSpPr>
        <p:spPr>
          <a:xfrm flipV="1">
            <a:off x="4585970" y="3090228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矩形 560"/>
          <p:cNvSpPr>
            <a:spLocks noChangeAspect="1"/>
          </p:cNvSpPr>
          <p:nvPr/>
        </p:nvSpPr>
        <p:spPr>
          <a:xfrm flipV="1">
            <a:off x="4631690" y="3090228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矩形 561"/>
          <p:cNvSpPr>
            <a:spLocks noChangeAspect="1"/>
          </p:cNvSpPr>
          <p:nvPr/>
        </p:nvSpPr>
        <p:spPr>
          <a:xfrm flipV="1">
            <a:off x="4677410" y="3090228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3" name="矩形 562"/>
          <p:cNvSpPr>
            <a:spLocks noChangeAspect="1"/>
          </p:cNvSpPr>
          <p:nvPr/>
        </p:nvSpPr>
        <p:spPr>
          <a:xfrm flipV="1">
            <a:off x="4723130" y="3090228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4" name="矩形 563"/>
          <p:cNvSpPr>
            <a:spLocks noChangeAspect="1"/>
          </p:cNvSpPr>
          <p:nvPr/>
        </p:nvSpPr>
        <p:spPr>
          <a:xfrm flipV="1">
            <a:off x="4768850" y="3090228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6" name="矩形 565"/>
          <p:cNvSpPr>
            <a:spLocks noChangeAspect="1"/>
          </p:cNvSpPr>
          <p:nvPr/>
        </p:nvSpPr>
        <p:spPr>
          <a:xfrm flipV="1">
            <a:off x="4585970" y="3383280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7" name="矩形 566"/>
          <p:cNvSpPr>
            <a:spLocks noChangeAspect="1"/>
          </p:cNvSpPr>
          <p:nvPr/>
        </p:nvSpPr>
        <p:spPr>
          <a:xfrm flipV="1">
            <a:off x="4631690" y="3383915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矩形 567"/>
          <p:cNvSpPr>
            <a:spLocks noChangeAspect="1"/>
          </p:cNvSpPr>
          <p:nvPr/>
        </p:nvSpPr>
        <p:spPr>
          <a:xfrm flipV="1">
            <a:off x="4677410" y="3383915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9" name="矩形 568"/>
          <p:cNvSpPr>
            <a:spLocks noChangeAspect="1"/>
          </p:cNvSpPr>
          <p:nvPr/>
        </p:nvSpPr>
        <p:spPr>
          <a:xfrm flipV="1">
            <a:off x="4723130" y="3383280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矩形 569"/>
          <p:cNvSpPr>
            <a:spLocks noChangeAspect="1"/>
          </p:cNvSpPr>
          <p:nvPr/>
        </p:nvSpPr>
        <p:spPr>
          <a:xfrm flipV="1">
            <a:off x="4768850" y="3383915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矩形 571"/>
          <p:cNvSpPr>
            <a:spLocks noChangeAspect="1"/>
          </p:cNvSpPr>
          <p:nvPr/>
        </p:nvSpPr>
        <p:spPr>
          <a:xfrm flipV="1">
            <a:off x="4585970" y="3438525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矩形 572"/>
          <p:cNvSpPr>
            <a:spLocks noChangeAspect="1"/>
          </p:cNvSpPr>
          <p:nvPr/>
        </p:nvSpPr>
        <p:spPr>
          <a:xfrm flipV="1">
            <a:off x="4631690" y="3439160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4" name="矩形 573"/>
          <p:cNvSpPr>
            <a:spLocks noChangeAspect="1"/>
          </p:cNvSpPr>
          <p:nvPr/>
        </p:nvSpPr>
        <p:spPr>
          <a:xfrm flipV="1">
            <a:off x="4677410" y="3439160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5" name="矩形 574"/>
          <p:cNvSpPr>
            <a:spLocks noChangeAspect="1"/>
          </p:cNvSpPr>
          <p:nvPr/>
        </p:nvSpPr>
        <p:spPr>
          <a:xfrm flipV="1">
            <a:off x="4723130" y="3438525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6" name="矩形 575"/>
          <p:cNvSpPr>
            <a:spLocks noChangeAspect="1"/>
          </p:cNvSpPr>
          <p:nvPr/>
        </p:nvSpPr>
        <p:spPr>
          <a:xfrm flipV="1">
            <a:off x="4768850" y="3439160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8" name="矩形 577"/>
          <p:cNvSpPr>
            <a:spLocks noChangeAspect="1"/>
          </p:cNvSpPr>
          <p:nvPr/>
        </p:nvSpPr>
        <p:spPr>
          <a:xfrm flipV="1">
            <a:off x="4585970" y="349408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9" name="矩形 578"/>
          <p:cNvSpPr>
            <a:spLocks noChangeAspect="1"/>
          </p:cNvSpPr>
          <p:nvPr/>
        </p:nvSpPr>
        <p:spPr>
          <a:xfrm flipV="1">
            <a:off x="4631690" y="349408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0" name="矩形 579"/>
          <p:cNvSpPr>
            <a:spLocks noChangeAspect="1"/>
          </p:cNvSpPr>
          <p:nvPr/>
        </p:nvSpPr>
        <p:spPr>
          <a:xfrm flipV="1">
            <a:off x="4677410" y="349408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1" name="矩形 580"/>
          <p:cNvSpPr>
            <a:spLocks noChangeAspect="1"/>
          </p:cNvSpPr>
          <p:nvPr/>
        </p:nvSpPr>
        <p:spPr>
          <a:xfrm flipV="1">
            <a:off x="4723130" y="349408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2" name="矩形 581"/>
          <p:cNvSpPr>
            <a:spLocks noChangeAspect="1"/>
          </p:cNvSpPr>
          <p:nvPr/>
        </p:nvSpPr>
        <p:spPr>
          <a:xfrm flipV="1">
            <a:off x="4768850" y="349408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3" name="文本框 582"/>
          <p:cNvSpPr txBox="1"/>
          <p:nvPr/>
        </p:nvSpPr>
        <p:spPr>
          <a:xfrm>
            <a:off x="4537075" y="3156585"/>
            <a:ext cx="3340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........</a:t>
            </a:r>
            <a:endParaRPr lang="en-US" altLang="zh-CN" sz="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8" name="右箭头 587"/>
          <p:cNvSpPr/>
          <p:nvPr/>
        </p:nvSpPr>
        <p:spPr>
          <a:xfrm rot="18060000">
            <a:off x="4451985" y="2599690"/>
            <a:ext cx="132715" cy="381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9" name="右箭头 588"/>
          <p:cNvSpPr/>
          <p:nvPr/>
        </p:nvSpPr>
        <p:spPr>
          <a:xfrm rot="20280000">
            <a:off x="4503287" y="2787304"/>
            <a:ext cx="83185" cy="381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右箭头 589"/>
          <p:cNvSpPr/>
          <p:nvPr/>
        </p:nvSpPr>
        <p:spPr>
          <a:xfrm>
            <a:off x="4506595" y="2974975"/>
            <a:ext cx="66357" cy="381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右箭头 590"/>
          <p:cNvSpPr/>
          <p:nvPr/>
        </p:nvSpPr>
        <p:spPr>
          <a:xfrm rot="2280000">
            <a:off x="4507777" y="3298358"/>
            <a:ext cx="79629" cy="381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3" name="右箭头 592"/>
          <p:cNvSpPr/>
          <p:nvPr/>
        </p:nvSpPr>
        <p:spPr>
          <a:xfrm>
            <a:off x="4837430" y="2443480"/>
            <a:ext cx="79629" cy="381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4" name="右箭头 593"/>
          <p:cNvSpPr/>
          <p:nvPr/>
        </p:nvSpPr>
        <p:spPr>
          <a:xfrm>
            <a:off x="4837430" y="2740025"/>
            <a:ext cx="79629" cy="381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5" name="右箭头 594"/>
          <p:cNvSpPr/>
          <p:nvPr/>
        </p:nvSpPr>
        <p:spPr>
          <a:xfrm>
            <a:off x="4837430" y="3016250"/>
            <a:ext cx="79629" cy="381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右箭头 595"/>
          <p:cNvSpPr/>
          <p:nvPr/>
        </p:nvSpPr>
        <p:spPr>
          <a:xfrm>
            <a:off x="4837430" y="3421380"/>
            <a:ext cx="79629" cy="381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矩形 597"/>
          <p:cNvSpPr>
            <a:spLocks noChangeAspect="1"/>
          </p:cNvSpPr>
          <p:nvPr/>
        </p:nvSpPr>
        <p:spPr>
          <a:xfrm flipV="1">
            <a:off x="4924425" y="2436495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矩形 598"/>
          <p:cNvSpPr>
            <a:spLocks noChangeAspect="1"/>
          </p:cNvSpPr>
          <p:nvPr/>
        </p:nvSpPr>
        <p:spPr>
          <a:xfrm flipV="1">
            <a:off x="4970145" y="2436495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0" name="矩形 599"/>
          <p:cNvSpPr>
            <a:spLocks noChangeAspect="1"/>
          </p:cNvSpPr>
          <p:nvPr/>
        </p:nvSpPr>
        <p:spPr>
          <a:xfrm flipV="1">
            <a:off x="5015865" y="2436495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1" name="矩形 600"/>
          <p:cNvSpPr>
            <a:spLocks noChangeAspect="1"/>
          </p:cNvSpPr>
          <p:nvPr/>
        </p:nvSpPr>
        <p:spPr>
          <a:xfrm flipV="1">
            <a:off x="5061585" y="2436495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2" name="矩形 601"/>
          <p:cNvSpPr>
            <a:spLocks noChangeAspect="1"/>
          </p:cNvSpPr>
          <p:nvPr/>
        </p:nvSpPr>
        <p:spPr>
          <a:xfrm flipV="1">
            <a:off x="5107305" y="2436495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4" name="矩形 603"/>
          <p:cNvSpPr>
            <a:spLocks noChangeAspect="1"/>
          </p:cNvSpPr>
          <p:nvPr/>
        </p:nvSpPr>
        <p:spPr>
          <a:xfrm flipV="1">
            <a:off x="4924425" y="2727643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5" name="矩形 604"/>
          <p:cNvSpPr>
            <a:spLocks noChangeAspect="1"/>
          </p:cNvSpPr>
          <p:nvPr/>
        </p:nvSpPr>
        <p:spPr>
          <a:xfrm flipV="1">
            <a:off x="4970145" y="2727643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6" name="矩形 605"/>
          <p:cNvSpPr>
            <a:spLocks noChangeAspect="1"/>
          </p:cNvSpPr>
          <p:nvPr/>
        </p:nvSpPr>
        <p:spPr>
          <a:xfrm flipV="1">
            <a:off x="5015865" y="2727643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7" name="矩形 606"/>
          <p:cNvSpPr>
            <a:spLocks noChangeAspect="1"/>
          </p:cNvSpPr>
          <p:nvPr/>
        </p:nvSpPr>
        <p:spPr>
          <a:xfrm flipV="1">
            <a:off x="5061585" y="2727643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8" name="矩形 607"/>
          <p:cNvSpPr>
            <a:spLocks noChangeAspect="1"/>
          </p:cNvSpPr>
          <p:nvPr/>
        </p:nvSpPr>
        <p:spPr>
          <a:xfrm flipV="1">
            <a:off x="5107305" y="2727643"/>
            <a:ext cx="45720" cy="45720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0" name="矩形 609"/>
          <p:cNvSpPr>
            <a:spLocks noChangeAspect="1"/>
          </p:cNvSpPr>
          <p:nvPr/>
        </p:nvSpPr>
        <p:spPr>
          <a:xfrm flipV="1">
            <a:off x="4924425" y="300545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1" name="矩形 610"/>
          <p:cNvSpPr>
            <a:spLocks noChangeAspect="1"/>
          </p:cNvSpPr>
          <p:nvPr/>
        </p:nvSpPr>
        <p:spPr>
          <a:xfrm flipV="1">
            <a:off x="4970145" y="300545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2" name="矩形 611"/>
          <p:cNvSpPr>
            <a:spLocks noChangeAspect="1"/>
          </p:cNvSpPr>
          <p:nvPr/>
        </p:nvSpPr>
        <p:spPr>
          <a:xfrm flipV="1">
            <a:off x="5015865" y="300545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3" name="矩形 612"/>
          <p:cNvSpPr>
            <a:spLocks noChangeAspect="1"/>
          </p:cNvSpPr>
          <p:nvPr/>
        </p:nvSpPr>
        <p:spPr>
          <a:xfrm flipV="1">
            <a:off x="5061585" y="300545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4" name="矩形 613"/>
          <p:cNvSpPr>
            <a:spLocks noChangeAspect="1"/>
          </p:cNvSpPr>
          <p:nvPr/>
        </p:nvSpPr>
        <p:spPr>
          <a:xfrm flipV="1">
            <a:off x="5107305" y="3005455"/>
            <a:ext cx="45720" cy="45720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6" name="矩形 615"/>
          <p:cNvSpPr>
            <a:spLocks noChangeAspect="1"/>
          </p:cNvSpPr>
          <p:nvPr/>
        </p:nvSpPr>
        <p:spPr>
          <a:xfrm flipV="1">
            <a:off x="4926330" y="341661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7" name="矩形 616"/>
          <p:cNvSpPr>
            <a:spLocks noChangeAspect="1"/>
          </p:cNvSpPr>
          <p:nvPr/>
        </p:nvSpPr>
        <p:spPr>
          <a:xfrm flipV="1">
            <a:off x="4972050" y="341661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8" name="矩形 617"/>
          <p:cNvSpPr>
            <a:spLocks noChangeAspect="1"/>
          </p:cNvSpPr>
          <p:nvPr/>
        </p:nvSpPr>
        <p:spPr>
          <a:xfrm flipV="1">
            <a:off x="5017770" y="341661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9" name="矩形 618"/>
          <p:cNvSpPr>
            <a:spLocks noChangeAspect="1"/>
          </p:cNvSpPr>
          <p:nvPr/>
        </p:nvSpPr>
        <p:spPr>
          <a:xfrm flipV="1">
            <a:off x="5063490" y="341661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0" name="矩形 619"/>
          <p:cNvSpPr>
            <a:spLocks noChangeAspect="1"/>
          </p:cNvSpPr>
          <p:nvPr/>
        </p:nvSpPr>
        <p:spPr>
          <a:xfrm flipV="1">
            <a:off x="5107305" y="3416618"/>
            <a:ext cx="45720" cy="45720"/>
          </a:xfrm>
          <a:prstGeom prst="rect">
            <a:avLst/>
          </a:prstGeom>
          <a:solidFill>
            <a:schemeClr val="accent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4" name="文本框 623"/>
          <p:cNvSpPr txBox="1"/>
          <p:nvPr/>
        </p:nvSpPr>
        <p:spPr>
          <a:xfrm>
            <a:off x="4850765" y="3157220"/>
            <a:ext cx="3340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........</a:t>
            </a:r>
            <a:endParaRPr lang="en-US" altLang="zh-CN" sz="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5" name="燕尾形 624"/>
          <p:cNvSpPr/>
          <p:nvPr/>
        </p:nvSpPr>
        <p:spPr>
          <a:xfrm>
            <a:off x="4911725" y="2028190"/>
            <a:ext cx="760730" cy="291465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6" name="文本框 625"/>
          <p:cNvSpPr txBox="1"/>
          <p:nvPr/>
        </p:nvSpPr>
        <p:spPr>
          <a:xfrm>
            <a:off x="4862195" y="2014220"/>
            <a:ext cx="854710" cy="312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Molecule 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Readout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7" name="燕尾形 626"/>
          <p:cNvSpPr/>
          <p:nvPr/>
        </p:nvSpPr>
        <p:spPr>
          <a:xfrm>
            <a:off x="5555615" y="2028190"/>
            <a:ext cx="1102995" cy="291465"/>
          </a:xfrm>
          <a:prstGeom prst="chevron">
            <a:avLst/>
          </a:prstGeom>
          <a:solidFill>
            <a:srgbClr val="B6C7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8" name="文本框 627"/>
          <p:cNvSpPr txBox="1"/>
          <p:nvPr/>
        </p:nvSpPr>
        <p:spPr>
          <a:xfrm>
            <a:off x="5610860" y="2010410"/>
            <a:ext cx="913765" cy="291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Task 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Prediction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9" name="流程图: 摘录 628"/>
          <p:cNvSpPr/>
          <p:nvPr/>
        </p:nvSpPr>
        <p:spPr>
          <a:xfrm rot="5400000">
            <a:off x="4715510" y="2924175"/>
            <a:ext cx="1046480" cy="81280"/>
          </a:xfrm>
          <a:prstGeom prst="flowChartExtra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6" name="矩形 635"/>
          <p:cNvSpPr>
            <a:spLocks noChangeAspect="1"/>
          </p:cNvSpPr>
          <p:nvPr/>
        </p:nvSpPr>
        <p:spPr>
          <a:xfrm flipV="1">
            <a:off x="5541645" y="2968625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8" name="矩形 637"/>
          <p:cNvSpPr>
            <a:spLocks noChangeAspect="1"/>
          </p:cNvSpPr>
          <p:nvPr/>
        </p:nvSpPr>
        <p:spPr>
          <a:xfrm flipV="1">
            <a:off x="5323205" y="2968625"/>
            <a:ext cx="45720" cy="45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9" name="矩形 638"/>
          <p:cNvSpPr>
            <a:spLocks noChangeAspect="1"/>
          </p:cNvSpPr>
          <p:nvPr/>
        </p:nvSpPr>
        <p:spPr>
          <a:xfrm flipV="1">
            <a:off x="5368925" y="2968625"/>
            <a:ext cx="45720" cy="457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0" name="矩形 639"/>
          <p:cNvSpPr>
            <a:spLocks noChangeAspect="1"/>
          </p:cNvSpPr>
          <p:nvPr/>
        </p:nvSpPr>
        <p:spPr>
          <a:xfrm flipV="1">
            <a:off x="5414645" y="2968625"/>
            <a:ext cx="45720" cy="457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1" name="矩形 640"/>
          <p:cNvSpPr>
            <a:spLocks noChangeAspect="1"/>
          </p:cNvSpPr>
          <p:nvPr/>
        </p:nvSpPr>
        <p:spPr>
          <a:xfrm flipV="1">
            <a:off x="5541645" y="2968625"/>
            <a:ext cx="45720" cy="45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2" name="矩形 641"/>
          <p:cNvSpPr>
            <a:spLocks noChangeAspect="1"/>
          </p:cNvSpPr>
          <p:nvPr/>
        </p:nvSpPr>
        <p:spPr>
          <a:xfrm flipV="1">
            <a:off x="5587365" y="2968625"/>
            <a:ext cx="45720" cy="457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3" name="文本框 642"/>
          <p:cNvSpPr txBox="1"/>
          <p:nvPr/>
        </p:nvSpPr>
        <p:spPr>
          <a:xfrm>
            <a:off x="5740400" y="2470785"/>
            <a:ext cx="2705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...</a:t>
            </a:r>
            <a:endParaRPr lang="en-US" altLang="zh-CN" sz="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5" name="文本框 644"/>
          <p:cNvSpPr txBox="1"/>
          <p:nvPr/>
        </p:nvSpPr>
        <p:spPr>
          <a:xfrm>
            <a:off x="5177790" y="2743200"/>
            <a:ext cx="583565" cy="2076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ts val="500"/>
              </a:lnSpc>
            </a:pPr>
            <a:r>
              <a:rPr lang="en-US" altLang="zh-CN" sz="500">
                <a:latin typeface="微软雅黑" panose="020B0503020204020204" charset="-122"/>
                <a:ea typeface="微软雅黑" panose="020B0503020204020204" charset="-122"/>
              </a:rPr>
              <a:t>Molecule Rep</a:t>
            </a:r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6" name="右箭头 645"/>
          <p:cNvSpPr/>
          <p:nvPr/>
        </p:nvSpPr>
        <p:spPr>
          <a:xfrm>
            <a:off x="1079500" y="2842260"/>
            <a:ext cx="107315" cy="50736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7" name="圆角右箭头 646"/>
          <p:cNvSpPr/>
          <p:nvPr/>
        </p:nvSpPr>
        <p:spPr>
          <a:xfrm>
            <a:off x="5460365" y="2504440"/>
            <a:ext cx="97790" cy="241935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8" name="圆角右箭头 647"/>
          <p:cNvSpPr/>
          <p:nvPr/>
        </p:nvSpPr>
        <p:spPr>
          <a:xfrm rot="10800000" flipH="1">
            <a:off x="5460365" y="3062605"/>
            <a:ext cx="97790" cy="266700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9" name="矩形 648"/>
          <p:cNvSpPr>
            <a:spLocks noChangeAspect="1"/>
          </p:cNvSpPr>
          <p:nvPr/>
        </p:nvSpPr>
        <p:spPr>
          <a:xfrm flipV="1">
            <a:off x="5918200" y="2548255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0" name="矩形 649"/>
          <p:cNvSpPr>
            <a:spLocks noChangeAspect="1"/>
          </p:cNvSpPr>
          <p:nvPr/>
        </p:nvSpPr>
        <p:spPr>
          <a:xfrm flipV="1">
            <a:off x="5699760" y="2548255"/>
            <a:ext cx="45720" cy="45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1" name="矩形 650"/>
          <p:cNvSpPr>
            <a:spLocks noChangeAspect="1"/>
          </p:cNvSpPr>
          <p:nvPr/>
        </p:nvSpPr>
        <p:spPr>
          <a:xfrm flipV="1">
            <a:off x="5745480" y="2548255"/>
            <a:ext cx="45720" cy="457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2" name="矩形 651"/>
          <p:cNvSpPr>
            <a:spLocks noChangeAspect="1"/>
          </p:cNvSpPr>
          <p:nvPr/>
        </p:nvSpPr>
        <p:spPr>
          <a:xfrm flipV="1">
            <a:off x="5791200" y="2548255"/>
            <a:ext cx="45720" cy="457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3" name="矩形 652"/>
          <p:cNvSpPr>
            <a:spLocks noChangeAspect="1"/>
          </p:cNvSpPr>
          <p:nvPr/>
        </p:nvSpPr>
        <p:spPr>
          <a:xfrm flipV="1">
            <a:off x="5918200" y="2548255"/>
            <a:ext cx="45720" cy="45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4" name="矩形 653"/>
          <p:cNvSpPr>
            <a:spLocks noChangeAspect="1"/>
          </p:cNvSpPr>
          <p:nvPr/>
        </p:nvSpPr>
        <p:spPr>
          <a:xfrm flipV="1">
            <a:off x="5963920" y="2548255"/>
            <a:ext cx="45720" cy="457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5" name="右箭头 654"/>
          <p:cNvSpPr/>
          <p:nvPr/>
        </p:nvSpPr>
        <p:spPr>
          <a:xfrm>
            <a:off x="6033135" y="2536825"/>
            <a:ext cx="76200" cy="762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6" name="文本框 655"/>
          <p:cNvSpPr txBox="1"/>
          <p:nvPr/>
        </p:nvSpPr>
        <p:spPr>
          <a:xfrm>
            <a:off x="6281420" y="2580005"/>
            <a:ext cx="439420" cy="141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</a:rPr>
              <a:t>PPB%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1" name="文本框 660"/>
          <p:cNvSpPr txBox="1"/>
          <p:nvPr/>
        </p:nvSpPr>
        <p:spPr>
          <a:xfrm>
            <a:off x="5772785" y="3462020"/>
            <a:ext cx="2705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...</a:t>
            </a:r>
            <a:endParaRPr lang="en-US" altLang="zh-CN" sz="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2" name="矩形 661"/>
          <p:cNvSpPr>
            <a:spLocks noChangeAspect="1"/>
          </p:cNvSpPr>
          <p:nvPr/>
        </p:nvSpPr>
        <p:spPr>
          <a:xfrm flipV="1">
            <a:off x="5944870" y="3536315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3" name="矩形 662"/>
          <p:cNvSpPr>
            <a:spLocks noChangeAspect="1"/>
          </p:cNvSpPr>
          <p:nvPr/>
        </p:nvSpPr>
        <p:spPr>
          <a:xfrm flipV="1">
            <a:off x="5726430" y="3536315"/>
            <a:ext cx="45720" cy="45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4" name="矩形 663"/>
          <p:cNvSpPr>
            <a:spLocks noChangeAspect="1"/>
          </p:cNvSpPr>
          <p:nvPr/>
        </p:nvSpPr>
        <p:spPr>
          <a:xfrm flipV="1">
            <a:off x="5772150" y="3536315"/>
            <a:ext cx="45720" cy="457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5" name="矩形 664"/>
          <p:cNvSpPr>
            <a:spLocks noChangeAspect="1"/>
          </p:cNvSpPr>
          <p:nvPr/>
        </p:nvSpPr>
        <p:spPr>
          <a:xfrm flipV="1">
            <a:off x="5817870" y="3536315"/>
            <a:ext cx="45720" cy="457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6" name="矩形 665"/>
          <p:cNvSpPr>
            <a:spLocks noChangeAspect="1"/>
          </p:cNvSpPr>
          <p:nvPr/>
        </p:nvSpPr>
        <p:spPr>
          <a:xfrm flipV="1">
            <a:off x="5944870" y="3536315"/>
            <a:ext cx="45720" cy="45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7" name="矩形 666"/>
          <p:cNvSpPr>
            <a:spLocks noChangeAspect="1"/>
          </p:cNvSpPr>
          <p:nvPr/>
        </p:nvSpPr>
        <p:spPr>
          <a:xfrm flipV="1">
            <a:off x="5990590" y="3536315"/>
            <a:ext cx="45720" cy="457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8" name="加号 667"/>
          <p:cNvSpPr>
            <a:spLocks noChangeAspect="1"/>
          </p:cNvSpPr>
          <p:nvPr/>
        </p:nvSpPr>
        <p:spPr>
          <a:xfrm>
            <a:off x="5836920" y="3451225"/>
            <a:ext cx="76200" cy="76200"/>
          </a:xfrm>
          <a:prstGeom prst="mathPlus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69" name="图片 668" descr="字典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54065" y="2797175"/>
            <a:ext cx="172720" cy="217170"/>
          </a:xfrm>
          <a:prstGeom prst="rect">
            <a:avLst/>
          </a:prstGeom>
        </p:spPr>
      </p:pic>
      <p:sp>
        <p:nvSpPr>
          <p:cNvPr id="670" name="文本框 669"/>
          <p:cNvSpPr txBox="1"/>
          <p:nvPr/>
        </p:nvSpPr>
        <p:spPr>
          <a:xfrm>
            <a:off x="5589270" y="2762250"/>
            <a:ext cx="363220" cy="284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ts val="500"/>
              </a:lnSpc>
            </a:pPr>
            <a:r>
              <a:rPr lang="en-US" altLang="zh-CN" sz="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Drug Dose Dict</a:t>
            </a:r>
            <a:endParaRPr lang="en-US" altLang="zh-CN" sz="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1" name="文本框 670"/>
          <p:cNvSpPr txBox="1"/>
          <p:nvPr/>
        </p:nvSpPr>
        <p:spPr>
          <a:xfrm>
            <a:off x="6118860" y="2831465"/>
            <a:ext cx="539750" cy="142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>
                <a:latin typeface="微软雅黑" panose="020B0503020204020204" charset="-122"/>
                <a:ea typeface="微软雅黑" panose="020B0503020204020204" charset="-122"/>
              </a:rPr>
              <a:t>Durg dose</a:t>
            </a:r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4" name="右箭头 673"/>
          <p:cNvSpPr/>
          <p:nvPr/>
        </p:nvSpPr>
        <p:spPr>
          <a:xfrm flipH="1">
            <a:off x="6036310" y="2880360"/>
            <a:ext cx="91440" cy="762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5" name="右箭头 674"/>
          <p:cNvSpPr/>
          <p:nvPr/>
        </p:nvSpPr>
        <p:spPr>
          <a:xfrm rot="16200000" flipH="1">
            <a:off x="5831840" y="3023235"/>
            <a:ext cx="76200" cy="762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6" name="右箭头 675"/>
          <p:cNvSpPr/>
          <p:nvPr/>
        </p:nvSpPr>
        <p:spPr>
          <a:xfrm rot="16200000" flipH="1">
            <a:off x="5832475" y="3226435"/>
            <a:ext cx="76200" cy="762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677" name="文本框 676"/>
          <p:cNvSpPr txBox="1"/>
          <p:nvPr/>
        </p:nvSpPr>
        <p:spPr>
          <a:xfrm>
            <a:off x="5539740" y="3068320"/>
            <a:ext cx="796925" cy="166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Embedding Layer</a:t>
            </a:r>
            <a:endParaRPr lang="en-US" altLang="zh-CN" sz="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9" name="文本框 678"/>
          <p:cNvSpPr txBox="1"/>
          <p:nvPr/>
        </p:nvSpPr>
        <p:spPr>
          <a:xfrm>
            <a:off x="5769610" y="3320415"/>
            <a:ext cx="2705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500" b="1">
                <a:latin typeface="微软雅黑" panose="020B0503020204020204" charset="-122"/>
                <a:ea typeface="微软雅黑" panose="020B0503020204020204" charset="-122"/>
              </a:rPr>
              <a:t>...</a:t>
            </a:r>
            <a:endParaRPr lang="en-US" altLang="zh-CN" sz="5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0" name="矩形 679"/>
          <p:cNvSpPr>
            <a:spLocks noChangeAspect="1"/>
          </p:cNvSpPr>
          <p:nvPr/>
        </p:nvSpPr>
        <p:spPr>
          <a:xfrm flipV="1">
            <a:off x="5942330" y="3397885"/>
            <a:ext cx="45720" cy="4572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1" name="矩形 680"/>
          <p:cNvSpPr>
            <a:spLocks noChangeAspect="1"/>
          </p:cNvSpPr>
          <p:nvPr/>
        </p:nvSpPr>
        <p:spPr>
          <a:xfrm flipV="1">
            <a:off x="5723890" y="3397885"/>
            <a:ext cx="45720" cy="4572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2" name="矩形 681"/>
          <p:cNvSpPr>
            <a:spLocks noChangeAspect="1"/>
          </p:cNvSpPr>
          <p:nvPr/>
        </p:nvSpPr>
        <p:spPr>
          <a:xfrm flipV="1">
            <a:off x="5769610" y="3397885"/>
            <a:ext cx="45720" cy="457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3" name="矩形 682"/>
          <p:cNvSpPr>
            <a:spLocks noChangeAspect="1"/>
          </p:cNvSpPr>
          <p:nvPr/>
        </p:nvSpPr>
        <p:spPr>
          <a:xfrm flipV="1">
            <a:off x="5815330" y="3397885"/>
            <a:ext cx="45720" cy="457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4" name="矩形 683"/>
          <p:cNvSpPr>
            <a:spLocks noChangeAspect="1"/>
          </p:cNvSpPr>
          <p:nvPr/>
        </p:nvSpPr>
        <p:spPr>
          <a:xfrm flipV="1">
            <a:off x="5942330" y="3397885"/>
            <a:ext cx="45720" cy="4572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5" name="矩形 684"/>
          <p:cNvSpPr>
            <a:spLocks noChangeAspect="1"/>
          </p:cNvSpPr>
          <p:nvPr/>
        </p:nvSpPr>
        <p:spPr>
          <a:xfrm flipV="1">
            <a:off x="5988050" y="3397885"/>
            <a:ext cx="45720" cy="457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7" name="文本框 686"/>
          <p:cNvSpPr txBox="1"/>
          <p:nvPr/>
        </p:nvSpPr>
        <p:spPr>
          <a:xfrm>
            <a:off x="5629275" y="3279140"/>
            <a:ext cx="485775" cy="132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ts val="400"/>
              </a:lnSpc>
            </a:pPr>
            <a:r>
              <a:rPr lang="en-US" altLang="zh-CN" sz="500">
                <a:latin typeface="微软雅黑" panose="020B0503020204020204" charset="-122"/>
                <a:ea typeface="微软雅黑" panose="020B0503020204020204" charset="-122"/>
              </a:rPr>
              <a:t>Dose Rep</a:t>
            </a:r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0" name="流程图: 摘录 689"/>
          <p:cNvSpPr/>
          <p:nvPr/>
        </p:nvSpPr>
        <p:spPr>
          <a:xfrm rot="5400000">
            <a:off x="5975350" y="3403600"/>
            <a:ext cx="280035" cy="76200"/>
          </a:xfrm>
          <a:prstGeom prst="flowChartExtra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DAE3F5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2" name="文本框 691"/>
          <p:cNvSpPr txBox="1"/>
          <p:nvPr/>
        </p:nvSpPr>
        <p:spPr>
          <a:xfrm>
            <a:off x="6277610" y="3446145"/>
            <a:ext cx="431800" cy="141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</a:rPr>
              <a:t>Cmax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7" name="右箭头 696"/>
          <p:cNvSpPr/>
          <p:nvPr/>
        </p:nvSpPr>
        <p:spPr>
          <a:xfrm>
            <a:off x="6273800" y="2541270"/>
            <a:ext cx="76200" cy="762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1" name="文本框 700"/>
              <p:cNvSpPr txBox="1"/>
              <p:nvPr/>
            </p:nvSpPr>
            <p:spPr>
              <a:xfrm>
                <a:off x="206375" y="4503420"/>
                <a:ext cx="243840" cy="184150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01" name="文本框 7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75" y="4503420"/>
                <a:ext cx="243840" cy="18415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2" name="文本框 701"/>
              <p:cNvSpPr txBox="1"/>
              <p:nvPr/>
            </p:nvSpPr>
            <p:spPr>
              <a:xfrm>
                <a:off x="608965" y="4184015"/>
                <a:ext cx="291465" cy="19431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02" name="文本框 7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65" y="4184015"/>
                <a:ext cx="291465" cy="19431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7" name="流程图: 多文档 706"/>
          <p:cNvSpPr>
            <a:spLocks noChangeAspect="1"/>
          </p:cNvSpPr>
          <p:nvPr/>
        </p:nvSpPr>
        <p:spPr>
          <a:xfrm>
            <a:off x="628015" y="4522470"/>
            <a:ext cx="227330" cy="164465"/>
          </a:xfrm>
          <a:prstGeom prst="flowChartMultidocument">
            <a:avLst/>
          </a:prstGeom>
          <a:noFill/>
          <a:ln w="6350"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8" name="文本框 707"/>
          <p:cNvSpPr txBox="1"/>
          <p:nvPr/>
        </p:nvSpPr>
        <p:spPr>
          <a:xfrm>
            <a:off x="556895" y="4512310"/>
            <a:ext cx="396240" cy="18351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GRU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9" name="矩形 708"/>
          <p:cNvSpPr/>
          <p:nvPr/>
        </p:nvSpPr>
        <p:spPr>
          <a:xfrm>
            <a:off x="184785" y="4182110"/>
            <a:ext cx="357505" cy="187325"/>
          </a:xfrm>
          <a:prstGeom prst="rect">
            <a:avLst/>
          </a:prstGeom>
          <a:solidFill>
            <a:srgbClr val="B6C7EA">
              <a:alpha val="40000"/>
            </a:srgb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0" name="文本框 709"/>
          <p:cNvSpPr txBox="1"/>
          <p:nvPr/>
        </p:nvSpPr>
        <p:spPr>
          <a:xfrm>
            <a:off x="96520" y="4136390"/>
            <a:ext cx="548005" cy="18859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Atom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attention</a:t>
            </a:r>
            <a:r>
              <a:rPr lang="en-US" altLang="zh-CN" sz="40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41" name="图片 740" descr="向右箭头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6245" y="4522470"/>
            <a:ext cx="147955" cy="121285"/>
          </a:xfrm>
          <a:prstGeom prst="rect">
            <a:avLst/>
          </a:prstGeom>
        </p:spPr>
      </p:pic>
      <p:pic>
        <p:nvPicPr>
          <p:cNvPr id="742" name="图片 741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6200000">
            <a:off x="292735" y="4401820"/>
            <a:ext cx="139065" cy="121285"/>
          </a:xfrm>
          <a:prstGeom prst="rect">
            <a:avLst/>
          </a:prstGeom>
        </p:spPr>
      </p:pic>
      <p:pic>
        <p:nvPicPr>
          <p:cNvPr id="743" name="图片 742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8800" y="4215765"/>
            <a:ext cx="121285" cy="121285"/>
          </a:xfrm>
          <a:prstGeom prst="rect">
            <a:avLst/>
          </a:prstGeom>
        </p:spPr>
      </p:pic>
      <p:pic>
        <p:nvPicPr>
          <p:cNvPr id="744" name="图片 743" descr="向右箭头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5400000">
            <a:off x="671195" y="4368165"/>
            <a:ext cx="173990" cy="121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55" name="文本框 754"/>
              <p:cNvSpPr txBox="1"/>
              <p:nvPr/>
            </p:nvSpPr>
            <p:spPr>
              <a:xfrm>
                <a:off x="958850" y="4498340"/>
                <a:ext cx="245745" cy="19367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55" name="文本框 7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50" y="4498340"/>
                <a:ext cx="245745" cy="193675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6" name="文本框 755"/>
              <p:cNvSpPr txBox="1"/>
              <p:nvPr/>
            </p:nvSpPr>
            <p:spPr>
              <a:xfrm>
                <a:off x="1336040" y="4169410"/>
                <a:ext cx="291465" cy="19367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56" name="文本框 7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040" y="4169410"/>
                <a:ext cx="291465" cy="193675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7" name="流程图: 多文档 756"/>
          <p:cNvSpPr>
            <a:spLocks noChangeAspect="1"/>
          </p:cNvSpPr>
          <p:nvPr/>
        </p:nvSpPr>
        <p:spPr>
          <a:xfrm>
            <a:off x="1373505" y="4520565"/>
            <a:ext cx="229235" cy="165735"/>
          </a:xfrm>
          <a:prstGeom prst="flowChartMultidocument">
            <a:avLst/>
          </a:prstGeom>
          <a:noFill/>
          <a:ln w="6350"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8" name="文本框 757"/>
          <p:cNvSpPr txBox="1"/>
          <p:nvPr/>
        </p:nvSpPr>
        <p:spPr>
          <a:xfrm>
            <a:off x="1297940" y="4519295"/>
            <a:ext cx="368935" cy="18351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GRU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61" name="图片 760" descr="向右箭头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86180" y="4520565"/>
            <a:ext cx="151765" cy="121285"/>
          </a:xfrm>
          <a:prstGeom prst="rect">
            <a:avLst/>
          </a:prstGeom>
        </p:spPr>
      </p:pic>
      <p:pic>
        <p:nvPicPr>
          <p:cNvPr id="762" name="图片 761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6200000">
            <a:off x="1019810" y="4399915"/>
            <a:ext cx="139065" cy="121285"/>
          </a:xfrm>
          <a:prstGeom prst="rect">
            <a:avLst/>
          </a:prstGeom>
        </p:spPr>
      </p:pic>
      <p:pic>
        <p:nvPicPr>
          <p:cNvPr id="763" name="图片 762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85875" y="4213860"/>
            <a:ext cx="121285" cy="121285"/>
          </a:xfrm>
          <a:prstGeom prst="rect">
            <a:avLst/>
          </a:prstGeom>
        </p:spPr>
      </p:pic>
      <p:pic>
        <p:nvPicPr>
          <p:cNvPr id="764" name="图片 763" descr="向右箭头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5400000">
            <a:off x="1398270" y="4366260"/>
            <a:ext cx="173990" cy="121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65" name="文本框 764"/>
              <p:cNvSpPr txBox="1"/>
              <p:nvPr/>
            </p:nvSpPr>
            <p:spPr>
              <a:xfrm>
                <a:off x="1732280" y="4504690"/>
                <a:ext cx="291465" cy="19685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65" name="文本框 7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280" y="4504690"/>
                <a:ext cx="291465" cy="196850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6" name="文本框 765"/>
              <p:cNvSpPr txBox="1"/>
              <p:nvPr/>
            </p:nvSpPr>
            <p:spPr>
              <a:xfrm>
                <a:off x="2145030" y="4170680"/>
                <a:ext cx="291465" cy="19685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66" name="文本框 7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030" y="4170680"/>
                <a:ext cx="291465" cy="196850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7" name="流程图: 多文档 766"/>
          <p:cNvSpPr>
            <a:spLocks noChangeAspect="1"/>
          </p:cNvSpPr>
          <p:nvPr/>
        </p:nvSpPr>
        <p:spPr>
          <a:xfrm>
            <a:off x="2180590" y="4523105"/>
            <a:ext cx="227965" cy="165100"/>
          </a:xfrm>
          <a:prstGeom prst="flowChartMultidocument">
            <a:avLst/>
          </a:prstGeom>
          <a:noFill/>
          <a:ln w="6350"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8" name="文本框 767"/>
          <p:cNvSpPr txBox="1"/>
          <p:nvPr/>
        </p:nvSpPr>
        <p:spPr>
          <a:xfrm>
            <a:off x="2104390" y="4518025"/>
            <a:ext cx="350520" cy="18351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GRU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71" name="图片 770" descr="向右箭头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006600" y="4528185"/>
            <a:ext cx="163830" cy="121285"/>
          </a:xfrm>
          <a:prstGeom prst="rect">
            <a:avLst/>
          </a:prstGeom>
        </p:spPr>
      </p:pic>
      <p:pic>
        <p:nvPicPr>
          <p:cNvPr id="772" name="图片 771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6200000">
            <a:off x="1838325" y="4399915"/>
            <a:ext cx="139065" cy="121285"/>
          </a:xfrm>
          <a:prstGeom prst="rect">
            <a:avLst/>
          </a:prstGeom>
        </p:spPr>
      </p:pic>
      <p:pic>
        <p:nvPicPr>
          <p:cNvPr id="773" name="图片 772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04390" y="4213860"/>
            <a:ext cx="121285" cy="121285"/>
          </a:xfrm>
          <a:prstGeom prst="rect">
            <a:avLst/>
          </a:prstGeom>
        </p:spPr>
      </p:pic>
      <p:pic>
        <p:nvPicPr>
          <p:cNvPr id="774" name="图片 773" descr="向右箭头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5400000">
            <a:off x="2216785" y="4366260"/>
            <a:ext cx="173990" cy="121285"/>
          </a:xfrm>
          <a:prstGeom prst="rect">
            <a:avLst/>
          </a:prstGeom>
        </p:spPr>
      </p:pic>
      <p:pic>
        <p:nvPicPr>
          <p:cNvPr id="775" name="图片 774" descr="向右箭头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70585" y="4522470"/>
            <a:ext cx="141605" cy="121285"/>
          </a:xfrm>
          <a:prstGeom prst="rect">
            <a:avLst/>
          </a:prstGeom>
        </p:spPr>
      </p:pic>
      <p:pic>
        <p:nvPicPr>
          <p:cNvPr id="776" name="图片 775" descr="向右箭头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425065" y="4522470"/>
            <a:ext cx="173355" cy="121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7" name="文本框 776"/>
              <p:cNvSpPr txBox="1"/>
              <p:nvPr/>
            </p:nvSpPr>
            <p:spPr>
              <a:xfrm>
                <a:off x="2533015" y="4509135"/>
                <a:ext cx="291465" cy="19685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77" name="文本框 7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015" y="4509135"/>
                <a:ext cx="291465" cy="196850"/>
              </a:xfrm>
              <a:prstGeom prst="rect">
                <a:avLst/>
              </a:prstGeom>
              <a:blipFill rotWithShape="1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" name="文本框 777"/>
          <p:cNvSpPr txBox="1"/>
          <p:nvPr/>
        </p:nvSpPr>
        <p:spPr>
          <a:xfrm>
            <a:off x="1537335" y="4478655"/>
            <a:ext cx="3340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600" b="1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.....</a:t>
            </a:r>
            <a:endParaRPr lang="en-US" altLang="zh-CN" sz="600" b="1">
              <a:solidFill>
                <a:schemeClr val="accent1">
                  <a:lumMod val="40000"/>
                  <a:lumOff val="6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0" name="矩形 779"/>
          <p:cNvSpPr/>
          <p:nvPr/>
        </p:nvSpPr>
        <p:spPr>
          <a:xfrm>
            <a:off x="2576195" y="4180205"/>
            <a:ext cx="389255" cy="187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1" name="文本框 780"/>
          <p:cNvSpPr txBox="1"/>
          <p:nvPr/>
        </p:nvSpPr>
        <p:spPr>
          <a:xfrm>
            <a:off x="2499995" y="4130675"/>
            <a:ext cx="548005" cy="21653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Atom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attention</a:t>
            </a:r>
            <a:r>
              <a:rPr lang="en-US" altLang="zh-CN" sz="50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3" name="文本框 782"/>
              <p:cNvSpPr txBox="1"/>
              <p:nvPr/>
            </p:nvSpPr>
            <p:spPr>
              <a:xfrm>
                <a:off x="2837815" y="4504690"/>
                <a:ext cx="291465" cy="19367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83" name="文本框 7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815" y="4504690"/>
                <a:ext cx="291465" cy="193675"/>
              </a:xfrm>
              <a:prstGeom prst="rect">
                <a:avLst/>
              </a:prstGeom>
              <a:blipFill rotWithShape="1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84" name="图片 783" descr="向右箭头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5400000">
            <a:off x="2813685" y="4394835"/>
            <a:ext cx="173990" cy="121285"/>
          </a:xfrm>
          <a:prstGeom prst="rect">
            <a:avLst/>
          </a:prstGeom>
        </p:spPr>
      </p:pic>
      <p:pic>
        <p:nvPicPr>
          <p:cNvPr id="785" name="图片 784" descr="向右箭头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16200000">
            <a:off x="2576830" y="4394835"/>
            <a:ext cx="173990" cy="121285"/>
          </a:xfrm>
          <a:prstGeom prst="rect">
            <a:avLst/>
          </a:prstGeom>
        </p:spPr>
      </p:pic>
      <p:sp>
        <p:nvSpPr>
          <p:cNvPr id="787" name="文本框 786"/>
          <p:cNvSpPr txBox="1"/>
          <p:nvPr/>
        </p:nvSpPr>
        <p:spPr>
          <a:xfrm>
            <a:off x="821690" y="4142105"/>
            <a:ext cx="548005" cy="22923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600" dirty="0">
                <a:latin typeface="微软雅黑" panose="020B0503020204020204" charset="-122"/>
                <a:ea typeface="微软雅黑" panose="020B0503020204020204" charset="-122"/>
              </a:rPr>
              <a:t>Atom</a:t>
            </a:r>
            <a:endParaRPr lang="en-US" altLang="zh-CN" sz="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600" dirty="0">
                <a:latin typeface="微软雅黑" panose="020B0503020204020204" charset="-122"/>
                <a:ea typeface="微软雅黑" panose="020B0503020204020204" charset="-122"/>
              </a:rPr>
              <a:t>attention</a:t>
            </a:r>
            <a:r>
              <a:rPr lang="en-US" altLang="zh-CN" sz="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9" name="文本框 788"/>
          <p:cNvSpPr txBox="1"/>
          <p:nvPr/>
        </p:nvSpPr>
        <p:spPr>
          <a:xfrm>
            <a:off x="1640840" y="4142105"/>
            <a:ext cx="548005" cy="2349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Atom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attention</a:t>
            </a:r>
            <a:r>
              <a:rPr lang="en-US" altLang="zh-CN" sz="40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400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1" name="文本框 790"/>
              <p:cNvSpPr txBox="1"/>
              <p:nvPr/>
            </p:nvSpPr>
            <p:spPr>
              <a:xfrm>
                <a:off x="3416300" y="4177030"/>
                <a:ext cx="291465" cy="19367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91" name="文本框 7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300" y="4177030"/>
                <a:ext cx="291465" cy="193675"/>
              </a:xfrm>
              <a:prstGeom prst="rect">
                <a:avLst/>
              </a:prstGeom>
              <a:blipFill rotWithShape="1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2" name="流程图: 多文档 791"/>
          <p:cNvSpPr>
            <a:spLocks noChangeAspect="1"/>
          </p:cNvSpPr>
          <p:nvPr/>
        </p:nvSpPr>
        <p:spPr>
          <a:xfrm>
            <a:off x="3423920" y="4520565"/>
            <a:ext cx="238760" cy="173355"/>
          </a:xfrm>
          <a:prstGeom prst="flowChartMultidocument">
            <a:avLst/>
          </a:prstGeom>
          <a:noFill/>
          <a:ln w="6350"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3" name="文本框 792"/>
          <p:cNvSpPr txBox="1"/>
          <p:nvPr/>
        </p:nvSpPr>
        <p:spPr>
          <a:xfrm>
            <a:off x="3350895" y="4526280"/>
            <a:ext cx="386715" cy="18351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GRU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4" name="矩形 793"/>
          <p:cNvSpPr/>
          <p:nvPr/>
        </p:nvSpPr>
        <p:spPr>
          <a:xfrm>
            <a:off x="2989580" y="4184015"/>
            <a:ext cx="356870" cy="1790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95" name="图片 794" descr="向右箭头"/>
          <p:cNvPicPr preferRelativeResize="0"/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129915" y="4520565"/>
            <a:ext cx="283845" cy="139065"/>
          </a:xfrm>
          <a:prstGeom prst="rect">
            <a:avLst/>
          </a:prstGeom>
        </p:spPr>
      </p:pic>
      <p:pic>
        <p:nvPicPr>
          <p:cNvPr id="796" name="图片 795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6200000">
            <a:off x="2989580" y="4392295"/>
            <a:ext cx="158750" cy="121285"/>
          </a:xfrm>
          <a:prstGeom prst="rect">
            <a:avLst/>
          </a:prstGeom>
        </p:spPr>
      </p:pic>
      <p:pic>
        <p:nvPicPr>
          <p:cNvPr id="797" name="图片 796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66135" y="4213860"/>
            <a:ext cx="121285" cy="121285"/>
          </a:xfrm>
          <a:prstGeom prst="rect">
            <a:avLst/>
          </a:prstGeom>
        </p:spPr>
      </p:pic>
      <p:pic>
        <p:nvPicPr>
          <p:cNvPr id="798" name="图片 797" descr="向右箭头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5400000">
            <a:off x="3478530" y="4366260"/>
            <a:ext cx="173990" cy="121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99" name="文本框 798"/>
              <p:cNvSpPr txBox="1"/>
              <p:nvPr/>
            </p:nvSpPr>
            <p:spPr>
              <a:xfrm>
                <a:off x="3724275" y="4506595"/>
                <a:ext cx="291465" cy="19431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99" name="文本框 7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275" y="4506595"/>
                <a:ext cx="291465" cy="194310"/>
              </a:xfrm>
              <a:prstGeom prst="rect">
                <a:avLst/>
              </a:prstGeom>
              <a:blipFill rotWithShape="1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0" name="文本框 799"/>
              <p:cNvSpPr txBox="1"/>
              <p:nvPr/>
            </p:nvSpPr>
            <p:spPr>
              <a:xfrm>
                <a:off x="4127500" y="4170045"/>
                <a:ext cx="291465" cy="19431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00" name="文本框 7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500" y="4170045"/>
                <a:ext cx="291465" cy="194310"/>
              </a:xfrm>
              <a:prstGeom prst="rect">
                <a:avLst/>
              </a:prstGeom>
              <a:blipFill rotWithShape="1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1" name="流程图: 多文档 800"/>
          <p:cNvSpPr>
            <a:spLocks noChangeAspect="1"/>
          </p:cNvSpPr>
          <p:nvPr/>
        </p:nvSpPr>
        <p:spPr>
          <a:xfrm>
            <a:off x="4170680" y="4518660"/>
            <a:ext cx="231775" cy="167640"/>
          </a:xfrm>
          <a:prstGeom prst="flowChartMultidocument">
            <a:avLst/>
          </a:prstGeom>
          <a:noFill/>
          <a:ln w="6350"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2" name="文本框 801"/>
          <p:cNvSpPr txBox="1"/>
          <p:nvPr/>
        </p:nvSpPr>
        <p:spPr>
          <a:xfrm>
            <a:off x="4093210" y="4519295"/>
            <a:ext cx="365760" cy="18351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GRU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03" name="图片 802" descr="向右箭头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001135" y="4518660"/>
            <a:ext cx="151765" cy="121285"/>
          </a:xfrm>
          <a:prstGeom prst="rect">
            <a:avLst/>
          </a:prstGeom>
        </p:spPr>
      </p:pic>
      <p:pic>
        <p:nvPicPr>
          <p:cNvPr id="804" name="图片 803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6200000">
            <a:off x="3827145" y="4398010"/>
            <a:ext cx="139065" cy="121285"/>
          </a:xfrm>
          <a:prstGeom prst="rect">
            <a:avLst/>
          </a:prstGeom>
        </p:spPr>
      </p:pic>
      <p:pic>
        <p:nvPicPr>
          <p:cNvPr id="805" name="图片 804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93210" y="4211955"/>
            <a:ext cx="121285" cy="121285"/>
          </a:xfrm>
          <a:prstGeom prst="rect">
            <a:avLst/>
          </a:prstGeom>
        </p:spPr>
      </p:pic>
      <p:pic>
        <p:nvPicPr>
          <p:cNvPr id="806" name="图片 805" descr="向右箭头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 rot="5400000">
            <a:off x="4205605" y="4364355"/>
            <a:ext cx="173990" cy="121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07" name="文本框 806"/>
              <p:cNvSpPr txBox="1"/>
              <p:nvPr/>
            </p:nvSpPr>
            <p:spPr>
              <a:xfrm>
                <a:off x="4454525" y="4498340"/>
                <a:ext cx="396240" cy="19685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07" name="文本框 8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525" y="4498340"/>
                <a:ext cx="396240" cy="196850"/>
              </a:xfrm>
              <a:prstGeom prst="rect">
                <a:avLst/>
              </a:prstGeom>
              <a:blipFill rotWithShape="1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8" name="文本框 807"/>
              <p:cNvSpPr txBox="1"/>
              <p:nvPr/>
            </p:nvSpPr>
            <p:spPr>
              <a:xfrm>
                <a:off x="4956175" y="4166870"/>
                <a:ext cx="347980" cy="19685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08" name="文本框 8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175" y="4166870"/>
                <a:ext cx="347980" cy="196850"/>
              </a:xfrm>
              <a:prstGeom prst="rect">
                <a:avLst/>
              </a:prstGeom>
              <a:blipFill rotWithShape="1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" name="流程图: 多文档 808"/>
          <p:cNvSpPr>
            <a:spLocks noChangeAspect="1"/>
          </p:cNvSpPr>
          <p:nvPr/>
        </p:nvSpPr>
        <p:spPr>
          <a:xfrm>
            <a:off x="5009515" y="4518660"/>
            <a:ext cx="208915" cy="151130"/>
          </a:xfrm>
          <a:prstGeom prst="flowChartMultidocument">
            <a:avLst/>
          </a:prstGeom>
          <a:noFill/>
          <a:ln w="6350"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10" name="图片 809" descr="向右箭头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813935" y="4526280"/>
            <a:ext cx="163830" cy="121285"/>
          </a:xfrm>
          <a:prstGeom prst="rect">
            <a:avLst/>
          </a:prstGeom>
        </p:spPr>
      </p:pic>
      <p:pic>
        <p:nvPicPr>
          <p:cNvPr id="811" name="图片 810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6200000">
            <a:off x="4645660" y="4398010"/>
            <a:ext cx="139065" cy="121285"/>
          </a:xfrm>
          <a:prstGeom prst="rect">
            <a:avLst/>
          </a:prstGeom>
        </p:spPr>
      </p:pic>
      <p:pic>
        <p:nvPicPr>
          <p:cNvPr id="812" name="图片 811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11725" y="4211955"/>
            <a:ext cx="121285" cy="121285"/>
          </a:xfrm>
          <a:prstGeom prst="rect">
            <a:avLst/>
          </a:prstGeom>
        </p:spPr>
      </p:pic>
      <p:pic>
        <p:nvPicPr>
          <p:cNvPr id="813" name="图片 812" descr="向右箭头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 rot="5400000">
            <a:off x="5024120" y="4364355"/>
            <a:ext cx="173990" cy="121285"/>
          </a:xfrm>
          <a:prstGeom prst="rect">
            <a:avLst/>
          </a:prstGeom>
        </p:spPr>
      </p:pic>
      <p:pic>
        <p:nvPicPr>
          <p:cNvPr id="814" name="图片 813" descr="向右箭头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672840" y="4520565"/>
            <a:ext cx="141605" cy="121285"/>
          </a:xfrm>
          <a:prstGeom prst="rect">
            <a:avLst/>
          </a:prstGeom>
        </p:spPr>
      </p:pic>
      <p:sp>
        <p:nvSpPr>
          <p:cNvPr id="815" name="文本框 814"/>
          <p:cNvSpPr txBox="1"/>
          <p:nvPr/>
        </p:nvSpPr>
        <p:spPr>
          <a:xfrm>
            <a:off x="4305300" y="4477385"/>
            <a:ext cx="334010" cy="127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600" b="1">
                <a:solidFill>
                  <a:schemeClr val="accent4">
                    <a:lumMod val="40000"/>
                    <a:lumOff val="6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.....</a:t>
            </a:r>
            <a:endParaRPr lang="en-US" altLang="zh-CN" sz="600" b="1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6" name="矩形 815"/>
          <p:cNvSpPr/>
          <p:nvPr/>
        </p:nvSpPr>
        <p:spPr>
          <a:xfrm>
            <a:off x="3698240" y="4189095"/>
            <a:ext cx="377825" cy="173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8" name="矩形 817"/>
          <p:cNvSpPr/>
          <p:nvPr/>
        </p:nvSpPr>
        <p:spPr>
          <a:xfrm>
            <a:off x="4526915" y="4189095"/>
            <a:ext cx="367665" cy="173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0" name="文本框 819"/>
          <p:cNvSpPr txBox="1"/>
          <p:nvPr/>
        </p:nvSpPr>
        <p:spPr>
          <a:xfrm>
            <a:off x="4919980" y="4511040"/>
            <a:ext cx="362585" cy="18351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GRU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1" name="文本框 820"/>
          <p:cNvSpPr txBox="1"/>
          <p:nvPr/>
        </p:nvSpPr>
        <p:spPr>
          <a:xfrm>
            <a:off x="2896870" y="4133215"/>
            <a:ext cx="548005" cy="2571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Motif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attention</a:t>
            </a:r>
            <a:r>
              <a:rPr lang="en-US" altLang="zh-CN" sz="50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2" name="文本框 821"/>
          <p:cNvSpPr txBox="1"/>
          <p:nvPr/>
        </p:nvSpPr>
        <p:spPr>
          <a:xfrm>
            <a:off x="3619500" y="4135755"/>
            <a:ext cx="548005" cy="2317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Motif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attention</a:t>
            </a:r>
            <a:r>
              <a:rPr lang="en-US" altLang="zh-CN" sz="40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3" name="文本框 822"/>
          <p:cNvSpPr txBox="1"/>
          <p:nvPr/>
        </p:nvSpPr>
        <p:spPr>
          <a:xfrm>
            <a:off x="4432300" y="4139565"/>
            <a:ext cx="548005" cy="2362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Motif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attention</a:t>
            </a:r>
            <a:r>
              <a:rPr lang="en-US" altLang="zh-CN" sz="40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24" name="图片 823" descr="向右箭头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5234940" y="4522470"/>
            <a:ext cx="110490" cy="121285"/>
          </a:xfrm>
          <a:prstGeom prst="rect">
            <a:avLst/>
          </a:prstGeom>
        </p:spPr>
      </p:pic>
      <p:pic>
        <p:nvPicPr>
          <p:cNvPr id="841" name="图片 840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3710" y="4520565"/>
            <a:ext cx="109220" cy="121285"/>
          </a:xfrm>
          <a:prstGeom prst="rect">
            <a:avLst/>
          </a:prstGeom>
        </p:spPr>
      </p:pic>
      <p:sp>
        <p:nvSpPr>
          <p:cNvPr id="842" name="圆角矩形 841"/>
          <p:cNvSpPr/>
          <p:nvPr/>
        </p:nvSpPr>
        <p:spPr>
          <a:xfrm>
            <a:off x="5657850" y="4166235"/>
            <a:ext cx="215900" cy="46418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3" name="文本框 842"/>
          <p:cNvSpPr txBox="1"/>
          <p:nvPr/>
        </p:nvSpPr>
        <p:spPr>
          <a:xfrm>
            <a:off x="5510530" y="4220845"/>
            <a:ext cx="482600" cy="321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</a:rPr>
              <a:t>Set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</a:rPr>
              <a:t>Rep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</a:rPr>
              <a:t> Layer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44" name="图片 843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79465" y="4340860"/>
            <a:ext cx="85090" cy="1212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45" name="文本框 844"/>
              <p:cNvSpPr txBox="1"/>
              <p:nvPr/>
            </p:nvSpPr>
            <p:spPr>
              <a:xfrm>
                <a:off x="5878195" y="4304030"/>
                <a:ext cx="291465" cy="20193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𝑟𝑒𝑝</m:t>
                          </m:r>
                        </m:sub>
                      </m:sSub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45" name="文本框 8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195" y="4304030"/>
                <a:ext cx="291465" cy="201930"/>
              </a:xfrm>
              <a:prstGeom prst="rect">
                <a:avLst/>
              </a:prstGeom>
              <a:blipFill rotWithShape="1"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46" name="图片 845" descr="向右箭头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38545" y="4337050"/>
            <a:ext cx="207010" cy="121285"/>
          </a:xfrm>
          <a:prstGeom prst="rect">
            <a:avLst/>
          </a:prstGeom>
        </p:spPr>
      </p:pic>
      <p:sp>
        <p:nvSpPr>
          <p:cNvPr id="847" name="文本框 846"/>
          <p:cNvSpPr txBox="1"/>
          <p:nvPr/>
        </p:nvSpPr>
        <p:spPr>
          <a:xfrm>
            <a:off x="6055360" y="4250690"/>
            <a:ext cx="406400" cy="1682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500">
                <a:latin typeface="微软雅黑" panose="020B0503020204020204" charset="-122"/>
                <a:ea typeface="微软雅黑" panose="020B0503020204020204" charset="-122"/>
              </a:rPr>
              <a:t>linear</a:t>
            </a:r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8" name="文本框 847"/>
          <p:cNvSpPr txBox="1"/>
          <p:nvPr/>
        </p:nvSpPr>
        <p:spPr>
          <a:xfrm>
            <a:off x="6204585" y="4475480"/>
            <a:ext cx="504825" cy="21272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500">
                <a:latin typeface="微软雅黑" panose="020B0503020204020204" charset="-122"/>
                <a:ea typeface="微软雅黑" panose="020B0503020204020204" charset="-122"/>
              </a:rPr>
              <a:t>Bioactivity</a:t>
            </a:r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500">
                <a:latin typeface="微软雅黑" panose="020B0503020204020204" charset="-122"/>
                <a:ea typeface="微软雅黑" panose="020B0503020204020204" charset="-122"/>
              </a:rPr>
              <a:t>prediction</a:t>
            </a:r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2" name="文本框 851"/>
          <p:cNvSpPr txBox="1"/>
          <p:nvPr/>
        </p:nvSpPr>
        <p:spPr>
          <a:xfrm>
            <a:off x="96520" y="4634230"/>
            <a:ext cx="566420" cy="1981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500" b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Initial atom embedding</a:t>
            </a:r>
            <a:endParaRPr lang="en-US" altLang="zh-CN" sz="4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3" name="文本框 852"/>
          <p:cNvSpPr txBox="1"/>
          <p:nvPr/>
        </p:nvSpPr>
        <p:spPr>
          <a:xfrm>
            <a:off x="2296795" y="4644390"/>
            <a:ext cx="579755" cy="18796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500" b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Final atom embedding</a:t>
            </a:r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5" name="文本框 854"/>
          <p:cNvSpPr txBox="1"/>
          <p:nvPr/>
        </p:nvSpPr>
        <p:spPr>
          <a:xfrm>
            <a:off x="5029200" y="4631690"/>
            <a:ext cx="643255" cy="18796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500" b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Final motif embedding</a:t>
            </a:r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9" name="文本框 858"/>
          <p:cNvSpPr txBox="1"/>
          <p:nvPr/>
        </p:nvSpPr>
        <p:spPr>
          <a:xfrm>
            <a:off x="258445" y="3655060"/>
            <a:ext cx="753745" cy="21399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Atom-level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0" name="文本框 859"/>
          <p:cNvSpPr txBox="1"/>
          <p:nvPr/>
        </p:nvSpPr>
        <p:spPr>
          <a:xfrm>
            <a:off x="3024505" y="3655060"/>
            <a:ext cx="753745" cy="21399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Motif-level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1" name="文本框 860"/>
          <p:cNvSpPr txBox="1"/>
          <p:nvPr/>
        </p:nvSpPr>
        <p:spPr>
          <a:xfrm>
            <a:off x="5610860" y="3655060"/>
            <a:ext cx="1068705" cy="21399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800" b="1">
                <a:latin typeface="微软雅黑" panose="020B0503020204020204" charset="-122"/>
                <a:ea typeface="微软雅黑" panose="020B0503020204020204" charset="-122"/>
              </a:rPr>
              <a:t>Molecular-level</a:t>
            </a:r>
            <a:endParaRPr lang="en-US" altLang="zh-CN" sz="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9" name="圆角矩形 1208"/>
          <p:cNvSpPr/>
          <p:nvPr/>
        </p:nvSpPr>
        <p:spPr>
          <a:xfrm>
            <a:off x="2682875" y="3957955"/>
            <a:ext cx="214630" cy="1193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8" name="文本框 1207"/>
              <p:cNvSpPr txBox="1"/>
              <p:nvPr/>
            </p:nvSpPr>
            <p:spPr>
              <a:xfrm>
                <a:off x="2635885" y="3925570"/>
                <a:ext cx="291465" cy="19431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08" name="文本框 12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885" y="3925570"/>
                <a:ext cx="291465" cy="194310"/>
              </a:xfrm>
              <a:prstGeom prst="rect">
                <a:avLst/>
              </a:prstGeom>
              <a:blipFill rotWithShape="1"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0" name="文本框 1209"/>
          <p:cNvSpPr txBox="1"/>
          <p:nvPr/>
        </p:nvSpPr>
        <p:spPr>
          <a:xfrm>
            <a:off x="2834640" y="3907155"/>
            <a:ext cx="670560" cy="18796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ctr"/>
            <a:r>
              <a:rPr lang="en-US" altLang="zh-CN" sz="500" b="1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Initial motif embedding</a:t>
            </a:r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5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11" name="图片 1210" descr="向右箭头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5400000">
            <a:off x="2733040" y="4069080"/>
            <a:ext cx="104140" cy="121285"/>
          </a:xfrm>
          <a:prstGeom prst="rect">
            <a:avLst/>
          </a:prstGeom>
        </p:spPr>
      </p:pic>
      <p:sp>
        <p:nvSpPr>
          <p:cNvPr id="1212" name="右箭头 1211"/>
          <p:cNvSpPr/>
          <p:nvPr/>
        </p:nvSpPr>
        <p:spPr>
          <a:xfrm>
            <a:off x="6285230" y="3409950"/>
            <a:ext cx="76200" cy="76200"/>
          </a:xfrm>
          <a:prstGeom prst="rightArrow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3" name="矩形 1212"/>
          <p:cNvSpPr/>
          <p:nvPr/>
        </p:nvSpPr>
        <p:spPr>
          <a:xfrm>
            <a:off x="6132830" y="3284220"/>
            <a:ext cx="172085" cy="278765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 w="6350" cmpd="sng">
            <a:solidFill>
              <a:schemeClr val="bg1">
                <a:lumMod val="85000"/>
              </a:schemeClr>
            </a:solidFill>
            <a:prstDash val="solid"/>
          </a:ln>
          <a:effectLst/>
          <a:scene3d>
            <a:camera prst="orthographicFront">
              <a:rot lat="1200000" lon="1830000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3" name="圆角矩形 1222"/>
          <p:cNvSpPr/>
          <p:nvPr/>
        </p:nvSpPr>
        <p:spPr>
          <a:xfrm>
            <a:off x="5344795" y="4523105"/>
            <a:ext cx="208915" cy="1289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5" name="文本框 824"/>
              <p:cNvSpPr txBox="1"/>
              <p:nvPr/>
            </p:nvSpPr>
            <p:spPr>
              <a:xfrm>
                <a:off x="5266690" y="4478655"/>
                <a:ext cx="291465" cy="19685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700" i="1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en-US" altLang="zh-CN" sz="700" i="1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25" name="文本框 8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690" y="4478655"/>
                <a:ext cx="291465" cy="196850"/>
              </a:xfrm>
              <a:prstGeom prst="rect">
                <a:avLst/>
              </a:prstGeom>
              <a:blipFill rotWithShape="1"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8" name="直接连接符 1237"/>
          <p:cNvCxnSpPr/>
          <p:nvPr/>
        </p:nvCxnSpPr>
        <p:spPr>
          <a:xfrm flipH="1">
            <a:off x="2588895" y="3813175"/>
            <a:ext cx="635" cy="1092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39" name="直接连接符 1238"/>
          <p:cNvCxnSpPr/>
          <p:nvPr/>
        </p:nvCxnSpPr>
        <p:spPr>
          <a:xfrm>
            <a:off x="2930525" y="3813175"/>
            <a:ext cx="3175" cy="1035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1" name="直接箭头连接符 1240"/>
          <p:cNvCxnSpPr/>
          <p:nvPr/>
        </p:nvCxnSpPr>
        <p:spPr>
          <a:xfrm>
            <a:off x="177800" y="3865245"/>
            <a:ext cx="2401570" cy="9525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headEnd type="stealth"/>
            <a:tailEnd type="stealth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2" name="直接箭头连接符 1241"/>
          <p:cNvCxnSpPr/>
          <p:nvPr/>
        </p:nvCxnSpPr>
        <p:spPr>
          <a:xfrm>
            <a:off x="2930525" y="3876675"/>
            <a:ext cx="2651760" cy="3810"/>
          </a:xfrm>
          <a:prstGeom prst="straightConnector1">
            <a:avLst/>
          </a:prstGeom>
          <a:ln w="9525">
            <a:solidFill>
              <a:schemeClr val="bg1">
                <a:lumMod val="75000"/>
              </a:schemeClr>
            </a:solidFill>
            <a:headEnd type="stealth"/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3" name="直接箭头连接符 1242"/>
          <p:cNvCxnSpPr/>
          <p:nvPr/>
        </p:nvCxnSpPr>
        <p:spPr>
          <a:xfrm flipV="1">
            <a:off x="2583815" y="3877945"/>
            <a:ext cx="346710" cy="2540"/>
          </a:xfrm>
          <a:prstGeom prst="straightConnector1">
            <a:avLst/>
          </a:prstGeom>
          <a:ln w="9525">
            <a:solidFill>
              <a:schemeClr val="bg1">
                <a:lumMod val="75000"/>
              </a:schemeClr>
            </a:solidFill>
            <a:miter lim="800000"/>
            <a:headEnd type="stealth"/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44" name="文本框 1243"/>
              <p:cNvSpPr txBox="1"/>
              <p:nvPr/>
            </p:nvSpPr>
            <p:spPr>
              <a:xfrm>
                <a:off x="1238250" y="3674110"/>
                <a:ext cx="499745" cy="19875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altLang="zh-CN" sz="7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sz="700" b="1" i="1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 </a:t>
                </a:r>
                <a:r>
                  <a:rPr lang="en-US" altLang="zh-CN" sz="700" b="1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layers</a:t>
                </a:r>
                <a:endParaRPr lang="en-US" altLang="zh-CN" sz="700" b="1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44" name="文本框 12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250" y="3674110"/>
                <a:ext cx="499745" cy="198755"/>
              </a:xfrm>
              <a:prstGeom prst="rect">
                <a:avLst/>
              </a:prstGeom>
              <a:blipFill rotWithShape="1"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5" name="文本框 1244"/>
              <p:cNvSpPr txBox="1"/>
              <p:nvPr/>
            </p:nvSpPr>
            <p:spPr>
              <a:xfrm>
                <a:off x="2524760" y="3669665"/>
                <a:ext cx="499745" cy="19875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altLang="zh-CN" sz="7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sz="700" b="1" i="1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 </a:t>
                </a:r>
                <a:r>
                  <a:rPr lang="en-US" altLang="zh-CN" sz="700" b="1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layers</a:t>
                </a:r>
                <a:endParaRPr lang="en-US" altLang="zh-CN" sz="700" b="1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45" name="文本框 12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760" y="3669665"/>
                <a:ext cx="499745" cy="198755"/>
              </a:xfrm>
              <a:prstGeom prst="rect">
                <a:avLst/>
              </a:prstGeom>
              <a:blipFill rotWithShape="1"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6" name="文本框 1245"/>
              <p:cNvSpPr txBox="1"/>
              <p:nvPr/>
            </p:nvSpPr>
            <p:spPr>
              <a:xfrm>
                <a:off x="4039870" y="3681730"/>
                <a:ext cx="499745" cy="198755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altLang="zh-CN" sz="7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US" altLang="zh-CN" sz="700" b="1" i="1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 </a:t>
                </a:r>
                <a:r>
                  <a:rPr lang="en-US" altLang="zh-CN" sz="700" b="1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layers</a:t>
                </a:r>
                <a:endParaRPr lang="en-US" altLang="zh-CN" sz="700" b="1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46" name="文本框 12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870" y="3681730"/>
                <a:ext cx="499745" cy="198755"/>
              </a:xfrm>
              <a:prstGeom prst="rect">
                <a:avLst/>
              </a:prstGeom>
              <a:blipFill rotWithShape="1"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supplementary_figure_6g_h_legend"/>
          <p:cNvPicPr>
            <a:picLocks noChangeAspect="1"/>
          </p:cNvPicPr>
          <p:nvPr/>
        </p:nvPicPr>
        <p:blipFill>
          <a:blip r:embed="rId1"/>
          <a:srcRect r="22517" b="-1549"/>
          <a:stretch>
            <a:fillRect/>
          </a:stretch>
        </p:blipFill>
        <p:spPr>
          <a:xfrm>
            <a:off x="990600" y="6286500"/>
            <a:ext cx="1634490" cy="374650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4076700" y="6286500"/>
            <a:ext cx="1800225" cy="377825"/>
            <a:chOff x="6292" y="14076"/>
            <a:chExt cx="2835" cy="595"/>
          </a:xfrm>
        </p:grpSpPr>
        <p:pic>
          <p:nvPicPr>
            <p:cNvPr id="23" name="图片 22" descr="supplementary_figure_6g_h_legend"/>
            <p:cNvPicPr>
              <a:picLocks noChangeAspect="1"/>
            </p:cNvPicPr>
            <p:nvPr/>
          </p:nvPicPr>
          <p:blipFill>
            <a:blip r:embed="rId1"/>
            <a:srcRect r="22517" b="-1549"/>
            <a:stretch>
              <a:fillRect/>
            </a:stretch>
          </p:blipFill>
          <p:spPr>
            <a:xfrm>
              <a:off x="6292" y="14076"/>
              <a:ext cx="2574" cy="590"/>
            </a:xfrm>
            <a:prstGeom prst="rect">
              <a:avLst/>
            </a:prstGeom>
          </p:spPr>
        </p:pic>
        <p:pic>
          <p:nvPicPr>
            <p:cNvPr id="24" name="图片 23" descr="supplementary_figure_6g_h_legend"/>
            <p:cNvPicPr>
              <a:picLocks noChangeAspect="1"/>
            </p:cNvPicPr>
            <p:nvPr/>
          </p:nvPicPr>
          <p:blipFill>
            <a:blip r:embed="rId1"/>
            <a:srcRect l="79680" t="12220" r="452" b="-3098"/>
            <a:stretch>
              <a:fillRect/>
            </a:stretch>
          </p:blipFill>
          <p:spPr>
            <a:xfrm>
              <a:off x="8467" y="14143"/>
              <a:ext cx="660" cy="528"/>
            </a:xfrm>
            <a:prstGeom prst="rect">
              <a:avLst/>
            </a:prstGeom>
          </p:spPr>
        </p:pic>
      </p:grp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3979545" y="4092575"/>
          <a:ext cx="2234290" cy="2103120"/>
        </p:xfrm>
        <a:graphic>
          <a:graphicData uri="http://schemas.openxmlformats.org/drawingml/2006/table">
            <a:tbl>
              <a:tblPr firstRow="1">
                <a:tableStyleId>{8CC8FC79-6185-4386-960D-B2C91B0F2FAA}</a:tableStyleId>
              </a:tblPr>
              <a:tblGrid>
                <a:gridCol w="542290"/>
                <a:gridCol w="756000"/>
                <a:gridCol w="936000"/>
              </a:tblGrid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Data set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N_samples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7432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PPB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Train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6262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274320">
                <a:tc vMerge="1"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Valid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782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4320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Test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782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27432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</a:t>
                      </a:r>
                      <a:r>
                        <a:rPr lang="en-US" altLang="zh-CN" sz="1200" baseline="-25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max</a:t>
                      </a:r>
                      <a:endParaRPr lang="en-US" altLang="zh-CN" sz="1200" baseline="-250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Train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4514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74320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Valid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564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274320">
                <a:tc vMerge="1"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Test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564</a:t>
                      </a:r>
                      <a:endParaRPr lang="en-US" altLang="zh-CN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3" name="图片 12" descr="supplementary_figure_6h_chemical_space_cma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740" y="6543675"/>
            <a:ext cx="3063240" cy="2517775"/>
          </a:xfrm>
          <a:prstGeom prst="rect">
            <a:avLst/>
          </a:prstGeom>
        </p:spPr>
      </p:pic>
      <p:pic>
        <p:nvPicPr>
          <p:cNvPr id="14" name="图片 13" descr="supplementary_figure_6g_chemical_space_pp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" y="6543675"/>
            <a:ext cx="3063240" cy="2517775"/>
          </a:xfrm>
          <a:prstGeom prst="rect">
            <a:avLst/>
          </a:prstGeom>
        </p:spPr>
      </p:pic>
      <p:pic>
        <p:nvPicPr>
          <p:cNvPr id="16" name="图片 15" descr="supplementary_figure_6e_normalized_dose_interva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93515"/>
            <a:ext cx="3871595" cy="2395855"/>
          </a:xfrm>
          <a:prstGeom prst="rect">
            <a:avLst/>
          </a:prstGeom>
        </p:spPr>
      </p:pic>
      <p:pic>
        <p:nvPicPr>
          <p:cNvPr id="17" name="图片 16" descr="supplementary_figure_6d_cmax_log10_distribu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3260" y="1525270"/>
            <a:ext cx="3093720" cy="2221865"/>
          </a:xfrm>
          <a:prstGeom prst="rect">
            <a:avLst/>
          </a:prstGeom>
        </p:spPr>
      </p:pic>
      <p:pic>
        <p:nvPicPr>
          <p:cNvPr id="18" name="图片 17" descr="supplementary_figure_6c_cmax_distribu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" y="1525270"/>
            <a:ext cx="3093720" cy="22218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-7620" y="128968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a</a:t>
            </a:r>
            <a:endParaRPr lang="en-US" altLang="zh-CN" sz="1400" b="1">
              <a:latin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972435" y="128968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b</a:t>
            </a:r>
            <a:endParaRPr lang="en-US" altLang="zh-CN" sz="1400" b="1">
              <a:latin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-7620" y="373189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c</a:t>
            </a:r>
            <a:endParaRPr lang="en-US" altLang="zh-CN" sz="1400" b="1">
              <a:latin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041775" y="373189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d</a:t>
            </a:r>
            <a:endParaRPr lang="en-US" altLang="zh-CN" sz="1400" b="1"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9060" y="618172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e</a:t>
            </a:r>
            <a:endParaRPr lang="en-US" altLang="zh-CN" sz="1400" b="1">
              <a:latin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497580" y="618172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f</a:t>
            </a:r>
            <a:endParaRPr lang="en-US" altLang="zh-CN" sz="1400" b="1"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supplementary_figure_7c_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65" y="3556635"/>
            <a:ext cx="6605270" cy="457517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0320" y="119062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a</a:t>
            </a:r>
            <a:endParaRPr lang="en-US" altLang="zh-CN" sz="1400" b="1">
              <a:latin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399790" y="117538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b</a:t>
            </a:r>
            <a:endParaRPr lang="en-US" altLang="zh-CN" sz="1400" b="1">
              <a:latin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399790" y="340550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d</a:t>
            </a:r>
            <a:endParaRPr lang="en-US" altLang="zh-CN" sz="1400" b="1">
              <a:latin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0320" y="341312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c</a:t>
            </a:r>
            <a:endParaRPr lang="en-US" altLang="zh-CN" sz="1400" b="1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99790" y="563562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f</a:t>
            </a:r>
            <a:endParaRPr lang="en-US" altLang="zh-CN" sz="1400" b="1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320" y="5635625"/>
            <a:ext cx="30480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>
                <a:latin typeface="+mn-ea"/>
              </a:rPr>
              <a:t>e</a:t>
            </a:r>
            <a:endParaRPr lang="en-US" altLang="zh-CN" sz="1400" b="1">
              <a:latin typeface="+mn-ea"/>
            </a:endParaRPr>
          </a:p>
        </p:txBody>
      </p:sp>
      <p:pic>
        <p:nvPicPr>
          <p:cNvPr id="8" name="图片 7" descr="supplementary_figure_7b_ma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775" y="1388745"/>
            <a:ext cx="3090545" cy="2240280"/>
          </a:xfrm>
          <a:prstGeom prst="rect">
            <a:avLst/>
          </a:prstGeom>
        </p:spPr>
      </p:pic>
      <p:pic>
        <p:nvPicPr>
          <p:cNvPr id="9" name="图片 8" descr="supplementary_figure_7a_rm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15" y="1428115"/>
            <a:ext cx="3090545" cy="22009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 descr="supplementary_figure_8b_all_soc_u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70" y="304800"/>
            <a:ext cx="6602095" cy="33312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602106&quot;,&quot;origin&quot;:0,&quot;type&quot;:&quot;icons&quot;,&quot;user&quot;:&quot;1218287875&quot;}"/>
</p:tagLst>
</file>

<file path=ppt/tags/tag2.xml><?xml version="1.0" encoding="utf-8"?>
<p:tagLst xmlns:p="http://schemas.openxmlformats.org/presentationml/2006/main">
  <p:tag name="KSO_DOCER_RESOURCE_TRACE_INFO" val="{&quot;id&quot;:&quot;21602106&quot;,&quot;origin&quot;:0,&quot;type&quot;:&quot;icons&quot;,&quot;user&quot;:&quot;1218287875&quot;}"/>
</p:tagLst>
</file>

<file path=ppt/tags/tag3.xml><?xml version="1.0" encoding="utf-8"?>
<p:tagLst xmlns:p="http://schemas.openxmlformats.org/presentationml/2006/main">
  <p:tag name="KSO_DOCER_RESOURCE_TRACE_INFO" val="{&quot;id&quot;:&quot;21602106&quot;,&quot;origin&quot;:0,&quot;type&quot;:&quot;icons&quot;,&quot;user&quot;:&quot;1218287875&quot;}"/>
</p:tagLst>
</file>

<file path=ppt/tags/tag4.xml><?xml version="1.0" encoding="utf-8"?>
<p:tagLst xmlns:p="http://schemas.openxmlformats.org/presentationml/2006/main">
  <p:tag name="KSO_DOCER_RESOURCE_TRACE_INFO" val="{&quot;id&quot;:&quot;21602106&quot;,&quot;origin&quot;:0,&quot;type&quot;:&quot;icons&quot;,&quot;user&quot;:&quot;1218287875&quot;}"/>
</p:tagLst>
</file>

<file path=ppt/tags/tag5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6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7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8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9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10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11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12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13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14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15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16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17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18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19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20.xml><?xml version="1.0" encoding="utf-8"?>
<p:tagLst xmlns:p="http://schemas.openxmlformats.org/presentationml/2006/main">
  <p:tag name="TABLE_ENDDRAG_ORIGIN_RECT" val="225*45"/>
  <p:tag name="TABLE_ENDDRAG_RECT" val="84*570*225*45"/>
</p:tagLst>
</file>

<file path=ppt/tags/tag21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22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23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24.xml><?xml version="1.0" encoding="utf-8"?>
<p:tagLst xmlns:p="http://schemas.openxmlformats.org/presentationml/2006/main">
  <p:tag name="TABLE_ENDDRAG_ORIGIN_RECT" val="258*112"/>
  <p:tag name="TABLE_ENDDRAG_RECT" val="269*306*258*112"/>
</p:tagLst>
</file>

<file path=ppt/tags/tag25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26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27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28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29.xml><?xml version="1.0" encoding="utf-8"?>
<p:tagLst xmlns:p="http://schemas.openxmlformats.org/presentationml/2006/main">
  <p:tag name="KSO_WM_DIAGRAM_VIRTUALLY_FRAME" val="{&quot;height&quot;:414.1,&quot;left&quot;:0.05,&quot;top&quot;:217.3,&quot;width&quot;:537.55}"/>
</p:tagLst>
</file>

<file path=ppt/tags/tag30.xml><?xml version="1.0" encoding="utf-8"?>
<p:tagLst xmlns:p="http://schemas.openxmlformats.org/presentationml/2006/main">
  <p:tag name="KSO_WM_DIAGRAM_VIRTUALLY_FRAME" val="{&quot;height&quot;:629.35,&quot;left&quot;:1.6,&quot;top&quot;:92.55,&quot;width&quot;:530.15}"/>
</p:tagLst>
</file>

<file path=ppt/tags/tag31.xml><?xml version="1.0" encoding="utf-8"?>
<p:tagLst xmlns:p="http://schemas.openxmlformats.org/presentationml/2006/main">
  <p:tag name="KSO_WM_DIAGRAM_VIRTUALLY_FRAME" val="{&quot;height&quot;:629.35,&quot;left&quot;:1.6,&quot;top&quot;:92.55,&quot;width&quot;:530.15}"/>
</p:tagLst>
</file>

<file path=ppt/tags/tag32.xml><?xml version="1.0" encoding="utf-8"?>
<p:tagLst xmlns:p="http://schemas.openxmlformats.org/presentationml/2006/main">
  <p:tag name="KSO_WM_DIAGRAM_VIRTUALLY_FRAME" val="{&quot;height&quot;:629.35,&quot;left&quot;:1.6,&quot;top&quot;:92.55,&quot;width&quot;:530.15}"/>
</p:tagLst>
</file>

<file path=ppt/tags/tag33.xml><?xml version="1.0" encoding="utf-8"?>
<p:tagLst xmlns:p="http://schemas.openxmlformats.org/presentationml/2006/main">
  <p:tag name="KSO_WM_DIAGRAM_VIRTUALLY_FRAME" val="{&quot;height&quot;:629.35,&quot;left&quot;:1.6,&quot;top&quot;:92.55,&quot;width&quot;:530.15}"/>
</p:tagLst>
</file>

<file path=ppt/tags/tag34.xml><?xml version="1.0" encoding="utf-8"?>
<p:tagLst xmlns:p="http://schemas.openxmlformats.org/presentationml/2006/main">
  <p:tag name="KSO_WM_DIAGRAM_VIRTUALLY_FRAME" val="{&quot;height&quot;:629.35,&quot;left&quot;:1.6,&quot;top&quot;:92.55,&quot;width&quot;:530.15}"/>
</p:tagLst>
</file>

<file path=ppt/tags/tag35.xml><?xml version="1.0" encoding="utf-8"?>
<p:tagLst xmlns:p="http://schemas.openxmlformats.org/presentationml/2006/main">
  <p:tag name="KSO_WM_DIAGRAM_VIRTUALLY_FRAME" val="{&quot;height&quot;:629.35,&quot;left&quot;:1.6,&quot;top&quot;:92.55,&quot;width&quot;:530.15}"/>
</p:tagLst>
</file>

<file path=ppt/tags/tag36.xml><?xml version="1.0" encoding="utf-8"?>
<p:tagLst xmlns:p="http://schemas.openxmlformats.org/presentationml/2006/main">
  <p:tag name="TABLE_ENDDRAG_ORIGIN_RECT" val="165*165"/>
  <p:tag name="TABLE_ENDDRAG_RECT" val="324*322*165*165"/>
</p:tagLst>
</file>

<file path=ppt/tags/tag37.xml><?xml version="1.0" encoding="utf-8"?>
<p:tagLst xmlns:p="http://schemas.openxmlformats.org/presentationml/2006/main">
  <p:tag name="RESOURCE_RECORD_KEY" val="{&quot;29&quot;:[5005312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2968</Words>
  <Application>WPS 演示</Application>
  <PresentationFormat>宽屏</PresentationFormat>
  <Paragraphs>677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Segoe UI Semibold</vt:lpstr>
      <vt:lpstr>微软雅黑 Light</vt:lpstr>
      <vt:lpstr>微软雅黑</vt:lpstr>
      <vt:lpstr>等线</vt:lpstr>
      <vt:lpstr>Times New Roman</vt:lpstr>
      <vt:lpstr>Cambria Math</vt:lpstr>
      <vt:lpstr>Arial Unicode MS</vt:lpstr>
      <vt:lpstr>Calibri</vt:lpstr>
      <vt:lpstr>MS Mincho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liujin</dc:creator>
  <cp:lastModifiedBy>Amber</cp:lastModifiedBy>
  <cp:revision>66</cp:revision>
  <dcterms:created xsi:type="dcterms:W3CDTF">2023-08-09T12:44:00Z</dcterms:created>
  <dcterms:modified xsi:type="dcterms:W3CDTF">2026-08-17T08:55:52Z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A61EDF939BFE46BBB646404CD93275B9_13</vt:lpwstr>
  </property>
  <property fmtid="{D5CDD505-2E9C-101B-9397-08002B2CF9AE}" pid="3" name="KSOProductBuildVer">
    <vt:lpwstr>2052-12.1.0.28043</vt:lpwstr>
  </property>
</Properties>
</file>